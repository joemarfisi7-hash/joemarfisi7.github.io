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82" r:id="rId3"/>
    <p:sldId id="258" r:id="rId4"/>
    <p:sldId id="281" r:id="rId5"/>
    <p:sldId id="280" r:id="rId6"/>
    <p:sldId id="260" r:id="rId7"/>
    <p:sldId id="261" r:id="rId8"/>
    <p:sldId id="272" r:id="rId9"/>
    <p:sldId id="284" r:id="rId10"/>
    <p:sldId id="278" r:id="rId11"/>
    <p:sldId id="277" r:id="rId12"/>
    <p:sldId id="274" r:id="rId13"/>
    <p:sldId id="276" r:id="rId14"/>
    <p:sldId id="283" r:id="rId15"/>
    <p:sldId id="266" r:id="rId16"/>
  </p:sldIdLst>
  <p:sldSz cx="18288000" cy="10287000"/>
  <p:notesSz cx="6858000" cy="9144000"/>
  <p:embeddedFontLst>
    <p:embeddedFont>
      <p:font typeface="Arial Black" panose="020B0604020202020204" pitchFamily="34" charset="0"/>
      <p:bold r:id="rId18"/>
    </p:embeddedFont>
    <p:embeddedFont>
      <p:font typeface="Atkinson Hyperlegible" pitchFamily="2" charset="77"/>
      <p:regular r:id="rId19"/>
    </p:embeddedFont>
    <p:embeddedFont>
      <p:font typeface="Atkinson Hyperlegible Bold" pitchFamily="2" charset="77"/>
      <p:regular r:id="rId20"/>
      <p:bold r:id="rId21"/>
    </p:embeddedFont>
    <p:embeddedFont>
      <p:font typeface="Open Sauce" pitchFamily="2" charset="77"/>
      <p:regular r:id="rId22"/>
    </p:embeddedFont>
    <p:embeddedFont>
      <p:font typeface="Open Sauce Bold" pitchFamily="2" charset="77"/>
      <p:regular r:id="rId23"/>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442" autoAdjust="0"/>
    <p:restoredTop sz="94640" autoAdjust="0"/>
  </p:normalViewPr>
  <p:slideViewPr>
    <p:cSldViewPr>
      <p:cViewPr>
        <p:scale>
          <a:sx n="53" d="100"/>
          <a:sy n="53" d="100"/>
        </p:scale>
        <p:origin x="1296" y="7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EEDD3E-A2F4-894F-8D37-087C084D981D}" type="datetimeFigureOut">
              <a:rPr lang="en-US" smtClean="0"/>
              <a:t>2/24/26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3020B5-7269-894E-9B91-F27D2BDB7EA5}" type="slidenum">
              <a:rPr lang="en-US" smtClean="0"/>
              <a:t>‹#›</a:t>
            </a:fld>
            <a:endParaRPr lang="en-US"/>
          </a:p>
        </p:txBody>
      </p:sp>
    </p:spTree>
    <p:extLst>
      <p:ext uri="{BB962C8B-B14F-4D97-AF65-F5344CB8AC3E}">
        <p14:creationId xmlns:p14="http://schemas.microsoft.com/office/powerpoint/2010/main" val="2009651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Company</a:t>
            </a:r>
            <a:endParaRPr lang="en-US" dirty="0"/>
          </a:p>
          <a:p>
            <a:r>
              <a:rPr lang="en-US" dirty="0"/>
              <a:t>RTX Corporation — the largest aerospace and defense company in the world with $88.6 billion in revenue</a:t>
            </a:r>
          </a:p>
          <a:p>
            <a:r>
              <a:rPr lang="en-US" dirty="0"/>
              <a:t>Born from the 2020 merger of United Technologies Corporation and Raytheon Company — two giants combining into one</a:t>
            </a:r>
          </a:p>
          <a:p>
            <a:r>
              <a:rPr lang="en-US" dirty="0"/>
              <a:t>UTC brought Pratt &amp; Whitney and Collins Aerospace — the commercial aviation powerhouses</a:t>
            </a:r>
          </a:p>
          <a:p>
            <a:r>
              <a:rPr lang="en-US" dirty="0"/>
              <a:t>Raytheon brought the defense muscle — missiles, radar, and electronic warfare</a:t>
            </a:r>
          </a:p>
          <a:p>
            <a:r>
              <a:rPr lang="en-US" dirty="0"/>
              <a:t>The result is something no competitor can replicate — equal parts commercial aviation and defense in one company</a:t>
            </a:r>
          </a:p>
          <a:p>
            <a:r>
              <a:rPr lang="en-US" b="1" dirty="0"/>
              <a:t>Raytheon</a:t>
            </a:r>
            <a:endParaRPr lang="en-US" dirty="0"/>
          </a:p>
          <a:p>
            <a:r>
              <a:rPr lang="en-US" dirty="0"/>
              <a:t>The pure defense engine of RTX</a:t>
            </a:r>
          </a:p>
          <a:p>
            <a:r>
              <a:rPr lang="en-US" dirty="0"/>
              <a:t>Makes the weapons the world is buying right now — Patriot missile systems, Tomahawk cruise missiles, NASAMS, advanced radar</a:t>
            </a:r>
          </a:p>
          <a:p>
            <a:r>
              <a:rPr lang="en-US" dirty="0"/>
              <a:t>Deployed actively in Ukraine, the Middle East, and across NATO Europe</a:t>
            </a:r>
          </a:p>
          <a:p>
            <a:r>
              <a:rPr lang="en-US" dirty="0"/>
              <a:t>Book to bill ratio of 2.27 — for every dollar shipped, $2.27 in new orders came in</a:t>
            </a:r>
          </a:p>
          <a:p>
            <a:r>
              <a:rPr lang="en-US" dirty="0"/>
              <a:t>Essentially sold out for years</a:t>
            </a:r>
          </a:p>
          <a:p>
            <a:r>
              <a:rPr lang="en-US" b="1" dirty="0"/>
              <a:t>Pratt &amp; Whitney</a:t>
            </a:r>
            <a:endParaRPr lang="en-US" dirty="0"/>
          </a:p>
          <a:p>
            <a:r>
              <a:rPr lang="en-US" dirty="0"/>
              <a:t>Powers the world's most popular commercial jet — the Airbus A320neo</a:t>
            </a:r>
          </a:p>
          <a:p>
            <a:r>
              <a:rPr lang="en-US" dirty="0"/>
              <a:t>Exclusive engine supplier for every F-35 ever built — no alternatives exist</a:t>
            </a:r>
          </a:p>
          <a:p>
            <a:r>
              <a:rPr lang="en-US" dirty="0"/>
              <a:t>15,000+ engines in service globally creating decades of locked in aftermarket revenue</a:t>
            </a:r>
          </a:p>
          <a:p>
            <a:r>
              <a:rPr lang="en-US" dirty="0"/>
              <a:t>Real business model — sell the engine once, collect high margin service revenue for 30 years</a:t>
            </a:r>
          </a:p>
          <a:p>
            <a:r>
              <a:rPr lang="en-US" b="1" dirty="0"/>
              <a:t>Collins Aerospace</a:t>
            </a:r>
            <a:endParaRPr lang="en-US" dirty="0"/>
          </a:p>
          <a:p>
            <a:r>
              <a:rPr lang="en-US" dirty="0"/>
              <a:t>The quiet backbone of global aviation</a:t>
            </a:r>
          </a:p>
          <a:p>
            <a:r>
              <a:rPr lang="en-US" dirty="0"/>
              <a:t>Avionics, landing gear, power systems, cabin interiors — if it's inside an aircraft Collins probably made it</a:t>
            </a:r>
          </a:p>
          <a:p>
            <a:r>
              <a:rPr lang="en-US" dirty="0"/>
              <a:t>Embedded in virtually every commercial and military platform flying today</a:t>
            </a:r>
          </a:p>
          <a:p>
            <a:r>
              <a:rPr lang="en-US" dirty="0"/>
              <a:t>Nearly impossible to displace without redesigning the entire aircraft around it</a:t>
            </a:r>
          </a:p>
          <a:p>
            <a:endParaRPr lang="en-US" dirty="0"/>
          </a:p>
          <a:p>
            <a:r>
              <a:rPr lang="en-US" dirty="0"/>
              <a:t>Timeline:</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23020B5-7269-894E-9B91-F27D2BDB7EA5}" type="slidenum">
              <a:rPr lang="en-US" smtClean="0"/>
              <a:t>2</a:t>
            </a:fld>
            <a:endParaRPr lang="en-US"/>
          </a:p>
        </p:txBody>
      </p:sp>
    </p:spTree>
    <p:extLst>
      <p:ext uri="{BB962C8B-B14F-4D97-AF65-F5344CB8AC3E}">
        <p14:creationId xmlns:p14="http://schemas.microsoft.com/office/powerpoint/2010/main" val="3251066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a:solidFill>
                  <a:schemeClr val="tx1"/>
                </a:solidFill>
                <a:effectLst/>
                <a:latin typeface="+mn-lt"/>
                <a:ea typeface="+mn-ea"/>
                <a:cs typeface="+mn-cs"/>
              </a:rPr>
              <a:t>Defense and commercial aviation contracts aren't one-time sales — they're multi-year relationships that generate revenue long after the initial deal is signed</a:t>
            </a:r>
          </a:p>
          <a:p>
            <a:pPr rtl="0" fontAlgn="base"/>
            <a:endParaRPr lang="en-US" sz="1200" b="0" i="0" u="none" strike="noStrike" kern="1200" dirty="0">
              <a:solidFill>
                <a:schemeClr val="tx1"/>
              </a:solidFill>
              <a:effectLst/>
              <a:latin typeface="+mn-lt"/>
              <a:ea typeface="+mn-ea"/>
              <a:cs typeface="+mn-cs"/>
            </a:endParaRPr>
          </a:p>
          <a:p>
            <a:pPr rtl="0" fontAlgn="base"/>
            <a:r>
              <a:rPr lang="en-US" sz="1200" b="0" i="0" u="none" strike="noStrike" kern="1200" dirty="0">
                <a:solidFill>
                  <a:schemeClr val="tx1"/>
                </a:solidFill>
                <a:effectLst/>
                <a:latin typeface="+mn-lt"/>
                <a:ea typeface="+mn-ea"/>
                <a:cs typeface="+mn-cs"/>
              </a:rPr>
              <a:t>Defense contracts typically run 3 to 7 years — on February 3rd RTX signed a deal with the Pentagon to boost missile production for up to </a:t>
            </a:r>
            <a:r>
              <a:rPr lang="en-US" sz="1200" b="1" i="0" u="none" strike="noStrike" kern="1200" dirty="0">
                <a:solidFill>
                  <a:schemeClr val="tx1"/>
                </a:solidFill>
                <a:effectLst/>
                <a:latin typeface="+mn-lt"/>
                <a:ea typeface="+mn-ea"/>
                <a:cs typeface="+mn-cs"/>
              </a:rPr>
              <a:t>7 years</a:t>
            </a:r>
            <a:r>
              <a:rPr lang="en-US" sz="1200" b="0" i="0" u="none" strike="noStrike" kern="1200" dirty="0">
                <a:solidFill>
                  <a:schemeClr val="tx1"/>
                </a:solidFill>
                <a:effectLst/>
                <a:latin typeface="+mn-lt"/>
                <a:ea typeface="+mn-ea"/>
                <a:cs typeface="+mn-cs"/>
              </a:rPr>
              <a:t>. In 2025 they secured a Patriot missile defense contract spanning </a:t>
            </a:r>
            <a:r>
              <a:rPr lang="en-US" sz="1200" b="1" i="0" u="none" strike="noStrike" kern="1200" dirty="0">
                <a:solidFill>
                  <a:schemeClr val="tx1"/>
                </a:solidFill>
                <a:effectLst/>
                <a:latin typeface="+mn-lt"/>
                <a:ea typeface="+mn-ea"/>
                <a:cs typeface="+mn-cs"/>
              </a:rPr>
              <a:t>20 years</a:t>
            </a:r>
            <a:endParaRPr lang="en-US" sz="1200" b="0" i="0" u="none" strike="noStrike" kern="1200" dirty="0">
              <a:solidFill>
                <a:schemeClr val="tx1"/>
              </a:solidFill>
              <a:effectLst/>
              <a:latin typeface="+mn-lt"/>
              <a:ea typeface="+mn-ea"/>
              <a:cs typeface="+mn-cs"/>
            </a:endParaRPr>
          </a:p>
          <a:p>
            <a:pPr rtl="0" fontAlgn="base"/>
            <a:endParaRPr lang="en-US" sz="1200" b="0" i="0" u="none" strike="noStrike" kern="1200" dirty="0">
              <a:solidFill>
                <a:schemeClr val="tx1"/>
              </a:solidFill>
              <a:effectLst/>
              <a:latin typeface="+mn-lt"/>
              <a:ea typeface="+mn-ea"/>
              <a:cs typeface="+mn-cs"/>
            </a:endParaRPr>
          </a:p>
          <a:p>
            <a:pPr rtl="0" fontAlgn="base"/>
            <a:r>
              <a:rPr lang="en-US" sz="1200" b="0" i="0" u="none" strike="noStrike" kern="1200" dirty="0">
                <a:solidFill>
                  <a:schemeClr val="tx1"/>
                </a:solidFill>
                <a:effectLst/>
                <a:latin typeface="+mn-lt"/>
                <a:ea typeface="+mn-ea"/>
                <a:cs typeface="+mn-cs"/>
              </a:rPr>
              <a:t>RTX and its competitors deliberately bid at razor thin margins just to win the contract — the real profit comes from the years of service, parts, and upgrades that follow. The bid is the door. The aftermarket is the business</a:t>
            </a:r>
          </a:p>
          <a:p>
            <a:pPr rtl="0" fontAlgn="base"/>
            <a:endParaRPr lang="en-US" sz="1200" b="0" i="0" u="none" strike="noStrike" kern="1200" dirty="0">
              <a:solidFill>
                <a:schemeClr val="tx1"/>
              </a:solidFill>
              <a:effectLst/>
              <a:latin typeface="+mn-lt"/>
              <a:ea typeface="+mn-ea"/>
              <a:cs typeface="+mn-cs"/>
            </a:endParaRPr>
          </a:p>
          <a:p>
            <a:pPr rtl="0" fontAlgn="base"/>
            <a:r>
              <a:rPr lang="en-US" sz="1200" b="0" i="0" u="none" strike="noStrike" kern="1200" dirty="0">
                <a:solidFill>
                  <a:schemeClr val="tx1"/>
                </a:solidFill>
                <a:effectLst/>
                <a:latin typeface="+mn-lt"/>
                <a:ea typeface="+mn-ea"/>
                <a:cs typeface="+mn-cs"/>
              </a:rPr>
              <a:t>This model applies equally to commercial aviation — the FAA requires airlines to maintain their engines on a strict schedule, and performing that maintenance requires certifications that only a handful of companies in the world hold</a:t>
            </a:r>
          </a:p>
          <a:p>
            <a:pPr rtl="0" fontAlgn="base"/>
            <a:endParaRPr lang="en-US" sz="1200" b="0" i="0" u="none" strike="noStrike" kern="1200" dirty="0">
              <a:solidFill>
                <a:schemeClr val="tx1"/>
              </a:solidFill>
              <a:effectLst/>
              <a:latin typeface="+mn-lt"/>
              <a:ea typeface="+mn-ea"/>
              <a:cs typeface="+mn-cs"/>
            </a:endParaRPr>
          </a:p>
          <a:p>
            <a:pPr rtl="0" fontAlgn="base"/>
            <a:r>
              <a:rPr lang="en-US" sz="1200" b="0" i="0" u="none" strike="noStrike" kern="1200" dirty="0">
                <a:solidFill>
                  <a:schemeClr val="tx1"/>
                </a:solidFill>
                <a:effectLst/>
                <a:latin typeface="+mn-lt"/>
                <a:ea typeface="+mn-ea"/>
                <a:cs typeface="+mn-cs"/>
              </a:rPr>
              <a:t>RTX doesn't just sell airlines an engine — they sell them the only FAA certified blade that fits it. No certification, no alternative, no negotiation on price</a:t>
            </a:r>
          </a:p>
          <a:p>
            <a:pPr rtl="0" fontAlgn="base"/>
            <a:endParaRPr lang="en-US" sz="1200" b="1" i="0" u="none" strike="noStrike" kern="1200" dirty="0">
              <a:solidFill>
                <a:schemeClr val="tx1"/>
              </a:solidFill>
              <a:effectLst/>
              <a:latin typeface="+mn-lt"/>
              <a:ea typeface="+mn-ea"/>
              <a:cs typeface="+mn-cs"/>
            </a:endParaRPr>
          </a:p>
          <a:p>
            <a:pPr rtl="0" fontAlgn="base"/>
            <a:r>
              <a:rPr lang="en-US" sz="1200" b="1" i="0" u="none" strike="noStrike" kern="1200" dirty="0">
                <a:solidFill>
                  <a:schemeClr val="tx1"/>
                </a:solidFill>
                <a:effectLst/>
                <a:latin typeface="+mn-lt"/>
                <a:ea typeface="+mn-ea"/>
                <a:cs typeface="+mn-cs"/>
              </a:rPr>
              <a:t>15,000+ Pratt &amp; Whitney engines in service globally</a:t>
            </a:r>
            <a:r>
              <a:rPr lang="en-US" sz="1200" b="0" i="0" u="none" strike="noStrike" kern="1200" dirty="0">
                <a:solidFill>
                  <a:schemeClr val="tx1"/>
                </a:solidFill>
                <a:effectLst/>
                <a:latin typeface="+mn-lt"/>
                <a:ea typeface="+mn-ea"/>
                <a:cs typeface="+mn-cs"/>
              </a:rPr>
              <a:t> — each one a locked-in revenue stream feeding parts, maintenance, and overhaul revenue back to RTX for decades</a:t>
            </a:r>
          </a:p>
          <a:p>
            <a:pPr rtl="0" fontAlgn="base"/>
            <a:r>
              <a:rPr lang="en-US" sz="1200" b="0" i="0" u="none" strike="noStrike" kern="1200" dirty="0">
                <a:solidFill>
                  <a:schemeClr val="tx1"/>
                </a:solidFill>
                <a:effectLst/>
                <a:latin typeface="+mn-lt"/>
                <a:ea typeface="+mn-ea"/>
                <a:cs typeface="+mn-cs"/>
              </a:rPr>
              <a:t>The initial contract is how RTX gets in the door. The next 30 years is how RTX gets paid</a:t>
            </a:r>
          </a:p>
          <a:p>
            <a:endParaRPr lang="en-US" dirty="0"/>
          </a:p>
        </p:txBody>
      </p:sp>
      <p:sp>
        <p:nvSpPr>
          <p:cNvPr id="4" name="Slide Number Placeholder 3"/>
          <p:cNvSpPr>
            <a:spLocks noGrp="1"/>
          </p:cNvSpPr>
          <p:nvPr>
            <p:ph type="sldNum" sz="quarter" idx="5"/>
          </p:nvPr>
        </p:nvSpPr>
        <p:spPr/>
        <p:txBody>
          <a:bodyPr/>
          <a:lstStyle/>
          <a:p>
            <a:fld id="{923020B5-7269-894E-9B91-F27D2BDB7EA5}" type="slidenum">
              <a:rPr lang="en-US" smtClean="0"/>
              <a:t>3</a:t>
            </a:fld>
            <a:endParaRPr lang="en-US"/>
          </a:p>
        </p:txBody>
      </p:sp>
    </p:spTree>
    <p:extLst>
      <p:ext uri="{BB962C8B-B14F-4D97-AF65-F5344CB8AC3E}">
        <p14:creationId xmlns:p14="http://schemas.microsoft.com/office/powerpoint/2010/main" val="1175426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Iran / Middle East</a:t>
            </a:r>
            <a:endParaRPr lang="en-US" dirty="0"/>
          </a:p>
          <a:p>
            <a:r>
              <a:rPr lang="en-US" dirty="0"/>
              <a:t>The Middle East is in the early stages of its rearmament cycle — the biggest procurement surge is still ahead</a:t>
            </a:r>
          </a:p>
          <a:p>
            <a:r>
              <a:rPr lang="en-US" dirty="0"/>
              <a:t>RTX doesn't supply Iran — it supplies everyone watching Iran nervously from next door</a:t>
            </a:r>
          </a:p>
          <a:p>
            <a:r>
              <a:rPr lang="en-US" dirty="0"/>
              <a:t>The Israel-Palestine conflict involved conventional weapons. A direct confrontation with Iran is a completely different threat level — both sides bring sophisticated missile systems, air defense, and electronic warfare into play</a:t>
            </a:r>
          </a:p>
          <a:p>
            <a:r>
              <a:rPr lang="en-US" dirty="0"/>
              <a:t>That escalation in sophistication is exactly what drives allied countries to upgrade their own defense capabilities — and RTX is who they call</a:t>
            </a:r>
          </a:p>
          <a:p>
            <a:br>
              <a:rPr lang="en-US" dirty="0"/>
            </a:br>
            <a:endParaRPr lang="en-US" dirty="0"/>
          </a:p>
          <a:p>
            <a:r>
              <a:rPr lang="en-US" b="1" dirty="0"/>
              <a:t>Trump / Global Outlook</a:t>
            </a:r>
            <a:endParaRPr lang="en-US" dirty="0"/>
          </a:p>
          <a:p>
            <a:r>
              <a:rPr lang="en-US" dirty="0"/>
              <a:t>Trump publicly pressured defense companies by name last month — RTX was specifically called out for paying dividends and issuing stock buybacks instead of reinvesting in manufacturing capacity</a:t>
            </a:r>
          </a:p>
          <a:p>
            <a:r>
              <a:rPr lang="en-US" dirty="0"/>
              <a:t>CEO Chris Calio pushed back — RTX has paid shareholders quarterly for decades and views that commitment as non-negotiable</a:t>
            </a:r>
          </a:p>
          <a:p>
            <a:r>
              <a:rPr lang="en-US" dirty="0"/>
              <a:t>The silver lining is buried in the criticism — Trump isn't upset because demand is weak. He's upset because demand is so overwhelming that every dollar going to shareholders is a dollar not building more missiles</a:t>
            </a:r>
          </a:p>
          <a:p>
            <a:r>
              <a:rPr lang="en-US" dirty="0"/>
              <a:t>We are caught directly in this argument — our fund collects the dividends. We benefit from the buybacks through fewer shares outstanding. Institutions like BlackRock and Vanguard benefit most but so do we</a:t>
            </a:r>
          </a:p>
          <a:p>
            <a:r>
              <a:rPr lang="en-US" dirty="0"/>
              <a:t>The more important story is the neighboring countries — Europe is actively trying to make their defense systems more independent Germany increased defense spending 28% made a 3 billion deal with Raytheon for SM6 and Sm-2 missiles, Poland 31%, and RTX just signed a $1.7 billion Patriot contract with Spain last week</a:t>
            </a:r>
          </a:p>
          <a:p>
            <a:r>
              <a:rPr lang="en-US" dirty="0"/>
              <a:t>RTX won't make its biggest sales to the countries at war — it will make them to every country watching that war and deciding they aren't prepared enough</a:t>
            </a:r>
          </a:p>
          <a:p>
            <a:endParaRPr lang="en-US" dirty="0"/>
          </a:p>
          <a:p>
            <a:endParaRPr lang="en-US" dirty="0"/>
          </a:p>
        </p:txBody>
      </p:sp>
      <p:sp>
        <p:nvSpPr>
          <p:cNvPr id="4" name="Slide Number Placeholder 3"/>
          <p:cNvSpPr>
            <a:spLocks noGrp="1"/>
          </p:cNvSpPr>
          <p:nvPr>
            <p:ph type="sldNum" sz="quarter" idx="5"/>
          </p:nvPr>
        </p:nvSpPr>
        <p:spPr/>
        <p:txBody>
          <a:bodyPr/>
          <a:lstStyle/>
          <a:p>
            <a:fld id="{923020B5-7269-894E-9B91-F27D2BDB7EA5}" type="slidenum">
              <a:rPr lang="en-US" smtClean="0"/>
              <a:t>4</a:t>
            </a:fld>
            <a:endParaRPr lang="en-US"/>
          </a:p>
        </p:txBody>
      </p:sp>
    </p:spTree>
    <p:extLst>
      <p:ext uri="{BB962C8B-B14F-4D97-AF65-F5344CB8AC3E}">
        <p14:creationId xmlns:p14="http://schemas.microsoft.com/office/powerpoint/2010/main" val="882795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past year its closed the gap with the S&amp;P. Important to note this industry is very reactive to deals – deals are binary you get them or you don’t.</a:t>
            </a:r>
          </a:p>
        </p:txBody>
      </p:sp>
      <p:sp>
        <p:nvSpPr>
          <p:cNvPr id="4" name="Slide Number Placeholder 3"/>
          <p:cNvSpPr>
            <a:spLocks noGrp="1"/>
          </p:cNvSpPr>
          <p:nvPr>
            <p:ph type="sldNum" sz="quarter" idx="5"/>
          </p:nvPr>
        </p:nvSpPr>
        <p:spPr/>
        <p:txBody>
          <a:bodyPr/>
          <a:lstStyle/>
          <a:p>
            <a:fld id="{923020B5-7269-894E-9B91-F27D2BDB7EA5}" type="slidenum">
              <a:rPr lang="en-US" smtClean="0"/>
              <a:t>7</a:t>
            </a:fld>
            <a:endParaRPr lang="en-US"/>
          </a:p>
        </p:txBody>
      </p:sp>
    </p:spTree>
    <p:extLst>
      <p:ext uri="{BB962C8B-B14F-4D97-AF65-F5344CB8AC3E}">
        <p14:creationId xmlns:p14="http://schemas.microsoft.com/office/powerpoint/2010/main" val="2893022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3020B5-7269-894E-9B91-F27D2BDB7EA5}" type="slidenum">
              <a:rPr lang="en-US" smtClean="0"/>
              <a:t>8</a:t>
            </a:fld>
            <a:endParaRPr lang="en-US"/>
          </a:p>
        </p:txBody>
      </p:sp>
    </p:spTree>
    <p:extLst>
      <p:ext uri="{BB962C8B-B14F-4D97-AF65-F5344CB8AC3E}">
        <p14:creationId xmlns:p14="http://schemas.microsoft.com/office/powerpoint/2010/main" val="2058420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Rising inventories plus rising capex plus rising payables all tell the same story — RTX is in active production ramp mode. The balance sheet is absorbing significant working capital to fund that ramp. Rising inventory reflects RTX’s production map you need to buy the materials and build components before shipping off the Patriot </a:t>
            </a:r>
            <a:r>
              <a:rPr lang="en-US" dirty="0" err="1"/>
              <a:t>missles</a:t>
            </a:r>
            <a:endParaRPr lang="en-US" dirty="0"/>
          </a:p>
          <a:p>
            <a:endParaRPr lang="en-US" dirty="0"/>
          </a:p>
          <a:p>
            <a:r>
              <a:rPr lang="en-US" dirty="0"/>
              <a:t>A 3.5% long term growth rate reflects the blended structural growth of both end markets rather than anchoring purely to U.S. GDP which would understate RTX's international exposure and the permanent upward reset in defense budgets we're currently witnessing globally.”</a:t>
            </a:r>
          </a:p>
          <a:p>
            <a:endParaRPr lang="en-US" dirty="0"/>
          </a:p>
          <a:p>
            <a:r>
              <a:rPr lang="en-US" dirty="0"/>
              <a:t>The 3.8% capex forecast is geomean of historical data. I decided to use empirical data instead of speculative assumptions</a:t>
            </a:r>
          </a:p>
          <a:p>
            <a:endParaRPr lang="en-US" dirty="0"/>
          </a:p>
          <a:p>
            <a:r>
              <a:rPr lang="en-US" dirty="0"/>
              <a:t>when in doubt I default to what the company has actually demonstrated rather than what I think should happen</a:t>
            </a:r>
          </a:p>
        </p:txBody>
      </p:sp>
      <p:sp>
        <p:nvSpPr>
          <p:cNvPr id="4" name="Slide Number Placeholder 3"/>
          <p:cNvSpPr>
            <a:spLocks noGrp="1"/>
          </p:cNvSpPr>
          <p:nvPr>
            <p:ph type="sldNum" sz="quarter" idx="5"/>
          </p:nvPr>
        </p:nvSpPr>
        <p:spPr/>
        <p:txBody>
          <a:bodyPr/>
          <a:lstStyle/>
          <a:p>
            <a:fld id="{923020B5-7269-894E-9B91-F27D2BDB7EA5}" type="slidenum">
              <a:rPr lang="en-US" smtClean="0"/>
              <a:t>9</a:t>
            </a:fld>
            <a:endParaRPr lang="en-US"/>
          </a:p>
        </p:txBody>
      </p:sp>
    </p:spTree>
    <p:extLst>
      <p:ext uri="{BB962C8B-B14F-4D97-AF65-F5344CB8AC3E}">
        <p14:creationId xmlns:p14="http://schemas.microsoft.com/office/powerpoint/2010/main" val="11530727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As I mentioned previously mentioned, RTX relies on contracts and backlogs. Because of this RTX’s future revenue is pretty much set in stone. Roughly 85% of Raytheon’s 2026 sales were booked early this year. For my revenue growth assumption I did the geometric mean of the past the past five years. And then I also double checked and made sure that my assumptions were close to the predicted sales reported by RTX.</a:t>
            </a:r>
          </a:p>
          <a:p>
            <a:br>
              <a:rPr lang="en-US" b="0" dirty="0">
                <a:effectLst/>
              </a:rPr>
            </a:br>
            <a:endParaRPr lang="en-US" b="0" dirty="0">
              <a:effectLst/>
            </a:endParaRPr>
          </a:p>
          <a:p>
            <a:pPr rtl="0"/>
            <a:r>
              <a:rPr lang="en-US" sz="1200" b="0" i="0" u="none" strike="noStrike" kern="1200" dirty="0">
                <a:solidFill>
                  <a:schemeClr val="tx1"/>
                </a:solidFill>
                <a:effectLst/>
                <a:latin typeface="+mn-lt"/>
                <a:ea typeface="+mn-ea"/>
                <a:cs typeface="+mn-cs"/>
              </a:rPr>
              <a:t>Note that the revenue growth jumps from 3.55% to 9.92% this was due to a contaminated metal crisis with the manufacture of GTF engines which is a part of the Pratt &amp; Whitney sector. This caused hundreds of commercial aircrafts to be grounded, and as I previously touched on, RTX makes their revenue through maintenance, so when the aircrafts aren’t being used then its going to affect the aftermarket revenue. 2.8 Billion in cumulative charges</a:t>
            </a:r>
            <a:endParaRPr lang="en-US" b="0" dirty="0">
              <a:effectLst/>
            </a:endParaRPr>
          </a:p>
          <a:p>
            <a:endParaRPr lang="en-US" b="0" dirty="0">
              <a:effectLst/>
            </a:endParaRPr>
          </a:p>
          <a:p>
            <a:pPr rtl="0"/>
            <a:r>
              <a:rPr lang="en-US" sz="1200" b="0" i="0" u="none" strike="noStrike" kern="1200" dirty="0">
                <a:solidFill>
                  <a:schemeClr val="tx1"/>
                </a:solidFill>
                <a:effectLst/>
                <a:latin typeface="+mn-lt"/>
                <a:ea typeface="+mn-ea"/>
                <a:cs typeface="+mn-cs"/>
              </a:rPr>
              <a:t>This was a one time event and actually caused RTX to increase their inspection.</a:t>
            </a:r>
          </a:p>
          <a:p>
            <a:pPr rtl="0"/>
            <a:endParaRPr lang="en-US" sz="1200" b="0" i="0" u="none" strike="noStrike" kern="1200" dirty="0">
              <a:solidFill>
                <a:schemeClr val="tx1"/>
              </a:solidFill>
              <a:effectLst/>
              <a:latin typeface="+mn-lt"/>
              <a:ea typeface="+mn-ea"/>
              <a:cs typeface="+mn-cs"/>
            </a:endParaRPr>
          </a:p>
          <a:p>
            <a:pPr rtl="0"/>
            <a:r>
              <a:rPr lang="en-US" sz="1200" b="0" i="0" u="none" strike="noStrike" kern="1200" dirty="0">
                <a:solidFill>
                  <a:schemeClr val="tx1"/>
                </a:solidFill>
                <a:effectLst/>
                <a:latin typeface="+mn-lt"/>
                <a:ea typeface="+mn-ea"/>
                <a:cs typeface="+mn-cs"/>
              </a:rPr>
              <a:t>Thought it was better to include it than to speculate – makes DCF target price more conservative</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923020B5-7269-894E-9B91-F27D2BDB7EA5}" type="slidenum">
              <a:rPr lang="en-US" smtClean="0"/>
              <a:t>10</a:t>
            </a:fld>
            <a:endParaRPr lang="en-US"/>
          </a:p>
        </p:txBody>
      </p:sp>
    </p:spTree>
    <p:extLst>
      <p:ext uri="{BB962C8B-B14F-4D97-AF65-F5344CB8AC3E}">
        <p14:creationId xmlns:p14="http://schemas.microsoft.com/office/powerpoint/2010/main" val="14588354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For my EBIT you can see that for my first forecasted year there’s a dip and then after that a steady incline, this is because I took the geometric mean of the past five years. This included the Powder crisis so this is going to make my sensitivity analysis more conservative.</a:t>
            </a:r>
            <a:endParaRPr lang="en-US" dirty="0"/>
          </a:p>
        </p:txBody>
      </p:sp>
      <p:sp>
        <p:nvSpPr>
          <p:cNvPr id="4" name="Slide Number Placeholder 3"/>
          <p:cNvSpPr>
            <a:spLocks noGrp="1"/>
          </p:cNvSpPr>
          <p:nvPr>
            <p:ph type="sldNum" sz="quarter" idx="5"/>
          </p:nvPr>
        </p:nvSpPr>
        <p:spPr/>
        <p:txBody>
          <a:bodyPr/>
          <a:lstStyle/>
          <a:p>
            <a:fld id="{923020B5-7269-894E-9B91-F27D2BDB7EA5}" type="slidenum">
              <a:rPr lang="en-US" smtClean="0"/>
              <a:t>11</a:t>
            </a:fld>
            <a:endParaRPr lang="en-US"/>
          </a:p>
        </p:txBody>
      </p:sp>
    </p:spTree>
    <p:extLst>
      <p:ext uri="{BB962C8B-B14F-4D97-AF65-F5344CB8AC3E}">
        <p14:creationId xmlns:p14="http://schemas.microsoft.com/office/powerpoint/2010/main" val="30315492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 remember RTX’s backlog anchor in on the 7.79%. Then we just focus on the EBIT margin. Our base case was 9.31% but this was conservative when considering the manufacturing crisis. </a:t>
            </a:r>
          </a:p>
          <a:p>
            <a:endParaRPr lang="en-US" dirty="0"/>
          </a:p>
          <a:p>
            <a:r>
              <a:rPr lang="en-US" dirty="0"/>
              <a:t>The headwinds will resolve in the next 12 months. The powder metal compensation payments end by late 2026. That will be $700 million in charges paid out that will stop paying out to airlines. That money goes straight to profit – no new revenue or customers needed.</a:t>
            </a:r>
          </a:p>
          <a:p>
            <a:endParaRPr lang="en-US" dirty="0"/>
          </a:p>
          <a:p>
            <a:r>
              <a:rPr lang="en-US" dirty="0"/>
              <a:t>Pratt’s GTF aftermarket just began so every year those 15,000 engines will need to be serviced.</a:t>
            </a:r>
          </a:p>
        </p:txBody>
      </p:sp>
      <p:sp>
        <p:nvSpPr>
          <p:cNvPr id="4" name="Slide Number Placeholder 3"/>
          <p:cNvSpPr>
            <a:spLocks noGrp="1"/>
          </p:cNvSpPr>
          <p:nvPr>
            <p:ph type="sldNum" sz="quarter" idx="5"/>
          </p:nvPr>
        </p:nvSpPr>
        <p:spPr/>
        <p:txBody>
          <a:bodyPr/>
          <a:lstStyle/>
          <a:p>
            <a:fld id="{923020B5-7269-894E-9B91-F27D2BDB7EA5}" type="slidenum">
              <a:rPr lang="en-US" smtClean="0"/>
              <a:t>12</a:t>
            </a:fld>
            <a:endParaRPr lang="en-US"/>
          </a:p>
        </p:txBody>
      </p:sp>
    </p:spTree>
    <p:extLst>
      <p:ext uri="{BB962C8B-B14F-4D97-AF65-F5344CB8AC3E}">
        <p14:creationId xmlns:p14="http://schemas.microsoft.com/office/powerpoint/2010/main" val="1953674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difficult to compare RTX with other companies given its diversified portfolio. Got some Global competitors, international aerospace commercial and defense companies. Didn’t include </a:t>
            </a:r>
            <a:r>
              <a:rPr lang="en-US" dirty="0" err="1"/>
              <a:t>Lockeed</a:t>
            </a:r>
            <a:r>
              <a:rPr lang="en-US" dirty="0"/>
              <a:t> and Northrop because they were are pure defense contract companies.</a:t>
            </a:r>
          </a:p>
          <a:p>
            <a:endParaRPr lang="en-US" dirty="0"/>
          </a:p>
          <a:p>
            <a:r>
              <a:rPr lang="en-US" dirty="0"/>
              <a:t>PE/PEG relationship catches the eye but as I said the powder metal charges are eating into the earnings</a:t>
            </a:r>
          </a:p>
          <a:p>
            <a:endParaRPr lang="en-US" dirty="0"/>
          </a:p>
          <a:p>
            <a:pPr rtl="0"/>
            <a:r>
              <a:rPr lang="en-US" sz="1200" b="1" i="0" u="none" strike="noStrike" kern="1200" dirty="0">
                <a:solidFill>
                  <a:schemeClr val="tx1"/>
                </a:solidFill>
                <a:effectLst/>
                <a:latin typeface="+mn-lt"/>
                <a:ea typeface="+mn-ea"/>
                <a:cs typeface="+mn-cs"/>
              </a:rPr>
              <a:t>The Merger Effect</a:t>
            </a:r>
            <a:endParaRPr lang="en-US" b="0" dirty="0">
              <a:effectLst/>
            </a:endParaRPr>
          </a:p>
          <a:p>
            <a:pPr rtl="0"/>
            <a:r>
              <a:rPr lang="en-US" sz="1200" b="0" i="0" u="none" strike="noStrike" kern="1200" dirty="0">
                <a:solidFill>
                  <a:schemeClr val="tx1"/>
                </a:solidFill>
                <a:effectLst/>
                <a:latin typeface="+mn-lt"/>
                <a:ea typeface="+mn-ea"/>
                <a:cs typeface="+mn-cs"/>
              </a:rPr>
              <a:t>When RTX merged UTC and Raytheon in 2020 it was an all-stock deal worth roughly $121 billion. That transaction created an enormous amount of goodwill and intangible assets on the balance sheet — essentially the premium paid above the book value of Raytheon's hard assets. Goodwill alone on RTX's balance sheet is approximately $50+ billion.</a:t>
            </a:r>
            <a:endParaRPr lang="en-US" b="0" dirty="0">
              <a:effectLst/>
            </a:endParaRPr>
          </a:p>
          <a:p>
            <a:pPr rtl="0"/>
            <a:r>
              <a:rPr lang="en-US" sz="1200" b="0" i="0" u="none" strike="noStrike" kern="1200" dirty="0">
                <a:solidFill>
                  <a:schemeClr val="tx1"/>
                </a:solidFill>
                <a:effectLst/>
                <a:latin typeface="+mn-lt"/>
                <a:ea typeface="+mn-ea"/>
                <a:cs typeface="+mn-cs"/>
              </a:rPr>
              <a:t>Goodwill inflates book value. A higher book value denominator means a lower P/B ratio even at the same stock price. RTX's book value is artificially large because of the merger accounting, which makes P/B look deceptively low.</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923020B5-7269-894E-9B91-F27D2BDB7EA5}" type="slidenum">
              <a:rPr lang="en-US" smtClean="0"/>
              <a:t>13</a:t>
            </a:fld>
            <a:endParaRPr lang="en-US"/>
          </a:p>
        </p:txBody>
      </p:sp>
    </p:spTree>
    <p:extLst>
      <p:ext uri="{BB962C8B-B14F-4D97-AF65-F5344CB8AC3E}">
        <p14:creationId xmlns:p14="http://schemas.microsoft.com/office/powerpoint/2010/main" val="25450571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Aerospace and defense is capital intensive — EV/EBITDA is the cleaner multiple because it strips out depreciation, amortization, and merger accounting noise that distorts every other metric for RTX </a:t>
            </a:r>
          </a:p>
          <a:p>
            <a:endParaRPr lang="en-US" dirty="0"/>
          </a:p>
          <a:p>
            <a:r>
              <a:rPr lang="en-US" dirty="0"/>
              <a:t>DCF is weighted more heavily at 60% because RTX's $268 billion backlog removes the biggest source of DCF uncertainty — revenue is essentially already known for the next three years, making the model unusually reliable</a:t>
            </a:r>
          </a:p>
          <a:p>
            <a:endParaRPr lang="en-US" dirty="0"/>
          </a:p>
          <a:p>
            <a:r>
              <a:rPr lang="en-US" dirty="0"/>
              <a:t> No peer multiple can fully capture what RTX is — the only major company in the world that benefits from two completely opposite economic environments simultaneously</a:t>
            </a:r>
          </a:p>
          <a:p>
            <a:endParaRPr lang="en-US" dirty="0"/>
          </a:p>
          <a:p>
            <a:r>
              <a:rPr lang="en-US" dirty="0"/>
              <a:t> Commercial aviation is in full post-COVID recovery while the world is simultaneously in the biggest rearmament wave since the Cold War — both cycles firing at once is historically rare and no comparable company is positioned to capture both </a:t>
            </a:r>
          </a:p>
          <a:p>
            <a:endParaRPr lang="en-US" dirty="0"/>
          </a:p>
          <a:p>
            <a:r>
              <a:rPr lang="en-US" dirty="0"/>
              <a:t>Important to hold a defense company, even if Iran and US deescalate, RTX is still diversified</a:t>
            </a:r>
          </a:p>
          <a:p>
            <a:endParaRPr lang="en-US" dirty="0"/>
          </a:p>
        </p:txBody>
      </p:sp>
      <p:sp>
        <p:nvSpPr>
          <p:cNvPr id="4" name="Slide Number Placeholder 3"/>
          <p:cNvSpPr>
            <a:spLocks noGrp="1"/>
          </p:cNvSpPr>
          <p:nvPr>
            <p:ph type="sldNum" sz="quarter" idx="5"/>
          </p:nvPr>
        </p:nvSpPr>
        <p:spPr/>
        <p:txBody>
          <a:bodyPr/>
          <a:lstStyle/>
          <a:p>
            <a:fld id="{923020B5-7269-894E-9B91-F27D2BDB7EA5}" type="slidenum">
              <a:rPr lang="en-US" smtClean="0"/>
              <a:t>14</a:t>
            </a:fld>
            <a:endParaRPr lang="en-US"/>
          </a:p>
        </p:txBody>
      </p:sp>
    </p:spTree>
    <p:extLst>
      <p:ext uri="{BB962C8B-B14F-4D97-AF65-F5344CB8AC3E}">
        <p14:creationId xmlns:p14="http://schemas.microsoft.com/office/powerpoint/2010/main" val="1036937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6.emf"/><Relationship Id="rId4" Type="http://schemas.openxmlformats.org/officeDocument/2006/relationships/package" Target="../embeddings/Microsoft_Excel_Worksheet.xlsx"/></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228" t="-35818" r="-11439"/>
            </a:stretch>
          </a:blipFill>
        </p:spPr>
        <p:txBody>
          <a:bodyPr/>
          <a:lstStyle/>
          <a:p>
            <a:endParaRPr lang="en-US"/>
          </a:p>
        </p:txBody>
      </p:sp>
      <p:grpSp>
        <p:nvGrpSpPr>
          <p:cNvPr id="3" name="Group 3"/>
          <p:cNvGrpSpPr/>
          <p:nvPr/>
        </p:nvGrpSpPr>
        <p:grpSpPr>
          <a:xfrm rot="5400000">
            <a:off x="4479117" y="1219103"/>
            <a:ext cx="9329765" cy="8948959"/>
            <a:chOff x="0" y="0"/>
            <a:chExt cx="622300" cy="596900"/>
          </a:xfrm>
        </p:grpSpPr>
        <p:sp>
          <p:nvSpPr>
            <p:cNvPr id="4" name="Freeform 4"/>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txBody>
            <a:bodyPr/>
            <a:lstStyle/>
            <a:p>
              <a:endParaRPr lang="en-US"/>
            </a:p>
          </p:txBody>
        </p:sp>
        <p:sp>
          <p:nvSpPr>
            <p:cNvPr id="5" name="TextBox 5"/>
            <p:cNvSpPr txBox="1"/>
            <p:nvPr/>
          </p:nvSpPr>
          <p:spPr>
            <a:xfrm>
              <a:off x="0" y="174625"/>
              <a:ext cx="622300" cy="295275"/>
            </a:xfrm>
            <a:prstGeom prst="rect">
              <a:avLst/>
            </a:prstGeom>
          </p:spPr>
          <p:txBody>
            <a:bodyPr lIns="50800" tIns="50800" rIns="50800" bIns="50800" rtlCol="0" anchor="ctr"/>
            <a:lstStyle/>
            <a:p>
              <a:pPr algn="ctr">
                <a:lnSpc>
                  <a:spcPts val="1800"/>
                </a:lnSpc>
              </a:pPr>
              <a:endParaRPr/>
            </a:p>
          </p:txBody>
        </p:sp>
      </p:grpSp>
      <p:grpSp>
        <p:nvGrpSpPr>
          <p:cNvPr id="6" name="Group 6"/>
          <p:cNvGrpSpPr/>
          <p:nvPr/>
        </p:nvGrpSpPr>
        <p:grpSpPr>
          <a:xfrm>
            <a:off x="1028700" y="8314731"/>
            <a:ext cx="16230600" cy="943569"/>
            <a:chOff x="0" y="0"/>
            <a:chExt cx="2060734" cy="119801"/>
          </a:xfrm>
        </p:grpSpPr>
        <p:sp>
          <p:nvSpPr>
            <p:cNvPr id="7" name="Freeform 7"/>
            <p:cNvSpPr/>
            <p:nvPr/>
          </p:nvSpPr>
          <p:spPr>
            <a:xfrm>
              <a:off x="0" y="0"/>
              <a:ext cx="2060734" cy="119801"/>
            </a:xfrm>
            <a:custGeom>
              <a:avLst/>
              <a:gdLst/>
              <a:ahLst/>
              <a:cxnLst/>
              <a:rect l="l" t="t" r="r" b="b"/>
              <a:pathLst>
                <a:path w="2060734" h="119801">
                  <a:moveTo>
                    <a:pt x="14310" y="0"/>
                  </a:moveTo>
                  <a:lnTo>
                    <a:pt x="2046424" y="0"/>
                  </a:lnTo>
                  <a:cubicBezTo>
                    <a:pt x="2050219" y="0"/>
                    <a:pt x="2053859" y="1508"/>
                    <a:pt x="2056542" y="4191"/>
                  </a:cubicBezTo>
                  <a:cubicBezTo>
                    <a:pt x="2059226" y="6875"/>
                    <a:pt x="2060734" y="10515"/>
                    <a:pt x="2060734" y="14310"/>
                  </a:cubicBezTo>
                  <a:lnTo>
                    <a:pt x="2060734" y="105491"/>
                  </a:lnTo>
                  <a:cubicBezTo>
                    <a:pt x="2060734" y="109286"/>
                    <a:pt x="2059226" y="112926"/>
                    <a:pt x="2056542" y="115610"/>
                  </a:cubicBezTo>
                  <a:cubicBezTo>
                    <a:pt x="2053859" y="118293"/>
                    <a:pt x="2050219" y="119801"/>
                    <a:pt x="2046424" y="119801"/>
                  </a:cubicBezTo>
                  <a:lnTo>
                    <a:pt x="14310" y="119801"/>
                  </a:lnTo>
                  <a:cubicBezTo>
                    <a:pt x="10515" y="119801"/>
                    <a:pt x="6875" y="118293"/>
                    <a:pt x="4191" y="115610"/>
                  </a:cubicBezTo>
                  <a:cubicBezTo>
                    <a:pt x="1508" y="112926"/>
                    <a:pt x="0" y="109286"/>
                    <a:pt x="0" y="105491"/>
                  </a:cubicBezTo>
                  <a:lnTo>
                    <a:pt x="0" y="14310"/>
                  </a:lnTo>
                  <a:cubicBezTo>
                    <a:pt x="0" y="10515"/>
                    <a:pt x="1508" y="6875"/>
                    <a:pt x="4191" y="4191"/>
                  </a:cubicBezTo>
                  <a:cubicBezTo>
                    <a:pt x="6875" y="1508"/>
                    <a:pt x="10515" y="0"/>
                    <a:pt x="14310" y="0"/>
                  </a:cubicBezTo>
                  <a:close/>
                </a:path>
              </a:pathLst>
            </a:custGeom>
            <a:gradFill rotWithShape="1">
              <a:gsLst>
                <a:gs pos="0">
                  <a:srgbClr val="FFFFFF">
                    <a:alpha val="10000"/>
                  </a:srgbClr>
                </a:gs>
                <a:gs pos="50000">
                  <a:srgbClr val="FFFFFF">
                    <a:alpha val="0"/>
                  </a:srgbClr>
                </a:gs>
                <a:gs pos="100000">
                  <a:srgbClr val="FFFFFF">
                    <a:alpha val="10500"/>
                  </a:srgbClr>
                </a:gs>
              </a:gsLst>
              <a:lin ang="2700000"/>
            </a:gradFill>
            <a:ln w="19050" cap="rnd">
              <a:gradFill>
                <a:gsLst>
                  <a:gs pos="0">
                    <a:srgbClr val="FFFFFF">
                      <a:alpha val="50000"/>
                    </a:srgbClr>
                  </a:gs>
                  <a:gs pos="50000">
                    <a:srgbClr val="FFFFFF">
                      <a:alpha val="0"/>
                    </a:srgbClr>
                  </a:gs>
                  <a:gs pos="100000">
                    <a:srgbClr val="FFFFFF">
                      <a:alpha val="50000"/>
                    </a:srgbClr>
                  </a:gs>
                </a:gsLst>
                <a:lin ang="0"/>
              </a:gradFill>
              <a:prstDash val="solid"/>
              <a:round/>
            </a:ln>
          </p:spPr>
          <p:txBody>
            <a:bodyPr/>
            <a:lstStyle/>
            <a:p>
              <a:endParaRPr lang="en-US"/>
            </a:p>
          </p:txBody>
        </p:sp>
        <p:sp>
          <p:nvSpPr>
            <p:cNvPr id="8" name="TextBox 8"/>
            <p:cNvSpPr txBox="1"/>
            <p:nvPr/>
          </p:nvSpPr>
          <p:spPr>
            <a:xfrm>
              <a:off x="0" y="47625"/>
              <a:ext cx="2060734" cy="72176"/>
            </a:xfrm>
            <a:prstGeom prst="rect">
              <a:avLst/>
            </a:prstGeom>
          </p:spPr>
          <p:txBody>
            <a:bodyPr lIns="50800" tIns="50800" rIns="50800" bIns="50800" rtlCol="0" anchor="ctr"/>
            <a:lstStyle/>
            <a:p>
              <a:pPr algn="ctr">
                <a:lnSpc>
                  <a:spcPts val="1800"/>
                </a:lnSpc>
              </a:pPr>
              <a:endParaRPr/>
            </a:p>
          </p:txBody>
        </p:sp>
      </p:grpSp>
      <p:grpSp>
        <p:nvGrpSpPr>
          <p:cNvPr id="9" name="Group 9"/>
          <p:cNvGrpSpPr/>
          <p:nvPr/>
        </p:nvGrpSpPr>
        <p:grpSpPr>
          <a:xfrm>
            <a:off x="14403653" y="1028700"/>
            <a:ext cx="2855647" cy="628815"/>
            <a:chOff x="0" y="0"/>
            <a:chExt cx="362570" cy="79838"/>
          </a:xfrm>
        </p:grpSpPr>
        <p:sp>
          <p:nvSpPr>
            <p:cNvPr id="10" name="Freeform 10"/>
            <p:cNvSpPr/>
            <p:nvPr/>
          </p:nvSpPr>
          <p:spPr>
            <a:xfrm>
              <a:off x="0" y="0"/>
              <a:ext cx="362570" cy="79838"/>
            </a:xfrm>
            <a:custGeom>
              <a:avLst/>
              <a:gdLst/>
              <a:ahLst/>
              <a:cxnLst/>
              <a:rect l="l" t="t" r="r" b="b"/>
              <a:pathLst>
                <a:path w="362570" h="79838">
                  <a:moveTo>
                    <a:pt x="39919" y="0"/>
                  </a:moveTo>
                  <a:lnTo>
                    <a:pt x="322651" y="0"/>
                  </a:lnTo>
                  <a:cubicBezTo>
                    <a:pt x="344698" y="0"/>
                    <a:pt x="362570" y="17872"/>
                    <a:pt x="362570" y="39919"/>
                  </a:cubicBezTo>
                  <a:lnTo>
                    <a:pt x="362570" y="39919"/>
                  </a:lnTo>
                  <a:cubicBezTo>
                    <a:pt x="362570" y="50506"/>
                    <a:pt x="358364" y="60660"/>
                    <a:pt x="350878" y="68146"/>
                  </a:cubicBezTo>
                  <a:cubicBezTo>
                    <a:pt x="343392" y="75632"/>
                    <a:pt x="333238" y="79838"/>
                    <a:pt x="322651" y="79838"/>
                  </a:cubicBezTo>
                  <a:lnTo>
                    <a:pt x="39919" y="79838"/>
                  </a:lnTo>
                  <a:cubicBezTo>
                    <a:pt x="17872" y="79838"/>
                    <a:pt x="0" y="61966"/>
                    <a:pt x="0" y="39919"/>
                  </a:cubicBezTo>
                  <a:lnTo>
                    <a:pt x="0" y="39919"/>
                  </a:lnTo>
                  <a:cubicBezTo>
                    <a:pt x="0" y="17872"/>
                    <a:pt x="17872" y="0"/>
                    <a:pt x="39919" y="0"/>
                  </a:cubicBezTo>
                  <a:close/>
                </a:path>
              </a:pathLst>
            </a:custGeom>
            <a:gradFill rotWithShape="1">
              <a:gsLst>
                <a:gs pos="0">
                  <a:srgbClr val="FFFFFF">
                    <a:alpha val="10000"/>
                  </a:srgbClr>
                </a:gs>
                <a:gs pos="50000">
                  <a:srgbClr val="FFFFFF">
                    <a:alpha val="0"/>
                  </a:srgbClr>
                </a:gs>
                <a:gs pos="100000">
                  <a:srgbClr val="FFFFFF">
                    <a:alpha val="10500"/>
                  </a:srgbClr>
                </a:gs>
              </a:gsLst>
              <a:lin ang="2700000"/>
            </a:gradFill>
            <a:ln w="19050" cap="rnd">
              <a:gradFill>
                <a:gsLst>
                  <a:gs pos="0">
                    <a:srgbClr val="FFFFFF">
                      <a:alpha val="50000"/>
                    </a:srgbClr>
                  </a:gs>
                  <a:gs pos="50000">
                    <a:srgbClr val="FFFFFF">
                      <a:alpha val="0"/>
                    </a:srgbClr>
                  </a:gs>
                  <a:gs pos="100000">
                    <a:srgbClr val="FFFFFF">
                      <a:alpha val="50000"/>
                    </a:srgbClr>
                  </a:gs>
                </a:gsLst>
                <a:lin ang="0"/>
              </a:gradFill>
              <a:prstDash val="solid"/>
              <a:round/>
            </a:ln>
          </p:spPr>
          <p:txBody>
            <a:bodyPr/>
            <a:lstStyle/>
            <a:p>
              <a:endParaRPr lang="en-US"/>
            </a:p>
          </p:txBody>
        </p:sp>
        <p:sp>
          <p:nvSpPr>
            <p:cNvPr id="11" name="TextBox 11"/>
            <p:cNvSpPr txBox="1"/>
            <p:nvPr/>
          </p:nvSpPr>
          <p:spPr>
            <a:xfrm>
              <a:off x="0" y="47625"/>
              <a:ext cx="362570" cy="32213"/>
            </a:xfrm>
            <a:prstGeom prst="rect">
              <a:avLst/>
            </a:prstGeom>
          </p:spPr>
          <p:txBody>
            <a:bodyPr lIns="50800" tIns="50800" rIns="50800" bIns="50800" rtlCol="0" anchor="ctr"/>
            <a:lstStyle/>
            <a:p>
              <a:pPr algn="ctr">
                <a:lnSpc>
                  <a:spcPts val="1800"/>
                </a:lnSpc>
              </a:pPr>
              <a:endParaRPr/>
            </a:p>
          </p:txBody>
        </p:sp>
      </p:grpSp>
      <p:sp>
        <p:nvSpPr>
          <p:cNvPr id="12" name="TextBox 12"/>
          <p:cNvSpPr txBox="1"/>
          <p:nvPr/>
        </p:nvSpPr>
        <p:spPr>
          <a:xfrm>
            <a:off x="1200309" y="951585"/>
            <a:ext cx="16919543" cy="7320587"/>
          </a:xfrm>
          <a:prstGeom prst="rect">
            <a:avLst/>
          </a:prstGeom>
        </p:spPr>
        <p:txBody>
          <a:bodyPr lIns="0" tIns="0" rIns="0" bIns="0" rtlCol="0" anchor="t">
            <a:spAutoFit/>
          </a:bodyPr>
          <a:lstStyle/>
          <a:p>
            <a:pPr marL="0" lvl="0" indent="0" algn="l">
              <a:lnSpc>
                <a:spcPts val="29312"/>
              </a:lnSpc>
              <a:spcBef>
                <a:spcPct val="0"/>
              </a:spcBef>
            </a:pPr>
            <a:r>
              <a:rPr lang="en-US" sz="20937" b="1">
                <a:solidFill>
                  <a:srgbClr val="FFFFFF"/>
                </a:solidFill>
                <a:latin typeface="Atkinson Hyperlegible Bold"/>
                <a:ea typeface="Atkinson Hyperlegible Bold"/>
                <a:cs typeface="Atkinson Hyperlegible Bold"/>
                <a:sym typeface="Atkinson Hyperlegible Bold"/>
              </a:rPr>
              <a:t>Raytheon RTX</a:t>
            </a:r>
          </a:p>
        </p:txBody>
      </p:sp>
      <p:grpSp>
        <p:nvGrpSpPr>
          <p:cNvPr id="13" name="Group 13"/>
          <p:cNvGrpSpPr/>
          <p:nvPr/>
        </p:nvGrpSpPr>
        <p:grpSpPr>
          <a:xfrm>
            <a:off x="16817224" y="1255892"/>
            <a:ext cx="174430" cy="17443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5FF"/>
            </a:solidFill>
          </p:spPr>
          <p:txBody>
            <a:bodyPr/>
            <a:lstStyle/>
            <a:p>
              <a:endParaRPr lang="en-US"/>
            </a:p>
          </p:txBody>
        </p:sp>
        <p:sp>
          <p:nvSpPr>
            <p:cNvPr id="15" name="TextBox 15"/>
            <p:cNvSpPr txBox="1"/>
            <p:nvPr/>
          </p:nvSpPr>
          <p:spPr>
            <a:xfrm>
              <a:off x="76200" y="123825"/>
              <a:ext cx="660400" cy="612775"/>
            </a:xfrm>
            <a:prstGeom prst="rect">
              <a:avLst/>
            </a:prstGeom>
          </p:spPr>
          <p:txBody>
            <a:bodyPr lIns="50800" tIns="50800" rIns="50800" bIns="50800" rtlCol="0" anchor="ctr"/>
            <a:lstStyle/>
            <a:p>
              <a:pPr algn="ctr">
                <a:lnSpc>
                  <a:spcPts val="1800"/>
                </a:lnSpc>
              </a:pPr>
              <a:endParaRPr/>
            </a:p>
          </p:txBody>
        </p:sp>
      </p:grpSp>
      <p:grpSp>
        <p:nvGrpSpPr>
          <p:cNvPr id="16" name="Group 16"/>
          <p:cNvGrpSpPr/>
          <p:nvPr/>
        </p:nvGrpSpPr>
        <p:grpSpPr>
          <a:xfrm>
            <a:off x="16538459" y="1255892"/>
            <a:ext cx="174430" cy="174430"/>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5FF"/>
            </a:solidFill>
          </p:spPr>
          <p:txBody>
            <a:bodyPr/>
            <a:lstStyle/>
            <a:p>
              <a:endParaRPr lang="en-US"/>
            </a:p>
          </p:txBody>
        </p:sp>
        <p:sp>
          <p:nvSpPr>
            <p:cNvPr id="18" name="TextBox 18"/>
            <p:cNvSpPr txBox="1"/>
            <p:nvPr/>
          </p:nvSpPr>
          <p:spPr>
            <a:xfrm>
              <a:off x="76200" y="123825"/>
              <a:ext cx="660400" cy="612775"/>
            </a:xfrm>
            <a:prstGeom prst="rect">
              <a:avLst/>
            </a:prstGeom>
          </p:spPr>
          <p:txBody>
            <a:bodyPr lIns="50800" tIns="50800" rIns="50800" bIns="50800" rtlCol="0" anchor="ctr"/>
            <a:lstStyle/>
            <a:p>
              <a:pPr algn="ctr">
                <a:lnSpc>
                  <a:spcPts val="1800"/>
                </a:lnSpc>
              </a:pPr>
              <a:endParaRPr/>
            </a:p>
          </p:txBody>
        </p:sp>
      </p:grpSp>
      <p:sp>
        <p:nvSpPr>
          <p:cNvPr id="19" name="TextBox 19"/>
          <p:cNvSpPr txBox="1"/>
          <p:nvPr/>
        </p:nvSpPr>
        <p:spPr>
          <a:xfrm>
            <a:off x="12039443" y="1224457"/>
            <a:ext cx="4296131" cy="245132"/>
          </a:xfrm>
          <a:prstGeom prst="rect">
            <a:avLst/>
          </a:prstGeom>
        </p:spPr>
        <p:txBody>
          <a:bodyPr lIns="0" tIns="0" rIns="0" bIns="0" rtlCol="0" anchor="t">
            <a:spAutoFit/>
          </a:bodyPr>
          <a:lstStyle/>
          <a:p>
            <a:pPr marL="0" lvl="0" indent="0" algn="r">
              <a:lnSpc>
                <a:spcPts val="1800"/>
              </a:lnSpc>
              <a:spcBef>
                <a:spcPct val="0"/>
              </a:spcBef>
            </a:pPr>
            <a:r>
              <a:rPr lang="en-US" sz="2000" dirty="0">
                <a:solidFill>
                  <a:srgbClr val="F2F5FF"/>
                </a:solidFill>
                <a:latin typeface="Atkinson Hyperlegible"/>
                <a:ea typeface="Atkinson Hyperlegible"/>
                <a:cs typeface="Atkinson Hyperlegible"/>
                <a:sym typeface="Atkinson Hyperlegible"/>
              </a:rPr>
              <a:t>February 2026</a:t>
            </a:r>
          </a:p>
        </p:txBody>
      </p:sp>
      <p:sp>
        <p:nvSpPr>
          <p:cNvPr id="20" name="TextBox 20"/>
          <p:cNvSpPr txBox="1"/>
          <p:nvPr/>
        </p:nvSpPr>
        <p:spPr>
          <a:xfrm>
            <a:off x="1371918" y="8695890"/>
            <a:ext cx="5581635" cy="239140"/>
          </a:xfrm>
          <a:prstGeom prst="rect">
            <a:avLst/>
          </a:prstGeom>
        </p:spPr>
        <p:txBody>
          <a:bodyPr lIns="0" tIns="0" rIns="0" bIns="0" rtlCol="0" anchor="t">
            <a:spAutoFit/>
          </a:bodyPr>
          <a:lstStyle/>
          <a:p>
            <a:pPr marL="0" lvl="0" indent="0" algn="l">
              <a:lnSpc>
                <a:spcPts val="1872"/>
              </a:lnSpc>
              <a:spcBef>
                <a:spcPct val="0"/>
              </a:spcBef>
            </a:pPr>
            <a:r>
              <a:rPr lang="en-US" sz="2080">
                <a:solidFill>
                  <a:srgbClr val="CFCFCF"/>
                </a:solidFill>
                <a:latin typeface="Atkinson Hyperlegible"/>
                <a:ea typeface="Atkinson Hyperlegible"/>
                <a:cs typeface="Atkinson Hyperlegible"/>
                <a:sym typeface="Atkinson Hyperlegible"/>
              </a:rPr>
              <a:t>Presented by :</a:t>
            </a:r>
          </a:p>
        </p:txBody>
      </p:sp>
      <p:sp>
        <p:nvSpPr>
          <p:cNvPr id="21" name="TextBox 21"/>
          <p:cNvSpPr txBox="1"/>
          <p:nvPr/>
        </p:nvSpPr>
        <p:spPr>
          <a:xfrm>
            <a:off x="3191968" y="8695890"/>
            <a:ext cx="5581635" cy="292940"/>
          </a:xfrm>
          <a:prstGeom prst="rect">
            <a:avLst/>
          </a:prstGeom>
        </p:spPr>
        <p:txBody>
          <a:bodyPr lIns="0" tIns="0" rIns="0" bIns="0" rtlCol="0" anchor="t">
            <a:spAutoFit/>
          </a:bodyPr>
          <a:lstStyle/>
          <a:p>
            <a:pPr marL="0" lvl="0" indent="0" algn="l">
              <a:lnSpc>
                <a:spcPts val="2140"/>
              </a:lnSpc>
              <a:spcBef>
                <a:spcPct val="0"/>
              </a:spcBef>
            </a:pPr>
            <a:r>
              <a:rPr lang="en-US" sz="2378" b="1">
                <a:solidFill>
                  <a:srgbClr val="FFFFFF"/>
                </a:solidFill>
                <a:latin typeface="Open Sauce Bold"/>
                <a:ea typeface="Open Sauce Bold"/>
                <a:cs typeface="Open Sauce Bold"/>
                <a:sym typeface="Open Sauce Bold"/>
              </a:rPr>
              <a:t>JOE MARFISI</a:t>
            </a:r>
          </a:p>
        </p:txBody>
      </p:sp>
      <p:sp>
        <p:nvSpPr>
          <p:cNvPr id="22" name="TextBox 21">
            <a:extLst>
              <a:ext uri="{FF2B5EF4-FFF2-40B4-BE49-F238E27FC236}">
                <a16:creationId xmlns:a16="http://schemas.microsoft.com/office/drawing/2014/main" id="{EB688B92-6758-E7EE-2BE4-C11BB5F3588D}"/>
              </a:ext>
            </a:extLst>
          </p:cNvPr>
          <p:cNvSpPr txBox="1"/>
          <p:nvPr/>
        </p:nvSpPr>
        <p:spPr>
          <a:xfrm>
            <a:off x="10820400" y="4686300"/>
            <a:ext cx="6629400" cy="3046988"/>
          </a:xfrm>
          <a:prstGeom prst="rect">
            <a:avLst/>
          </a:prstGeom>
          <a:noFill/>
        </p:spPr>
        <p:txBody>
          <a:bodyPr wrap="square" rtlCol="0">
            <a:spAutoFit/>
          </a:bodyPr>
          <a:lstStyle/>
          <a:p>
            <a:r>
              <a:rPr lang="en-US" sz="3200" dirty="0">
                <a:solidFill>
                  <a:schemeClr val="bg1"/>
                </a:solidFill>
              </a:rPr>
              <a:t>Current Price: 198.09</a:t>
            </a:r>
          </a:p>
          <a:p>
            <a:endParaRPr lang="en-US" sz="3200" dirty="0">
              <a:solidFill>
                <a:schemeClr val="bg1"/>
              </a:solidFill>
            </a:endParaRPr>
          </a:p>
          <a:p>
            <a:r>
              <a:rPr lang="en-US" sz="3200" dirty="0">
                <a:solidFill>
                  <a:schemeClr val="bg1"/>
                </a:solidFill>
              </a:rPr>
              <a:t>Target Price: 201.76</a:t>
            </a:r>
          </a:p>
          <a:p>
            <a:endParaRPr lang="en-US" sz="3200" dirty="0">
              <a:solidFill>
                <a:schemeClr val="bg1"/>
              </a:solidFill>
            </a:endParaRPr>
          </a:p>
          <a:p>
            <a:r>
              <a:rPr lang="en-US" sz="3200" dirty="0">
                <a:solidFill>
                  <a:schemeClr val="bg1"/>
                </a:solidFill>
              </a:rPr>
              <a:t>Recommendation: Hold</a:t>
            </a:r>
          </a:p>
          <a:p>
            <a:endParaRPr lang="en-US" sz="32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C7FB6-4DDF-1369-281D-3DAE0A4AA78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70B9416-B41E-C1EE-06AC-5A48BF0B96C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3228" t="-35818" r="-11439"/>
            </a:stretch>
          </a:blipFill>
        </p:spPr>
        <p:txBody>
          <a:bodyPr/>
          <a:lstStyle/>
          <a:p>
            <a:endParaRPr lang="en-US"/>
          </a:p>
        </p:txBody>
      </p:sp>
      <p:sp>
        <p:nvSpPr>
          <p:cNvPr id="13" name="TextBox 13">
            <a:extLst>
              <a:ext uri="{FF2B5EF4-FFF2-40B4-BE49-F238E27FC236}">
                <a16:creationId xmlns:a16="http://schemas.microsoft.com/office/drawing/2014/main" id="{E3539E6A-0AE0-EB98-FE09-668FA40617B4}"/>
              </a:ext>
            </a:extLst>
          </p:cNvPr>
          <p:cNvSpPr txBox="1"/>
          <p:nvPr/>
        </p:nvSpPr>
        <p:spPr>
          <a:xfrm>
            <a:off x="1296346" y="441659"/>
            <a:ext cx="15695308" cy="1488407"/>
          </a:xfrm>
          <a:prstGeom prst="rect">
            <a:avLst/>
          </a:prstGeom>
        </p:spPr>
        <p:txBody>
          <a:bodyPr lIns="0" tIns="0" rIns="0" bIns="0" rtlCol="0" anchor="t">
            <a:spAutoFit/>
          </a:bodyPr>
          <a:lstStyle/>
          <a:p>
            <a:pPr marL="0" lvl="0" indent="0" algn="ctr">
              <a:lnSpc>
                <a:spcPts val="10907"/>
              </a:lnSpc>
            </a:pPr>
            <a:r>
              <a:rPr lang="en-US" sz="11856" b="1" spc="-770" dirty="0">
                <a:solidFill>
                  <a:srgbClr val="FFFFFF"/>
                </a:solidFill>
                <a:latin typeface="Atkinson Hyperlegible Bold"/>
                <a:ea typeface="Atkinson Hyperlegible Bold"/>
                <a:cs typeface="Atkinson Hyperlegible Bold"/>
                <a:sym typeface="Atkinson Hyperlegible Bold"/>
              </a:rPr>
              <a:t>Business Description</a:t>
            </a:r>
          </a:p>
        </p:txBody>
      </p:sp>
      <p:pic>
        <p:nvPicPr>
          <p:cNvPr id="4" name="Picture 3" descr="A logo with a sun and text&#10;&#10;AI-generated content may be incorrect.">
            <a:extLst>
              <a:ext uri="{FF2B5EF4-FFF2-40B4-BE49-F238E27FC236}">
                <a16:creationId xmlns:a16="http://schemas.microsoft.com/office/drawing/2014/main" id="{079C25F7-C782-2019-81CC-2BC9360595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27000" y="1790700"/>
            <a:ext cx="4484077" cy="2590800"/>
          </a:xfrm>
          <a:prstGeom prst="rect">
            <a:avLst/>
          </a:prstGeom>
        </p:spPr>
      </p:pic>
      <p:pic>
        <p:nvPicPr>
          <p:cNvPr id="6" name="Picture 5" descr="A group of satellite dishes&#10;&#10;AI-generated content may be incorrect.">
            <a:extLst>
              <a:ext uri="{FF2B5EF4-FFF2-40B4-BE49-F238E27FC236}">
                <a16:creationId xmlns:a16="http://schemas.microsoft.com/office/drawing/2014/main" id="{548B815A-3F45-1455-C8B0-6A6ED8116B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695624" y="4595009"/>
            <a:ext cx="3670300" cy="2019300"/>
          </a:xfrm>
          <a:prstGeom prst="rect">
            <a:avLst/>
          </a:prstGeom>
        </p:spPr>
      </p:pic>
      <p:grpSp>
        <p:nvGrpSpPr>
          <p:cNvPr id="7" name="Group 21">
            <a:extLst>
              <a:ext uri="{FF2B5EF4-FFF2-40B4-BE49-F238E27FC236}">
                <a16:creationId xmlns:a16="http://schemas.microsoft.com/office/drawing/2014/main" id="{E717529D-779C-23EA-3C65-220737D4737F}"/>
              </a:ext>
            </a:extLst>
          </p:cNvPr>
          <p:cNvGrpSpPr/>
          <p:nvPr/>
        </p:nvGrpSpPr>
        <p:grpSpPr>
          <a:xfrm>
            <a:off x="1033655" y="2369484"/>
            <a:ext cx="7244503" cy="7193616"/>
            <a:chOff x="0" y="0"/>
            <a:chExt cx="546981" cy="464438"/>
          </a:xfrm>
        </p:grpSpPr>
        <p:sp>
          <p:nvSpPr>
            <p:cNvPr id="8" name="Freeform 22">
              <a:extLst>
                <a:ext uri="{FF2B5EF4-FFF2-40B4-BE49-F238E27FC236}">
                  <a16:creationId xmlns:a16="http://schemas.microsoft.com/office/drawing/2014/main" id="{E7349796-71EC-84C6-4516-01F1957F012F}"/>
                </a:ext>
              </a:extLst>
            </p:cNvPr>
            <p:cNvSpPr/>
            <p:nvPr/>
          </p:nvSpPr>
          <p:spPr>
            <a:xfrm>
              <a:off x="0" y="0"/>
              <a:ext cx="546981" cy="464438"/>
            </a:xfrm>
            <a:custGeom>
              <a:avLst/>
              <a:gdLst/>
              <a:ahLst/>
              <a:cxnLst/>
              <a:rect l="l" t="t" r="r" b="b"/>
              <a:pathLst>
                <a:path w="546981" h="464438">
                  <a:moveTo>
                    <a:pt x="53912" y="0"/>
                  </a:moveTo>
                  <a:lnTo>
                    <a:pt x="493069" y="0"/>
                  </a:lnTo>
                  <a:cubicBezTo>
                    <a:pt x="522843" y="0"/>
                    <a:pt x="546981" y="24137"/>
                    <a:pt x="546981" y="53912"/>
                  </a:cubicBezTo>
                  <a:lnTo>
                    <a:pt x="546981" y="410526"/>
                  </a:lnTo>
                  <a:cubicBezTo>
                    <a:pt x="546981" y="424825"/>
                    <a:pt x="541301" y="438537"/>
                    <a:pt x="531190" y="448648"/>
                  </a:cubicBezTo>
                  <a:cubicBezTo>
                    <a:pt x="521080" y="458758"/>
                    <a:pt x="507367" y="464438"/>
                    <a:pt x="493069" y="464438"/>
                  </a:cubicBezTo>
                  <a:lnTo>
                    <a:pt x="53912" y="464438"/>
                  </a:lnTo>
                  <a:cubicBezTo>
                    <a:pt x="39614" y="464438"/>
                    <a:pt x="25901" y="458758"/>
                    <a:pt x="15790" y="448648"/>
                  </a:cubicBezTo>
                  <a:cubicBezTo>
                    <a:pt x="5680" y="438537"/>
                    <a:pt x="0" y="424825"/>
                    <a:pt x="0" y="410526"/>
                  </a:cubicBezTo>
                  <a:lnTo>
                    <a:pt x="0" y="53912"/>
                  </a:lnTo>
                  <a:cubicBezTo>
                    <a:pt x="0" y="39614"/>
                    <a:pt x="5680" y="25901"/>
                    <a:pt x="15790" y="15790"/>
                  </a:cubicBezTo>
                  <a:cubicBezTo>
                    <a:pt x="25901" y="5680"/>
                    <a:pt x="39614" y="0"/>
                    <a:pt x="53912" y="0"/>
                  </a:cubicBezTo>
                  <a:close/>
                </a:path>
              </a:pathLst>
            </a:custGeom>
            <a:gradFill rotWithShape="1">
              <a:gsLst>
                <a:gs pos="0">
                  <a:srgbClr val="FFFFFF">
                    <a:alpha val="10000"/>
                  </a:srgbClr>
                </a:gs>
                <a:gs pos="50000">
                  <a:srgbClr val="FFFFFF">
                    <a:alpha val="0"/>
                  </a:srgbClr>
                </a:gs>
                <a:gs pos="100000">
                  <a:srgbClr val="FFFFFF">
                    <a:alpha val="10500"/>
                  </a:srgbClr>
                </a:gs>
              </a:gsLst>
              <a:lin ang="2700000"/>
            </a:gradFill>
            <a:ln w="19050" cap="rnd">
              <a:gradFill>
                <a:gsLst>
                  <a:gs pos="0">
                    <a:srgbClr val="FFFFFF">
                      <a:alpha val="50000"/>
                    </a:srgbClr>
                  </a:gs>
                  <a:gs pos="50000">
                    <a:srgbClr val="FFFFFF">
                      <a:alpha val="0"/>
                    </a:srgbClr>
                  </a:gs>
                  <a:gs pos="100000">
                    <a:srgbClr val="FFFFFF">
                      <a:alpha val="50000"/>
                    </a:srgbClr>
                  </a:gs>
                </a:gsLst>
                <a:lin ang="0"/>
              </a:gradFill>
              <a:prstDash val="solid"/>
              <a:round/>
            </a:ln>
          </p:spPr>
          <p:txBody>
            <a:bodyPr/>
            <a:lstStyle/>
            <a:p>
              <a:endParaRPr lang="en-US" dirty="0"/>
            </a:p>
          </p:txBody>
        </p:sp>
        <p:sp>
          <p:nvSpPr>
            <p:cNvPr id="9" name="TextBox 23">
              <a:extLst>
                <a:ext uri="{FF2B5EF4-FFF2-40B4-BE49-F238E27FC236}">
                  <a16:creationId xmlns:a16="http://schemas.microsoft.com/office/drawing/2014/main" id="{71D5957D-76D3-D74A-2E83-BFAEED7CD70B}"/>
                </a:ext>
              </a:extLst>
            </p:cNvPr>
            <p:cNvSpPr txBox="1"/>
            <p:nvPr/>
          </p:nvSpPr>
          <p:spPr>
            <a:xfrm>
              <a:off x="0" y="47625"/>
              <a:ext cx="546981" cy="416813"/>
            </a:xfrm>
            <a:prstGeom prst="rect">
              <a:avLst/>
            </a:prstGeom>
          </p:spPr>
          <p:txBody>
            <a:bodyPr lIns="50800" tIns="50800" rIns="50800" bIns="50800" rtlCol="0" anchor="ctr"/>
            <a:lstStyle/>
            <a:p>
              <a:pPr algn="ctr">
                <a:lnSpc>
                  <a:spcPts val="1800"/>
                </a:lnSpc>
              </a:pPr>
              <a:endParaRPr/>
            </a:p>
          </p:txBody>
        </p:sp>
      </p:grpSp>
      <p:sp>
        <p:nvSpPr>
          <p:cNvPr id="10" name="TextBox 9">
            <a:extLst>
              <a:ext uri="{FF2B5EF4-FFF2-40B4-BE49-F238E27FC236}">
                <a16:creationId xmlns:a16="http://schemas.microsoft.com/office/drawing/2014/main" id="{FB0118D3-D16F-BFCF-BE5D-9E18003FE78D}"/>
              </a:ext>
            </a:extLst>
          </p:cNvPr>
          <p:cNvSpPr txBox="1"/>
          <p:nvPr/>
        </p:nvSpPr>
        <p:spPr>
          <a:xfrm>
            <a:off x="1752600" y="2781300"/>
            <a:ext cx="5943600" cy="7294305"/>
          </a:xfrm>
          <a:prstGeom prst="rect">
            <a:avLst/>
          </a:prstGeom>
          <a:noFill/>
        </p:spPr>
        <p:txBody>
          <a:bodyPr wrap="square" rtlCol="0">
            <a:spAutoFit/>
          </a:bodyPr>
          <a:lstStyle/>
          <a:p>
            <a:pPr algn="ctr"/>
            <a:r>
              <a:rPr lang="en-US" sz="3600" dirty="0">
                <a:solidFill>
                  <a:schemeClr val="bg1"/>
                </a:solidFill>
              </a:rPr>
              <a:t>Split into 3 sections</a:t>
            </a:r>
          </a:p>
          <a:p>
            <a:r>
              <a:rPr lang="en-US" sz="3600" dirty="0">
                <a:solidFill>
                  <a:schemeClr val="bg1"/>
                </a:solidFill>
              </a:rPr>
              <a:t>Raytheon</a:t>
            </a:r>
          </a:p>
          <a:p>
            <a:pPr marL="342900" indent="-342900">
              <a:buFont typeface="Arial" panose="020B0604020202020204" pitchFamily="34" charset="0"/>
              <a:buChar char="•"/>
            </a:pPr>
            <a:r>
              <a:rPr lang="en-US" sz="2400" dirty="0">
                <a:solidFill>
                  <a:schemeClr val="bg1"/>
                </a:solidFill>
              </a:rPr>
              <a:t>Defense segment</a:t>
            </a:r>
          </a:p>
          <a:p>
            <a:pPr marL="342900" indent="-342900">
              <a:buFont typeface="Arial" panose="020B0604020202020204" pitchFamily="34" charset="0"/>
              <a:buChar char="•"/>
            </a:pPr>
            <a:r>
              <a:rPr lang="en-US" sz="2400" dirty="0">
                <a:solidFill>
                  <a:schemeClr val="bg1"/>
                </a:solidFill>
              </a:rPr>
              <a:t>Produces Patriot missile defensive systems, advanced radar systems, and Tomahawk Cruise missiles</a:t>
            </a:r>
          </a:p>
          <a:p>
            <a:r>
              <a:rPr lang="en-US" sz="3600" dirty="0">
                <a:solidFill>
                  <a:schemeClr val="bg1"/>
                </a:solidFill>
              </a:rPr>
              <a:t>Pratt &amp; Whitney</a:t>
            </a:r>
          </a:p>
          <a:p>
            <a:pPr marL="342900" indent="-342900">
              <a:buFont typeface="Arial" panose="020B0604020202020204" pitchFamily="34" charset="0"/>
              <a:buChar char="•"/>
            </a:pPr>
            <a:r>
              <a:rPr lang="en-US" sz="2400" dirty="0">
                <a:solidFill>
                  <a:schemeClr val="bg1"/>
                </a:solidFill>
              </a:rPr>
              <a:t>Manufacture jet engines: GTF engine and F135 engine</a:t>
            </a:r>
          </a:p>
          <a:p>
            <a:r>
              <a:rPr lang="en-US" sz="3600" dirty="0">
                <a:solidFill>
                  <a:schemeClr val="bg1"/>
                </a:solidFill>
              </a:rPr>
              <a:t>Collins Aerospace</a:t>
            </a:r>
          </a:p>
          <a:p>
            <a:pPr marL="342900" indent="-342900">
              <a:buFont typeface="Arial" panose="020B0604020202020204" pitchFamily="34" charset="0"/>
              <a:buChar char="•"/>
            </a:pPr>
            <a:r>
              <a:rPr lang="en-US" sz="2400" dirty="0">
                <a:solidFill>
                  <a:schemeClr val="bg1"/>
                </a:solidFill>
              </a:rPr>
              <a:t>Specialize in Avionic systems – tells pilots where they are and what’s around them</a:t>
            </a:r>
          </a:p>
          <a:p>
            <a:pPr marL="342900" indent="-342900">
              <a:buFont typeface="Arial" panose="020B0604020202020204" pitchFamily="34" charset="0"/>
              <a:buChar char="•"/>
            </a:pPr>
            <a:r>
              <a:rPr lang="en-US" sz="2400" dirty="0">
                <a:solidFill>
                  <a:schemeClr val="bg1"/>
                </a:solidFill>
              </a:rPr>
              <a:t>These are found in every plane commercial and military</a:t>
            </a:r>
          </a:p>
          <a:p>
            <a:endParaRPr lang="en-US" sz="2400" dirty="0">
              <a:solidFill>
                <a:schemeClr val="bg1"/>
              </a:solidFill>
            </a:endParaRPr>
          </a:p>
          <a:p>
            <a:pPr algn="ctr"/>
            <a:endParaRPr lang="en-US" sz="3600" dirty="0">
              <a:solidFill>
                <a:schemeClr val="bg1"/>
              </a:solidFill>
            </a:endParaRPr>
          </a:p>
          <a:p>
            <a:pPr marL="457200" indent="-457200">
              <a:buFont typeface="+mj-lt"/>
              <a:buAutoNum type="arabicPeriod"/>
            </a:pPr>
            <a:endParaRPr lang="en-US" sz="2400" dirty="0">
              <a:solidFill>
                <a:schemeClr val="bg1"/>
              </a:solidFill>
            </a:endParaRPr>
          </a:p>
        </p:txBody>
      </p:sp>
      <p:pic>
        <p:nvPicPr>
          <p:cNvPr id="12" name="Picture 11" descr="A rocket launching from a vehicle&#10;&#10;AI-generated content may be incorrect.">
            <a:extLst>
              <a:ext uri="{FF2B5EF4-FFF2-40B4-BE49-F238E27FC236}">
                <a16:creationId xmlns:a16="http://schemas.microsoft.com/office/drawing/2014/main" id="{9D302B6F-62E7-563E-BA5B-33EE54366E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83530" y="6827817"/>
            <a:ext cx="5856469" cy="3279623"/>
          </a:xfrm>
          <a:prstGeom prst="rect">
            <a:avLst/>
          </a:prstGeom>
        </p:spPr>
      </p:pic>
    </p:spTree>
    <p:extLst>
      <p:ext uri="{BB962C8B-B14F-4D97-AF65-F5344CB8AC3E}">
        <p14:creationId xmlns:p14="http://schemas.microsoft.com/office/powerpoint/2010/main" val="2601316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3228" t="-35818" r="-11439"/>
            </a:stretch>
          </a:blipFill>
        </p:spPr>
        <p:txBody>
          <a:bodyPr/>
          <a:lstStyle/>
          <a:p>
            <a:endParaRPr lang="en-US"/>
          </a:p>
        </p:txBody>
      </p:sp>
      <p:sp>
        <p:nvSpPr>
          <p:cNvPr id="15" name="TextBox 15"/>
          <p:cNvSpPr txBox="1"/>
          <p:nvPr/>
        </p:nvSpPr>
        <p:spPr>
          <a:xfrm>
            <a:off x="3953761" y="565741"/>
            <a:ext cx="10516182" cy="4160691"/>
          </a:xfrm>
          <a:prstGeom prst="rect">
            <a:avLst/>
          </a:prstGeom>
        </p:spPr>
        <p:txBody>
          <a:bodyPr lIns="0" tIns="0" rIns="0" bIns="0" rtlCol="0" anchor="t">
            <a:spAutoFit/>
          </a:bodyPr>
          <a:lstStyle/>
          <a:p>
            <a:pPr marL="0" lvl="0" indent="0" algn="ctr">
              <a:lnSpc>
                <a:spcPts val="10907"/>
              </a:lnSpc>
            </a:pPr>
            <a:r>
              <a:rPr lang="en-US" sz="8800" b="1" spc="-770" dirty="0">
                <a:solidFill>
                  <a:srgbClr val="FFFFFF"/>
                </a:solidFill>
                <a:latin typeface="Atkinson Hyperlegible Bold"/>
                <a:ea typeface="Atkinson Hyperlegible Bold"/>
                <a:cs typeface="Atkinson Hyperlegible Bold"/>
                <a:sym typeface="Atkinson Hyperlegible Bold"/>
              </a:rPr>
              <a:t>Business Description – Revenue Split</a:t>
            </a:r>
          </a:p>
          <a:p>
            <a:pPr marL="0" lvl="0" indent="0" algn="ctr">
              <a:lnSpc>
                <a:spcPts val="10907"/>
              </a:lnSpc>
            </a:pPr>
            <a:endParaRPr lang="en-US" sz="8800" b="1" spc="-770" dirty="0">
              <a:solidFill>
                <a:srgbClr val="FFFFFF"/>
              </a:solidFill>
              <a:latin typeface="Atkinson Hyperlegible Bold"/>
              <a:ea typeface="Atkinson Hyperlegible Bold"/>
              <a:cs typeface="Atkinson Hyperlegible Bold"/>
              <a:sym typeface="Atkinson Hyperlegible Bold"/>
            </a:endParaRPr>
          </a:p>
        </p:txBody>
      </p:sp>
      <p:sp>
        <p:nvSpPr>
          <p:cNvPr id="16" name="TextBox 16"/>
          <p:cNvSpPr txBox="1"/>
          <p:nvPr/>
        </p:nvSpPr>
        <p:spPr>
          <a:xfrm>
            <a:off x="4187128" y="3566284"/>
            <a:ext cx="10631067" cy="504826"/>
          </a:xfrm>
          <a:prstGeom prst="rect">
            <a:avLst/>
          </a:prstGeom>
        </p:spPr>
        <p:txBody>
          <a:bodyPr lIns="0" tIns="0" rIns="0" bIns="0" rtlCol="0" anchor="t">
            <a:spAutoFit/>
          </a:bodyPr>
          <a:lstStyle/>
          <a:p>
            <a:pPr marL="647695" lvl="1" indent="-323848" algn="l">
              <a:lnSpc>
                <a:spcPts val="4199"/>
              </a:lnSpc>
              <a:buFont typeface="Arial"/>
              <a:buChar char="•"/>
            </a:pPr>
            <a:endParaRPr/>
          </a:p>
        </p:txBody>
      </p:sp>
      <p:pic>
        <p:nvPicPr>
          <p:cNvPr id="18" name="Image 0" descr="preencoded.png">
            <a:extLst>
              <a:ext uri="{FF2B5EF4-FFF2-40B4-BE49-F238E27FC236}">
                <a16:creationId xmlns:a16="http://schemas.microsoft.com/office/drawing/2014/main" id="{053CDDC9-ED5D-352D-10E4-F7BE3E416628}"/>
              </a:ext>
            </a:extLst>
          </p:cNvPr>
          <p:cNvPicPr>
            <a:picLocks noChangeAspect="1"/>
          </p:cNvPicPr>
          <p:nvPr/>
        </p:nvPicPr>
        <p:blipFill>
          <a:blip r:embed="rId4"/>
          <a:stretch>
            <a:fillRect/>
          </a:stretch>
        </p:blipFill>
        <p:spPr>
          <a:xfrm>
            <a:off x="301131" y="2689454"/>
            <a:ext cx="7674150" cy="7080211"/>
          </a:xfrm>
          <a:prstGeom prst="rect">
            <a:avLst/>
          </a:prstGeom>
        </p:spPr>
      </p:pic>
      <p:sp>
        <p:nvSpPr>
          <p:cNvPr id="23" name="Shape 6">
            <a:extLst>
              <a:ext uri="{FF2B5EF4-FFF2-40B4-BE49-F238E27FC236}">
                <a16:creationId xmlns:a16="http://schemas.microsoft.com/office/drawing/2014/main" id="{8410B166-EE53-D1F9-3E3C-7EF29E15ACD6}"/>
              </a:ext>
            </a:extLst>
          </p:cNvPr>
          <p:cNvSpPr/>
          <p:nvPr/>
        </p:nvSpPr>
        <p:spPr>
          <a:xfrm>
            <a:off x="8236293" y="4762952"/>
            <a:ext cx="402336" cy="402336"/>
          </a:xfrm>
          <a:prstGeom prst="ellipse">
            <a:avLst/>
          </a:prstGeom>
          <a:solidFill>
            <a:srgbClr val="3B82F6"/>
          </a:solidFill>
          <a:ln w="12700">
            <a:solidFill>
              <a:srgbClr val="3B82F6"/>
            </a:solidFill>
            <a:prstDash val="solid"/>
          </a:ln>
        </p:spPr>
        <p:txBody>
          <a:bodyPr/>
          <a:lstStyle/>
          <a:p>
            <a:endParaRPr lang="en-US"/>
          </a:p>
        </p:txBody>
      </p:sp>
      <p:sp>
        <p:nvSpPr>
          <p:cNvPr id="24" name="Text 7">
            <a:extLst>
              <a:ext uri="{FF2B5EF4-FFF2-40B4-BE49-F238E27FC236}">
                <a16:creationId xmlns:a16="http://schemas.microsoft.com/office/drawing/2014/main" id="{AA8BFB5E-65BB-1252-605C-649F46B495F9}"/>
              </a:ext>
            </a:extLst>
          </p:cNvPr>
          <p:cNvSpPr/>
          <p:nvPr/>
        </p:nvSpPr>
        <p:spPr>
          <a:xfrm>
            <a:off x="8821509" y="4616648"/>
            <a:ext cx="7315200" cy="585216"/>
          </a:xfrm>
          <a:prstGeom prst="rect">
            <a:avLst/>
          </a:prstGeom>
          <a:noFill/>
          <a:ln/>
        </p:spPr>
        <p:txBody>
          <a:bodyPr wrap="square" lIns="0" tIns="0" rIns="0" bIns="0" rtlCol="0" anchor="ctr"/>
          <a:lstStyle/>
          <a:p>
            <a:r>
              <a:rPr lang="en-US" sz="3000" b="1" dirty="0">
                <a:solidFill>
                  <a:srgbClr val="FFFFFF"/>
                </a:solidFill>
                <a:latin typeface="Calibri" pitchFamily="34" charset="0"/>
                <a:ea typeface="Calibri" pitchFamily="34" charset="-122"/>
                <a:cs typeface="Calibri" pitchFamily="34" charset="-120"/>
              </a:rPr>
              <a:t>Collins Aerospace</a:t>
            </a:r>
            <a:endParaRPr lang="en-US" sz="3000" dirty="0"/>
          </a:p>
        </p:txBody>
      </p:sp>
      <p:sp>
        <p:nvSpPr>
          <p:cNvPr id="25" name="Text 8">
            <a:extLst>
              <a:ext uri="{FF2B5EF4-FFF2-40B4-BE49-F238E27FC236}">
                <a16:creationId xmlns:a16="http://schemas.microsoft.com/office/drawing/2014/main" id="{ECD46569-7459-171D-E058-6DDAC2CBBBF1}"/>
              </a:ext>
            </a:extLst>
          </p:cNvPr>
          <p:cNvSpPr/>
          <p:nvPr/>
        </p:nvSpPr>
        <p:spPr>
          <a:xfrm>
            <a:off x="8821509" y="5220152"/>
            <a:ext cx="3657600" cy="548640"/>
          </a:xfrm>
          <a:prstGeom prst="rect">
            <a:avLst/>
          </a:prstGeom>
          <a:noFill/>
          <a:ln/>
        </p:spPr>
        <p:txBody>
          <a:bodyPr wrap="square" lIns="0" tIns="0" rIns="0" bIns="0" rtlCol="0" anchor="ctr"/>
          <a:lstStyle/>
          <a:p>
            <a:r>
              <a:rPr lang="en-US" sz="4400" b="1" dirty="0">
                <a:solidFill>
                  <a:srgbClr val="FFFFFF"/>
                </a:solidFill>
                <a:latin typeface="Arial Black" pitchFamily="34" charset="0"/>
                <a:ea typeface="Arial Black" pitchFamily="34" charset="-122"/>
                <a:cs typeface="Arial Black" pitchFamily="34" charset="-120"/>
              </a:rPr>
              <a:t>$28.28B</a:t>
            </a:r>
            <a:endParaRPr lang="en-US" sz="4400" dirty="0"/>
          </a:p>
        </p:txBody>
      </p:sp>
      <p:sp>
        <p:nvSpPr>
          <p:cNvPr id="26" name="Shape 9">
            <a:extLst>
              <a:ext uri="{FF2B5EF4-FFF2-40B4-BE49-F238E27FC236}">
                <a16:creationId xmlns:a16="http://schemas.microsoft.com/office/drawing/2014/main" id="{1B5486C8-EECC-393F-D20A-28F654C67B32}"/>
              </a:ext>
            </a:extLst>
          </p:cNvPr>
          <p:cNvSpPr/>
          <p:nvPr/>
        </p:nvSpPr>
        <p:spPr>
          <a:xfrm>
            <a:off x="13050236" y="5220152"/>
            <a:ext cx="1316736" cy="475488"/>
          </a:xfrm>
          <a:prstGeom prst="roundRect">
            <a:avLst>
              <a:gd name="adj" fmla="val 23077"/>
            </a:avLst>
          </a:prstGeom>
          <a:solidFill>
            <a:srgbClr val="3B82F6">
              <a:alpha val="45000"/>
            </a:srgbClr>
          </a:solidFill>
          <a:ln w="12700">
            <a:solidFill>
              <a:srgbClr val="3B82F6">
                <a:alpha val="70000"/>
              </a:srgbClr>
            </a:solidFill>
            <a:prstDash val="solid"/>
          </a:ln>
        </p:spPr>
        <p:txBody>
          <a:bodyPr/>
          <a:lstStyle/>
          <a:p>
            <a:endParaRPr lang="en-US"/>
          </a:p>
        </p:txBody>
      </p:sp>
      <p:sp>
        <p:nvSpPr>
          <p:cNvPr id="27" name="Text 10">
            <a:extLst>
              <a:ext uri="{FF2B5EF4-FFF2-40B4-BE49-F238E27FC236}">
                <a16:creationId xmlns:a16="http://schemas.microsoft.com/office/drawing/2014/main" id="{80576C0F-84DE-420D-7D90-73C118058D72}"/>
              </a:ext>
            </a:extLst>
          </p:cNvPr>
          <p:cNvSpPr/>
          <p:nvPr/>
        </p:nvSpPr>
        <p:spPr>
          <a:xfrm>
            <a:off x="13050236" y="5220152"/>
            <a:ext cx="1316736" cy="475488"/>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34.0%</a:t>
            </a:r>
            <a:endParaRPr lang="en-US" sz="2000" dirty="0"/>
          </a:p>
        </p:txBody>
      </p:sp>
      <p:sp>
        <p:nvSpPr>
          <p:cNvPr id="28" name="Shape 11">
            <a:extLst>
              <a:ext uri="{FF2B5EF4-FFF2-40B4-BE49-F238E27FC236}">
                <a16:creationId xmlns:a16="http://schemas.microsoft.com/office/drawing/2014/main" id="{DFDADD1D-5806-487A-FBB8-A63531C8AA6A}"/>
              </a:ext>
            </a:extLst>
          </p:cNvPr>
          <p:cNvSpPr/>
          <p:nvPr/>
        </p:nvSpPr>
        <p:spPr>
          <a:xfrm>
            <a:off x="8638629" y="6049920"/>
            <a:ext cx="7315200" cy="0"/>
          </a:xfrm>
          <a:prstGeom prst="line">
            <a:avLst/>
          </a:prstGeom>
          <a:noFill/>
          <a:ln w="6350">
            <a:solidFill>
              <a:srgbClr val="FFFFFF">
                <a:alpha val="25000"/>
              </a:srgbClr>
            </a:solidFill>
            <a:prstDash val="solid"/>
          </a:ln>
        </p:spPr>
        <p:txBody>
          <a:bodyPr/>
          <a:lstStyle/>
          <a:p>
            <a:endParaRPr lang="en-US" dirty="0"/>
          </a:p>
        </p:txBody>
      </p:sp>
      <p:sp>
        <p:nvSpPr>
          <p:cNvPr id="29" name="Shape 12">
            <a:extLst>
              <a:ext uri="{FF2B5EF4-FFF2-40B4-BE49-F238E27FC236}">
                <a16:creationId xmlns:a16="http://schemas.microsoft.com/office/drawing/2014/main" id="{A05276B4-6784-C7D1-5708-3037A7E31089}"/>
              </a:ext>
            </a:extLst>
          </p:cNvPr>
          <p:cNvSpPr/>
          <p:nvPr/>
        </p:nvSpPr>
        <p:spPr>
          <a:xfrm>
            <a:off x="8236293" y="6196224"/>
            <a:ext cx="402336" cy="402336"/>
          </a:xfrm>
          <a:prstGeom prst="ellipse">
            <a:avLst/>
          </a:prstGeom>
          <a:solidFill>
            <a:srgbClr val="F59E0B"/>
          </a:solidFill>
          <a:ln w="12700">
            <a:solidFill>
              <a:srgbClr val="F59E0B"/>
            </a:solidFill>
            <a:prstDash val="solid"/>
          </a:ln>
        </p:spPr>
        <p:txBody>
          <a:bodyPr/>
          <a:lstStyle/>
          <a:p>
            <a:endParaRPr lang="en-US"/>
          </a:p>
        </p:txBody>
      </p:sp>
      <p:sp>
        <p:nvSpPr>
          <p:cNvPr id="30" name="Text 13">
            <a:extLst>
              <a:ext uri="{FF2B5EF4-FFF2-40B4-BE49-F238E27FC236}">
                <a16:creationId xmlns:a16="http://schemas.microsoft.com/office/drawing/2014/main" id="{5BAF363D-2A11-56C7-AF2D-960C576B02FD}"/>
              </a:ext>
            </a:extLst>
          </p:cNvPr>
          <p:cNvSpPr/>
          <p:nvPr/>
        </p:nvSpPr>
        <p:spPr>
          <a:xfrm>
            <a:off x="8821509" y="6049920"/>
            <a:ext cx="7315200" cy="585216"/>
          </a:xfrm>
          <a:prstGeom prst="rect">
            <a:avLst/>
          </a:prstGeom>
          <a:noFill/>
          <a:ln/>
        </p:spPr>
        <p:txBody>
          <a:bodyPr wrap="square" lIns="0" tIns="0" rIns="0" bIns="0" rtlCol="0" anchor="ctr"/>
          <a:lstStyle/>
          <a:p>
            <a:r>
              <a:rPr lang="en-US" sz="3000" b="1" dirty="0">
                <a:solidFill>
                  <a:srgbClr val="FFFFFF"/>
                </a:solidFill>
                <a:latin typeface="Calibri" pitchFamily="34" charset="0"/>
                <a:ea typeface="Calibri" pitchFamily="34" charset="-122"/>
                <a:cs typeface="Calibri" pitchFamily="34" charset="-120"/>
              </a:rPr>
              <a:t>Pratt &amp; Whitney</a:t>
            </a:r>
            <a:endParaRPr lang="en-US" sz="3000" dirty="0"/>
          </a:p>
        </p:txBody>
      </p:sp>
      <p:sp>
        <p:nvSpPr>
          <p:cNvPr id="31" name="Text 14">
            <a:extLst>
              <a:ext uri="{FF2B5EF4-FFF2-40B4-BE49-F238E27FC236}">
                <a16:creationId xmlns:a16="http://schemas.microsoft.com/office/drawing/2014/main" id="{0B9BDCEE-76C7-37E0-A70E-55FCE9E25853}"/>
              </a:ext>
            </a:extLst>
          </p:cNvPr>
          <p:cNvSpPr/>
          <p:nvPr/>
        </p:nvSpPr>
        <p:spPr>
          <a:xfrm>
            <a:off x="8821509" y="6653424"/>
            <a:ext cx="3657600" cy="548640"/>
          </a:xfrm>
          <a:prstGeom prst="rect">
            <a:avLst/>
          </a:prstGeom>
          <a:noFill/>
          <a:ln/>
        </p:spPr>
        <p:txBody>
          <a:bodyPr wrap="square" lIns="0" tIns="0" rIns="0" bIns="0" rtlCol="0" anchor="ctr"/>
          <a:lstStyle/>
          <a:p>
            <a:r>
              <a:rPr lang="en-US" sz="4400" b="1" dirty="0">
                <a:solidFill>
                  <a:srgbClr val="FFFFFF"/>
                </a:solidFill>
                <a:latin typeface="Arial Black" pitchFamily="34" charset="0"/>
                <a:ea typeface="Arial Black" pitchFamily="34" charset="-122"/>
                <a:cs typeface="Arial Black" pitchFamily="34" charset="-120"/>
              </a:rPr>
              <a:t>$28.07B</a:t>
            </a:r>
            <a:endParaRPr lang="en-US" sz="4400" dirty="0"/>
          </a:p>
        </p:txBody>
      </p:sp>
      <p:sp>
        <p:nvSpPr>
          <p:cNvPr id="32" name="Shape 15">
            <a:extLst>
              <a:ext uri="{FF2B5EF4-FFF2-40B4-BE49-F238E27FC236}">
                <a16:creationId xmlns:a16="http://schemas.microsoft.com/office/drawing/2014/main" id="{9BFDB885-4440-3415-633B-B39507641EB9}"/>
              </a:ext>
            </a:extLst>
          </p:cNvPr>
          <p:cNvSpPr/>
          <p:nvPr/>
        </p:nvSpPr>
        <p:spPr>
          <a:xfrm>
            <a:off x="13076077" y="6589298"/>
            <a:ext cx="1316736" cy="475488"/>
          </a:xfrm>
          <a:prstGeom prst="roundRect">
            <a:avLst>
              <a:gd name="adj" fmla="val 23077"/>
            </a:avLst>
          </a:prstGeom>
          <a:solidFill>
            <a:srgbClr val="F59E0B">
              <a:alpha val="45000"/>
            </a:srgbClr>
          </a:solidFill>
          <a:ln w="12700">
            <a:solidFill>
              <a:srgbClr val="F59E0B">
                <a:alpha val="70000"/>
              </a:srgbClr>
            </a:solidFill>
            <a:prstDash val="solid"/>
          </a:ln>
        </p:spPr>
        <p:txBody>
          <a:bodyPr/>
          <a:lstStyle/>
          <a:p>
            <a:endParaRPr lang="en-US"/>
          </a:p>
        </p:txBody>
      </p:sp>
      <p:sp>
        <p:nvSpPr>
          <p:cNvPr id="33" name="Text 16">
            <a:extLst>
              <a:ext uri="{FF2B5EF4-FFF2-40B4-BE49-F238E27FC236}">
                <a16:creationId xmlns:a16="http://schemas.microsoft.com/office/drawing/2014/main" id="{24686AF0-6470-F764-6AF3-65BE8BFEBC4F}"/>
              </a:ext>
            </a:extLst>
          </p:cNvPr>
          <p:cNvSpPr/>
          <p:nvPr/>
        </p:nvSpPr>
        <p:spPr>
          <a:xfrm>
            <a:off x="13124188" y="6598560"/>
            <a:ext cx="1316736" cy="475488"/>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33.8%</a:t>
            </a:r>
            <a:endParaRPr lang="en-US" sz="2000" dirty="0"/>
          </a:p>
        </p:txBody>
      </p:sp>
      <p:sp>
        <p:nvSpPr>
          <p:cNvPr id="34" name="Shape 17">
            <a:extLst>
              <a:ext uri="{FF2B5EF4-FFF2-40B4-BE49-F238E27FC236}">
                <a16:creationId xmlns:a16="http://schemas.microsoft.com/office/drawing/2014/main" id="{4CB9CF86-1395-9A79-912A-21626F4AB12F}"/>
              </a:ext>
            </a:extLst>
          </p:cNvPr>
          <p:cNvSpPr/>
          <p:nvPr/>
        </p:nvSpPr>
        <p:spPr>
          <a:xfrm>
            <a:off x="8600663" y="7531253"/>
            <a:ext cx="7315200" cy="0"/>
          </a:xfrm>
          <a:prstGeom prst="line">
            <a:avLst/>
          </a:prstGeom>
          <a:noFill/>
          <a:ln w="6350">
            <a:solidFill>
              <a:srgbClr val="FFFFFF">
                <a:alpha val="25000"/>
              </a:srgbClr>
            </a:solidFill>
            <a:prstDash val="solid"/>
          </a:ln>
        </p:spPr>
        <p:txBody>
          <a:bodyPr/>
          <a:lstStyle/>
          <a:p>
            <a:endParaRPr lang="en-US"/>
          </a:p>
        </p:txBody>
      </p:sp>
      <p:sp>
        <p:nvSpPr>
          <p:cNvPr id="35" name="Shape 18">
            <a:extLst>
              <a:ext uri="{FF2B5EF4-FFF2-40B4-BE49-F238E27FC236}">
                <a16:creationId xmlns:a16="http://schemas.microsoft.com/office/drawing/2014/main" id="{DF125B5A-8676-36BA-E678-04328F48FCD7}"/>
              </a:ext>
            </a:extLst>
          </p:cNvPr>
          <p:cNvSpPr/>
          <p:nvPr/>
        </p:nvSpPr>
        <p:spPr>
          <a:xfrm>
            <a:off x="8600663" y="7714133"/>
            <a:ext cx="402336" cy="402336"/>
          </a:xfrm>
          <a:prstGeom prst="ellipse">
            <a:avLst/>
          </a:prstGeom>
          <a:solidFill>
            <a:srgbClr val="10B981"/>
          </a:solidFill>
          <a:ln w="12700">
            <a:solidFill>
              <a:srgbClr val="10B981"/>
            </a:solidFill>
            <a:prstDash val="solid"/>
          </a:ln>
        </p:spPr>
        <p:txBody>
          <a:bodyPr/>
          <a:lstStyle/>
          <a:p>
            <a:endParaRPr lang="en-US"/>
          </a:p>
        </p:txBody>
      </p:sp>
      <p:sp>
        <p:nvSpPr>
          <p:cNvPr id="36" name="Text 19">
            <a:extLst>
              <a:ext uri="{FF2B5EF4-FFF2-40B4-BE49-F238E27FC236}">
                <a16:creationId xmlns:a16="http://schemas.microsoft.com/office/drawing/2014/main" id="{84D05738-DDEC-4449-5F95-457C01981A27}"/>
              </a:ext>
            </a:extLst>
          </p:cNvPr>
          <p:cNvSpPr/>
          <p:nvPr/>
        </p:nvSpPr>
        <p:spPr>
          <a:xfrm>
            <a:off x="9185879" y="7567829"/>
            <a:ext cx="7315200" cy="585216"/>
          </a:xfrm>
          <a:prstGeom prst="rect">
            <a:avLst/>
          </a:prstGeom>
          <a:noFill/>
          <a:ln/>
        </p:spPr>
        <p:txBody>
          <a:bodyPr wrap="square" lIns="0" tIns="0" rIns="0" bIns="0" rtlCol="0" anchor="ctr"/>
          <a:lstStyle/>
          <a:p>
            <a:r>
              <a:rPr lang="en-US" sz="3000" b="1" dirty="0">
                <a:solidFill>
                  <a:srgbClr val="FFFFFF"/>
                </a:solidFill>
                <a:latin typeface="Calibri" pitchFamily="34" charset="0"/>
                <a:ea typeface="Calibri" pitchFamily="34" charset="-122"/>
                <a:cs typeface="Calibri" pitchFamily="34" charset="-120"/>
              </a:rPr>
              <a:t>Raytheon</a:t>
            </a:r>
            <a:endParaRPr lang="en-US" sz="3000" dirty="0"/>
          </a:p>
        </p:txBody>
      </p:sp>
      <p:sp>
        <p:nvSpPr>
          <p:cNvPr id="37" name="Text 20">
            <a:extLst>
              <a:ext uri="{FF2B5EF4-FFF2-40B4-BE49-F238E27FC236}">
                <a16:creationId xmlns:a16="http://schemas.microsoft.com/office/drawing/2014/main" id="{60594B51-24E5-459C-C182-0E8DBC0C19B6}"/>
              </a:ext>
            </a:extLst>
          </p:cNvPr>
          <p:cNvSpPr/>
          <p:nvPr/>
        </p:nvSpPr>
        <p:spPr>
          <a:xfrm>
            <a:off x="9185879" y="8171333"/>
            <a:ext cx="3657600" cy="548640"/>
          </a:xfrm>
          <a:prstGeom prst="rect">
            <a:avLst/>
          </a:prstGeom>
          <a:noFill/>
          <a:ln/>
        </p:spPr>
        <p:txBody>
          <a:bodyPr wrap="square" lIns="0" tIns="0" rIns="0" bIns="0" rtlCol="0" anchor="ctr"/>
          <a:lstStyle/>
          <a:p>
            <a:r>
              <a:rPr lang="en-US" sz="4400" b="1" dirty="0">
                <a:solidFill>
                  <a:srgbClr val="FFFFFF"/>
                </a:solidFill>
                <a:latin typeface="Arial Black" pitchFamily="34" charset="0"/>
                <a:ea typeface="Arial Black" pitchFamily="34" charset="-122"/>
                <a:cs typeface="Arial Black" pitchFamily="34" charset="-120"/>
              </a:rPr>
              <a:t>$26.71B</a:t>
            </a:r>
            <a:endParaRPr lang="en-US" sz="4400" dirty="0"/>
          </a:p>
        </p:txBody>
      </p:sp>
      <p:sp>
        <p:nvSpPr>
          <p:cNvPr id="38" name="Shape 21">
            <a:extLst>
              <a:ext uri="{FF2B5EF4-FFF2-40B4-BE49-F238E27FC236}">
                <a16:creationId xmlns:a16="http://schemas.microsoft.com/office/drawing/2014/main" id="{13F97269-DE3D-53B4-FFC7-5B660C679937}"/>
              </a:ext>
            </a:extLst>
          </p:cNvPr>
          <p:cNvSpPr/>
          <p:nvPr/>
        </p:nvSpPr>
        <p:spPr>
          <a:xfrm>
            <a:off x="13081223" y="8207909"/>
            <a:ext cx="1316736" cy="475488"/>
          </a:xfrm>
          <a:prstGeom prst="roundRect">
            <a:avLst>
              <a:gd name="adj" fmla="val 23077"/>
            </a:avLst>
          </a:prstGeom>
          <a:solidFill>
            <a:srgbClr val="10B981">
              <a:alpha val="45000"/>
            </a:srgbClr>
          </a:solidFill>
          <a:ln w="12700">
            <a:solidFill>
              <a:srgbClr val="10B981">
                <a:alpha val="70000"/>
              </a:srgbClr>
            </a:solidFill>
            <a:prstDash val="solid"/>
          </a:ln>
        </p:spPr>
        <p:txBody>
          <a:bodyPr/>
          <a:lstStyle/>
          <a:p>
            <a:endParaRPr lang="en-US"/>
          </a:p>
        </p:txBody>
      </p:sp>
      <p:sp>
        <p:nvSpPr>
          <p:cNvPr id="39" name="Text 22">
            <a:extLst>
              <a:ext uri="{FF2B5EF4-FFF2-40B4-BE49-F238E27FC236}">
                <a16:creationId xmlns:a16="http://schemas.microsoft.com/office/drawing/2014/main" id="{7714A05B-6A73-F0F8-0815-95617AF3D20D}"/>
              </a:ext>
            </a:extLst>
          </p:cNvPr>
          <p:cNvSpPr/>
          <p:nvPr/>
        </p:nvSpPr>
        <p:spPr>
          <a:xfrm>
            <a:off x="13081223" y="8207909"/>
            <a:ext cx="1316736" cy="475488"/>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32.2%</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82B23-753D-AF94-0269-5FAC9950BCD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BC400E3-2CBB-E655-E6CA-9206374F195D}"/>
              </a:ext>
            </a:extLst>
          </p:cNvPr>
          <p:cNvSpPr/>
          <p:nvPr/>
        </p:nvSpPr>
        <p:spPr>
          <a:xfrm>
            <a:off x="0" y="-6724"/>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3228" t="-35818" r="-11439"/>
            </a:stretch>
          </a:blipFill>
        </p:spPr>
        <p:txBody>
          <a:bodyPr/>
          <a:lstStyle/>
          <a:p>
            <a:endParaRPr lang="en-US"/>
          </a:p>
        </p:txBody>
      </p:sp>
      <p:sp>
        <p:nvSpPr>
          <p:cNvPr id="13" name="TextBox 13">
            <a:extLst>
              <a:ext uri="{FF2B5EF4-FFF2-40B4-BE49-F238E27FC236}">
                <a16:creationId xmlns:a16="http://schemas.microsoft.com/office/drawing/2014/main" id="{10FC3C18-24C1-F760-8C37-09B7311D8FF0}"/>
              </a:ext>
            </a:extLst>
          </p:cNvPr>
          <p:cNvSpPr txBox="1"/>
          <p:nvPr/>
        </p:nvSpPr>
        <p:spPr>
          <a:xfrm>
            <a:off x="1296346" y="29005"/>
            <a:ext cx="15695308" cy="1488407"/>
          </a:xfrm>
          <a:prstGeom prst="rect">
            <a:avLst/>
          </a:prstGeom>
        </p:spPr>
        <p:txBody>
          <a:bodyPr lIns="0" tIns="0" rIns="0" bIns="0" rtlCol="0" anchor="t">
            <a:spAutoFit/>
          </a:bodyPr>
          <a:lstStyle/>
          <a:p>
            <a:pPr marL="0" lvl="0" indent="0" algn="ctr">
              <a:lnSpc>
                <a:spcPts val="10907"/>
              </a:lnSpc>
            </a:pPr>
            <a:r>
              <a:rPr lang="en-US" sz="11856" b="1" spc="-770" dirty="0">
                <a:solidFill>
                  <a:srgbClr val="FFFFFF"/>
                </a:solidFill>
                <a:latin typeface="Atkinson Hyperlegible Bold"/>
                <a:ea typeface="Atkinson Hyperlegible Bold"/>
                <a:cs typeface="Atkinson Hyperlegible Bold"/>
                <a:sym typeface="Atkinson Hyperlegible Bold"/>
              </a:rPr>
              <a:t>Current News</a:t>
            </a:r>
          </a:p>
        </p:txBody>
      </p:sp>
      <p:grpSp>
        <p:nvGrpSpPr>
          <p:cNvPr id="3" name="Group 21">
            <a:extLst>
              <a:ext uri="{FF2B5EF4-FFF2-40B4-BE49-F238E27FC236}">
                <a16:creationId xmlns:a16="http://schemas.microsoft.com/office/drawing/2014/main" id="{DE2C0EC7-15EE-BB35-C44D-68935602E2E6}"/>
              </a:ext>
            </a:extLst>
          </p:cNvPr>
          <p:cNvGrpSpPr/>
          <p:nvPr/>
        </p:nvGrpSpPr>
        <p:grpSpPr>
          <a:xfrm>
            <a:off x="685801" y="1257301"/>
            <a:ext cx="16078200" cy="8380024"/>
            <a:chOff x="-8171" y="-2035"/>
            <a:chExt cx="555152" cy="466473"/>
          </a:xfrm>
        </p:grpSpPr>
        <p:sp>
          <p:nvSpPr>
            <p:cNvPr id="5" name="Freeform 22">
              <a:extLst>
                <a:ext uri="{FF2B5EF4-FFF2-40B4-BE49-F238E27FC236}">
                  <a16:creationId xmlns:a16="http://schemas.microsoft.com/office/drawing/2014/main" id="{87270B35-F669-C6BF-D1ED-2DE27EC820AF}"/>
                </a:ext>
              </a:extLst>
            </p:cNvPr>
            <p:cNvSpPr/>
            <p:nvPr/>
          </p:nvSpPr>
          <p:spPr>
            <a:xfrm>
              <a:off x="-8171" y="-2035"/>
              <a:ext cx="368347" cy="466473"/>
            </a:xfrm>
            <a:custGeom>
              <a:avLst/>
              <a:gdLst/>
              <a:ahLst/>
              <a:cxnLst/>
              <a:rect l="l" t="t" r="r" b="b"/>
              <a:pathLst>
                <a:path w="546981" h="464438">
                  <a:moveTo>
                    <a:pt x="53912" y="0"/>
                  </a:moveTo>
                  <a:lnTo>
                    <a:pt x="493069" y="0"/>
                  </a:lnTo>
                  <a:cubicBezTo>
                    <a:pt x="522843" y="0"/>
                    <a:pt x="546981" y="24137"/>
                    <a:pt x="546981" y="53912"/>
                  </a:cubicBezTo>
                  <a:lnTo>
                    <a:pt x="546981" y="410526"/>
                  </a:lnTo>
                  <a:cubicBezTo>
                    <a:pt x="546981" y="424825"/>
                    <a:pt x="541301" y="438537"/>
                    <a:pt x="531190" y="448648"/>
                  </a:cubicBezTo>
                  <a:cubicBezTo>
                    <a:pt x="521080" y="458758"/>
                    <a:pt x="507367" y="464438"/>
                    <a:pt x="493069" y="464438"/>
                  </a:cubicBezTo>
                  <a:lnTo>
                    <a:pt x="53912" y="464438"/>
                  </a:lnTo>
                  <a:cubicBezTo>
                    <a:pt x="39614" y="464438"/>
                    <a:pt x="25901" y="458758"/>
                    <a:pt x="15790" y="448648"/>
                  </a:cubicBezTo>
                  <a:cubicBezTo>
                    <a:pt x="5680" y="438537"/>
                    <a:pt x="0" y="424825"/>
                    <a:pt x="0" y="410526"/>
                  </a:cubicBezTo>
                  <a:lnTo>
                    <a:pt x="0" y="53912"/>
                  </a:lnTo>
                  <a:cubicBezTo>
                    <a:pt x="0" y="39614"/>
                    <a:pt x="5680" y="25901"/>
                    <a:pt x="15790" y="15790"/>
                  </a:cubicBezTo>
                  <a:cubicBezTo>
                    <a:pt x="25901" y="5680"/>
                    <a:pt x="39614" y="0"/>
                    <a:pt x="53912" y="0"/>
                  </a:cubicBezTo>
                  <a:close/>
                </a:path>
              </a:pathLst>
            </a:custGeom>
            <a:gradFill rotWithShape="1">
              <a:gsLst>
                <a:gs pos="0">
                  <a:srgbClr val="FFFFFF">
                    <a:alpha val="10000"/>
                  </a:srgbClr>
                </a:gs>
                <a:gs pos="50000">
                  <a:srgbClr val="FFFFFF">
                    <a:alpha val="0"/>
                  </a:srgbClr>
                </a:gs>
                <a:gs pos="100000">
                  <a:srgbClr val="FFFFFF">
                    <a:alpha val="10500"/>
                  </a:srgbClr>
                </a:gs>
              </a:gsLst>
              <a:lin ang="2700000"/>
            </a:gradFill>
            <a:ln w="19050" cap="rnd">
              <a:gradFill>
                <a:gsLst>
                  <a:gs pos="0">
                    <a:srgbClr val="FFFFFF">
                      <a:alpha val="50000"/>
                    </a:srgbClr>
                  </a:gs>
                  <a:gs pos="50000">
                    <a:srgbClr val="FFFFFF">
                      <a:alpha val="0"/>
                    </a:srgbClr>
                  </a:gs>
                  <a:gs pos="100000">
                    <a:srgbClr val="FFFFFF">
                      <a:alpha val="50000"/>
                    </a:srgbClr>
                  </a:gs>
                </a:gsLst>
                <a:lin ang="0"/>
              </a:gradFill>
              <a:prstDash val="solid"/>
              <a:round/>
            </a:ln>
          </p:spPr>
          <p:txBody>
            <a:bodyPr/>
            <a:lstStyle/>
            <a:p>
              <a:endParaRPr lang="en-US" dirty="0">
                <a:solidFill>
                  <a:schemeClr val="bg1"/>
                </a:solidFill>
              </a:endParaRPr>
            </a:p>
          </p:txBody>
        </p:sp>
        <p:sp>
          <p:nvSpPr>
            <p:cNvPr id="7" name="TextBox 23">
              <a:extLst>
                <a:ext uri="{FF2B5EF4-FFF2-40B4-BE49-F238E27FC236}">
                  <a16:creationId xmlns:a16="http://schemas.microsoft.com/office/drawing/2014/main" id="{74897CA0-9D42-D2DC-32EE-2687CA704B0F}"/>
                </a:ext>
              </a:extLst>
            </p:cNvPr>
            <p:cNvSpPr txBox="1"/>
            <p:nvPr/>
          </p:nvSpPr>
          <p:spPr>
            <a:xfrm>
              <a:off x="0" y="47625"/>
              <a:ext cx="546981" cy="416813"/>
            </a:xfrm>
            <a:prstGeom prst="rect">
              <a:avLst/>
            </a:prstGeom>
          </p:spPr>
          <p:txBody>
            <a:bodyPr lIns="50800" tIns="50800" rIns="50800" bIns="50800" rtlCol="0" anchor="ctr"/>
            <a:lstStyle/>
            <a:p>
              <a:pPr algn="ctr">
                <a:lnSpc>
                  <a:spcPts val="1800"/>
                </a:lnSpc>
              </a:pPr>
              <a:endParaRPr/>
            </a:p>
          </p:txBody>
        </p:sp>
      </p:grpSp>
      <p:sp>
        <p:nvSpPr>
          <p:cNvPr id="9" name="TextBox 8">
            <a:extLst>
              <a:ext uri="{FF2B5EF4-FFF2-40B4-BE49-F238E27FC236}">
                <a16:creationId xmlns:a16="http://schemas.microsoft.com/office/drawing/2014/main" id="{18047388-85AF-0850-618A-D63A445A15AD}"/>
              </a:ext>
            </a:extLst>
          </p:cNvPr>
          <p:cNvSpPr txBox="1"/>
          <p:nvPr/>
        </p:nvSpPr>
        <p:spPr>
          <a:xfrm>
            <a:off x="922448" y="1604366"/>
            <a:ext cx="10202752" cy="7663636"/>
          </a:xfrm>
          <a:prstGeom prst="rect">
            <a:avLst/>
          </a:prstGeom>
          <a:noFill/>
        </p:spPr>
        <p:txBody>
          <a:bodyPr wrap="square" rtlCol="0">
            <a:spAutoFit/>
          </a:bodyPr>
          <a:lstStyle/>
          <a:p>
            <a:r>
              <a:rPr lang="en-US" sz="3600" dirty="0">
                <a:solidFill>
                  <a:schemeClr val="bg1"/>
                </a:solidFill>
              </a:rPr>
              <a:t>Geopolitical Climate</a:t>
            </a:r>
          </a:p>
          <a:p>
            <a:r>
              <a:rPr lang="en-US" sz="3200" dirty="0">
                <a:solidFill>
                  <a:schemeClr val="bg1"/>
                </a:solidFill>
              </a:rPr>
              <a:t>Iran/US</a:t>
            </a:r>
          </a:p>
          <a:p>
            <a:pPr marL="342900" indent="-342900">
              <a:buFont typeface="Arial" panose="020B0604020202020204" pitchFamily="34" charset="0"/>
              <a:buChar char="•"/>
            </a:pPr>
            <a:r>
              <a:rPr lang="en-US" sz="2400" dirty="0">
                <a:solidFill>
                  <a:schemeClr val="bg1"/>
                </a:solidFill>
              </a:rPr>
              <a:t>Iran passed 200% military budget increase to $46B following domestic unrest</a:t>
            </a:r>
          </a:p>
          <a:p>
            <a:pPr marL="342900" indent="-342900">
              <a:buFont typeface="Arial" panose="020B0604020202020204" pitchFamily="34" charset="0"/>
              <a:buChar char="•"/>
            </a:pPr>
            <a:r>
              <a:rPr lang="en-US" sz="2400" dirty="0">
                <a:solidFill>
                  <a:schemeClr val="bg1"/>
                </a:solidFill>
              </a:rPr>
              <a:t>U.S. assembled largest Middle East naval armada since 2003 Iraq invasion</a:t>
            </a:r>
          </a:p>
          <a:p>
            <a:pPr marL="342900" indent="-342900">
              <a:buFont typeface="Arial" panose="020B0604020202020204" pitchFamily="34" charset="0"/>
              <a:buChar char="•"/>
            </a:pPr>
            <a:endParaRPr lang="en-US" sz="2400" dirty="0">
              <a:solidFill>
                <a:schemeClr val="bg1"/>
              </a:solidFill>
            </a:endParaRPr>
          </a:p>
          <a:p>
            <a:r>
              <a:rPr lang="en-US" sz="3200" dirty="0">
                <a:solidFill>
                  <a:schemeClr val="bg1"/>
                </a:solidFill>
              </a:rPr>
              <a:t>Ukraine/NATO</a:t>
            </a:r>
          </a:p>
          <a:p>
            <a:pPr marL="342900" indent="-342900">
              <a:buFont typeface="Arial" panose="020B0604020202020204" pitchFamily="34" charset="0"/>
              <a:buChar char="•"/>
            </a:pPr>
            <a:r>
              <a:rPr lang="en-US" sz="2400" dirty="0">
                <a:solidFill>
                  <a:schemeClr val="bg1"/>
                </a:solidFill>
              </a:rPr>
              <a:t>Patriot missiles (RTX made) are currently being used against Russian ballistic missiles</a:t>
            </a:r>
          </a:p>
          <a:p>
            <a:pPr marL="342900" indent="-342900">
              <a:buFont typeface="Arial" panose="020B0604020202020204" pitchFamily="34" charset="0"/>
              <a:buChar char="•"/>
            </a:pPr>
            <a:r>
              <a:rPr lang="en-US" sz="2400" dirty="0">
                <a:solidFill>
                  <a:schemeClr val="bg1"/>
                </a:solidFill>
              </a:rPr>
              <a:t>Defense items donated are legally required to be replenished to NATO</a:t>
            </a:r>
          </a:p>
          <a:p>
            <a:pPr marL="342900" indent="-342900">
              <a:buFont typeface="Arial" panose="020B0604020202020204" pitchFamily="34" charset="0"/>
              <a:buChar char="•"/>
            </a:pPr>
            <a:endParaRPr lang="en-US" sz="2400" dirty="0">
              <a:solidFill>
                <a:schemeClr val="bg1"/>
              </a:solidFill>
            </a:endParaRPr>
          </a:p>
          <a:p>
            <a:r>
              <a:rPr lang="en-US" sz="3200" dirty="0">
                <a:solidFill>
                  <a:schemeClr val="bg1"/>
                </a:solidFill>
              </a:rPr>
              <a:t>Trump/Global Outlook</a:t>
            </a:r>
          </a:p>
          <a:p>
            <a:pPr marL="342900" indent="-342900">
              <a:buFont typeface="Arial" panose="020B0604020202020204" pitchFamily="34" charset="0"/>
              <a:buChar char="•"/>
            </a:pPr>
            <a:r>
              <a:rPr lang="en-US" sz="2400" dirty="0">
                <a:solidFill>
                  <a:schemeClr val="bg1"/>
                </a:solidFill>
              </a:rPr>
              <a:t>Trump proposed $1.5 trillion defense budget for 2027 – largest defense spending proposal in US history</a:t>
            </a:r>
          </a:p>
          <a:p>
            <a:pPr marL="342900" indent="-342900">
              <a:buFont typeface="Arial" panose="020B0604020202020204" pitchFamily="34" charset="0"/>
              <a:buChar char="•"/>
            </a:pPr>
            <a:r>
              <a:rPr lang="en-US" sz="2400" dirty="0">
                <a:solidFill>
                  <a:schemeClr val="bg1"/>
                </a:solidFill>
              </a:rPr>
              <a:t>Trump has put pressure on RTX paying out dividends and issuing stock buybacks</a:t>
            </a:r>
          </a:p>
          <a:p>
            <a:pPr marL="342900" indent="-342900">
              <a:buFont typeface="Arial" panose="020B0604020202020204" pitchFamily="34" charset="0"/>
              <a:buChar char="•"/>
            </a:pPr>
            <a:r>
              <a:rPr lang="en-US" sz="2400" dirty="0">
                <a:solidFill>
                  <a:schemeClr val="bg1"/>
                </a:solidFill>
              </a:rPr>
              <a:t>Spain just signed $1.7B for four Patriot fire units -  December 2025</a:t>
            </a:r>
          </a:p>
          <a:p>
            <a:pPr marL="342900" indent="-342900">
              <a:buFont typeface="Arial" panose="020B0604020202020204" pitchFamily="34" charset="0"/>
              <a:buChar char="•"/>
            </a:pPr>
            <a:endParaRPr lang="en-US" sz="2400" dirty="0">
              <a:solidFill>
                <a:schemeClr val="bg1"/>
              </a:solidFill>
            </a:endParaRPr>
          </a:p>
          <a:p>
            <a:pPr marL="342900" indent="-342900">
              <a:buFont typeface="Arial" panose="020B0604020202020204" pitchFamily="34" charset="0"/>
              <a:buChar char="•"/>
            </a:pPr>
            <a:endParaRPr lang="en-US" sz="2400" dirty="0">
              <a:solidFill>
                <a:schemeClr val="bg1"/>
              </a:solidFill>
            </a:endParaRPr>
          </a:p>
          <a:p>
            <a:pPr marL="342900" indent="-342900">
              <a:buFont typeface="Arial" panose="020B0604020202020204" pitchFamily="34" charset="0"/>
              <a:buChar char="•"/>
            </a:pPr>
            <a:endParaRPr lang="en-US" sz="2400" dirty="0">
              <a:solidFill>
                <a:schemeClr val="bg1"/>
              </a:solidFill>
            </a:endParaRPr>
          </a:p>
        </p:txBody>
      </p:sp>
      <p:pic>
        <p:nvPicPr>
          <p:cNvPr id="11" name="Picture 10" descr="A screenshot of a phone&#10;&#10;AI-generated content may be incorrect.">
            <a:extLst>
              <a:ext uri="{FF2B5EF4-FFF2-40B4-BE49-F238E27FC236}">
                <a16:creationId xmlns:a16="http://schemas.microsoft.com/office/drawing/2014/main" id="{12CE3912-C15C-5560-9DBF-E5AB4FE3A8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27764" y="2677084"/>
            <a:ext cx="6176894" cy="6423075"/>
          </a:xfrm>
          <a:prstGeom prst="rect">
            <a:avLst/>
          </a:prstGeom>
        </p:spPr>
      </p:pic>
    </p:spTree>
    <p:extLst>
      <p:ext uri="{BB962C8B-B14F-4D97-AF65-F5344CB8AC3E}">
        <p14:creationId xmlns:p14="http://schemas.microsoft.com/office/powerpoint/2010/main" val="1439604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11CB4-9E8C-A1DE-8B12-1FDBFB869EC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12912CA-CB2A-A443-9C02-207E69ED06FD}"/>
              </a:ext>
            </a:extLst>
          </p:cNvPr>
          <p:cNvSpPr/>
          <p:nvPr/>
        </p:nvSpPr>
        <p:spPr>
          <a:xfrm>
            <a:off x="0" y="-6724"/>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228" t="-35818" r="-11439"/>
            </a:stretch>
          </a:blipFill>
        </p:spPr>
        <p:txBody>
          <a:bodyPr/>
          <a:lstStyle/>
          <a:p>
            <a:endParaRPr lang="en-US" dirty="0"/>
          </a:p>
        </p:txBody>
      </p:sp>
      <p:sp>
        <p:nvSpPr>
          <p:cNvPr id="13" name="TextBox 13">
            <a:extLst>
              <a:ext uri="{FF2B5EF4-FFF2-40B4-BE49-F238E27FC236}">
                <a16:creationId xmlns:a16="http://schemas.microsoft.com/office/drawing/2014/main" id="{A67CECC2-EDB8-A811-E376-66539A2CF88C}"/>
              </a:ext>
            </a:extLst>
          </p:cNvPr>
          <p:cNvSpPr txBox="1"/>
          <p:nvPr/>
        </p:nvSpPr>
        <p:spPr>
          <a:xfrm>
            <a:off x="1296346" y="441659"/>
            <a:ext cx="15695308" cy="1488407"/>
          </a:xfrm>
          <a:prstGeom prst="rect">
            <a:avLst/>
          </a:prstGeom>
        </p:spPr>
        <p:txBody>
          <a:bodyPr lIns="0" tIns="0" rIns="0" bIns="0" rtlCol="0" anchor="t">
            <a:spAutoFit/>
          </a:bodyPr>
          <a:lstStyle/>
          <a:p>
            <a:pPr marL="0" lvl="0" indent="0" algn="ctr">
              <a:lnSpc>
                <a:spcPts val="10907"/>
              </a:lnSpc>
            </a:pPr>
            <a:r>
              <a:rPr lang="en-US" sz="11856" b="1" spc="-770" dirty="0">
                <a:solidFill>
                  <a:srgbClr val="FFFFFF"/>
                </a:solidFill>
                <a:latin typeface="Atkinson Hyperlegible Bold"/>
                <a:ea typeface="Atkinson Hyperlegible Bold"/>
                <a:cs typeface="Atkinson Hyperlegible Bold"/>
                <a:sym typeface="Atkinson Hyperlegible Bold"/>
              </a:rPr>
              <a:t>Management Overview</a:t>
            </a:r>
          </a:p>
        </p:txBody>
      </p:sp>
      <p:pic>
        <p:nvPicPr>
          <p:cNvPr id="8" name="Picture 7" descr="A person in a suit and tie&#10;&#10;AI-generated content may be incorrect.">
            <a:extLst>
              <a:ext uri="{FF2B5EF4-FFF2-40B4-BE49-F238E27FC236}">
                <a16:creationId xmlns:a16="http://schemas.microsoft.com/office/drawing/2014/main" id="{12D75DFD-29BD-368D-4C01-621AD9F899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66723" y="2224810"/>
            <a:ext cx="4314825" cy="5153819"/>
          </a:xfrm>
          <a:prstGeom prst="rect">
            <a:avLst/>
          </a:prstGeom>
        </p:spPr>
      </p:pic>
      <p:sp>
        <p:nvSpPr>
          <p:cNvPr id="10" name="TextBox 9">
            <a:extLst>
              <a:ext uri="{FF2B5EF4-FFF2-40B4-BE49-F238E27FC236}">
                <a16:creationId xmlns:a16="http://schemas.microsoft.com/office/drawing/2014/main" id="{C0B8891C-5983-D5A9-8D05-1ECE8F228569}"/>
              </a:ext>
            </a:extLst>
          </p:cNvPr>
          <p:cNvSpPr txBox="1"/>
          <p:nvPr/>
        </p:nvSpPr>
        <p:spPr>
          <a:xfrm>
            <a:off x="12676829" y="7901819"/>
            <a:ext cx="4314825" cy="1200329"/>
          </a:xfrm>
          <a:prstGeom prst="rect">
            <a:avLst/>
          </a:prstGeom>
          <a:noFill/>
        </p:spPr>
        <p:txBody>
          <a:bodyPr wrap="square" rtlCol="0">
            <a:spAutoFit/>
          </a:bodyPr>
          <a:lstStyle/>
          <a:p>
            <a:r>
              <a:rPr lang="en-US" sz="2400" dirty="0">
                <a:solidFill>
                  <a:schemeClr val="bg1"/>
                </a:solidFill>
              </a:rPr>
              <a:t>Christopher Calio – CEO</a:t>
            </a:r>
          </a:p>
          <a:p>
            <a:pPr marL="285750" indent="-285750">
              <a:buFont typeface="Arial" panose="020B0604020202020204" pitchFamily="34" charset="0"/>
              <a:buChar char="•"/>
            </a:pPr>
            <a:r>
              <a:rPr lang="en-US" sz="2400" dirty="0">
                <a:solidFill>
                  <a:schemeClr val="bg1"/>
                </a:solidFill>
              </a:rPr>
              <a:t>Been with UTC since 2005</a:t>
            </a:r>
          </a:p>
          <a:p>
            <a:pPr marL="285750" indent="-285750">
              <a:buFont typeface="Arial" panose="020B0604020202020204" pitchFamily="34" charset="0"/>
              <a:buChar char="•"/>
            </a:pPr>
            <a:r>
              <a:rPr lang="en-US" sz="2400" dirty="0">
                <a:solidFill>
                  <a:schemeClr val="bg1"/>
                </a:solidFill>
              </a:rPr>
              <a:t>Former COO</a:t>
            </a:r>
          </a:p>
        </p:txBody>
      </p:sp>
      <p:pic>
        <p:nvPicPr>
          <p:cNvPr id="12" name="Picture 11" descr="A person in a suit and tie&#10;&#10;AI-generated content may be incorrect.">
            <a:extLst>
              <a:ext uri="{FF2B5EF4-FFF2-40B4-BE49-F238E27FC236}">
                <a16:creationId xmlns:a16="http://schemas.microsoft.com/office/drawing/2014/main" id="{771C438D-87F0-9CAE-1C4D-32DB5BBEBF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4393" y="2171700"/>
            <a:ext cx="4280793" cy="5145456"/>
          </a:xfrm>
          <a:prstGeom prst="rect">
            <a:avLst/>
          </a:prstGeom>
        </p:spPr>
      </p:pic>
      <p:sp>
        <p:nvSpPr>
          <p:cNvPr id="14" name="TextBox 13">
            <a:extLst>
              <a:ext uri="{FF2B5EF4-FFF2-40B4-BE49-F238E27FC236}">
                <a16:creationId xmlns:a16="http://schemas.microsoft.com/office/drawing/2014/main" id="{14DCA744-5EEA-199C-693E-8A9CB072C70E}"/>
              </a:ext>
            </a:extLst>
          </p:cNvPr>
          <p:cNvSpPr txBox="1"/>
          <p:nvPr/>
        </p:nvSpPr>
        <p:spPr>
          <a:xfrm>
            <a:off x="1264750" y="7587848"/>
            <a:ext cx="4286368" cy="2585323"/>
          </a:xfrm>
          <a:prstGeom prst="rect">
            <a:avLst/>
          </a:prstGeom>
          <a:noFill/>
        </p:spPr>
        <p:txBody>
          <a:bodyPr wrap="square" rtlCol="0">
            <a:spAutoFit/>
          </a:bodyPr>
          <a:lstStyle/>
          <a:p>
            <a:r>
              <a:rPr lang="en-US" sz="2400" dirty="0">
                <a:solidFill>
                  <a:schemeClr val="bg1"/>
                </a:solidFill>
              </a:rPr>
              <a:t>Phil Jasper – President of Raytheon sector</a:t>
            </a:r>
          </a:p>
          <a:p>
            <a:pPr marL="285750" indent="-285750">
              <a:buFont typeface="Arial" panose="020B0604020202020204" pitchFamily="34" charset="0"/>
              <a:buChar char="•"/>
            </a:pPr>
            <a:r>
              <a:rPr lang="en-US" sz="2400" dirty="0">
                <a:solidFill>
                  <a:schemeClr val="bg1"/>
                </a:solidFill>
              </a:rPr>
              <a:t>Previously President of Collins Aerospace</a:t>
            </a:r>
          </a:p>
          <a:p>
            <a:pPr marL="285750" indent="-285750">
              <a:buFont typeface="Arial" panose="020B0604020202020204" pitchFamily="34" charset="0"/>
              <a:buChar char="•"/>
            </a:pPr>
            <a:r>
              <a:rPr lang="en-US" sz="2400" dirty="0">
                <a:solidFill>
                  <a:schemeClr val="bg1"/>
                </a:solidFill>
              </a:rPr>
              <a:t>33 years of industry experience</a:t>
            </a:r>
          </a:p>
          <a:p>
            <a:pPr marL="285750" indent="-285750">
              <a:buFont typeface="Arial" panose="020B0604020202020204" pitchFamily="34" charset="0"/>
              <a:buChar char="•"/>
            </a:pPr>
            <a:endParaRPr lang="en-US" dirty="0"/>
          </a:p>
        </p:txBody>
      </p:sp>
      <p:pic>
        <p:nvPicPr>
          <p:cNvPr id="16" name="Picture 15" descr="A person in a suit and tie&#10;&#10;AI-generated content may be incorrect.">
            <a:extLst>
              <a:ext uri="{FF2B5EF4-FFF2-40B4-BE49-F238E27FC236}">
                <a16:creationId xmlns:a16="http://schemas.microsoft.com/office/drawing/2014/main" id="{C571FD42-1E69-E1D9-D0EA-5398A0D982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84635" y="2171700"/>
            <a:ext cx="4286367" cy="5206929"/>
          </a:xfrm>
          <a:prstGeom prst="rect">
            <a:avLst/>
          </a:prstGeom>
        </p:spPr>
      </p:pic>
      <p:sp>
        <p:nvSpPr>
          <p:cNvPr id="17" name="TextBox 16">
            <a:extLst>
              <a:ext uri="{FF2B5EF4-FFF2-40B4-BE49-F238E27FC236}">
                <a16:creationId xmlns:a16="http://schemas.microsoft.com/office/drawing/2014/main" id="{52F27BF9-D35E-BA76-CD19-38643A01BEE9}"/>
              </a:ext>
            </a:extLst>
          </p:cNvPr>
          <p:cNvSpPr txBox="1"/>
          <p:nvPr/>
        </p:nvSpPr>
        <p:spPr>
          <a:xfrm>
            <a:off x="6884635" y="7901819"/>
            <a:ext cx="4286367" cy="1569660"/>
          </a:xfrm>
          <a:prstGeom prst="rect">
            <a:avLst/>
          </a:prstGeom>
          <a:noFill/>
        </p:spPr>
        <p:txBody>
          <a:bodyPr wrap="square" rtlCol="0">
            <a:spAutoFit/>
          </a:bodyPr>
          <a:lstStyle/>
          <a:p>
            <a:r>
              <a:rPr lang="en-US" sz="2400" dirty="0">
                <a:solidFill>
                  <a:schemeClr val="bg1"/>
                </a:solidFill>
              </a:rPr>
              <a:t>Troy Brunk – President of Collins Aerospace</a:t>
            </a:r>
          </a:p>
          <a:p>
            <a:pPr marL="285750" indent="-285750">
              <a:buFont typeface="Arial" panose="020B0604020202020204" pitchFamily="34" charset="0"/>
              <a:buChar char="•"/>
            </a:pPr>
            <a:r>
              <a:rPr lang="en-US" sz="2400" dirty="0">
                <a:solidFill>
                  <a:schemeClr val="bg1"/>
                </a:solidFill>
              </a:rPr>
              <a:t>Has military background</a:t>
            </a:r>
          </a:p>
          <a:p>
            <a:pPr marL="285750" indent="-285750">
              <a:buFont typeface="Arial" panose="020B0604020202020204" pitchFamily="34" charset="0"/>
              <a:buChar char="•"/>
            </a:pPr>
            <a:r>
              <a:rPr lang="en-US" sz="2400" dirty="0">
                <a:solidFill>
                  <a:schemeClr val="bg1"/>
                </a:solidFill>
              </a:rPr>
              <a:t>30 years of experience</a:t>
            </a:r>
          </a:p>
        </p:txBody>
      </p:sp>
    </p:spTree>
    <p:extLst>
      <p:ext uri="{BB962C8B-B14F-4D97-AF65-F5344CB8AC3E}">
        <p14:creationId xmlns:p14="http://schemas.microsoft.com/office/powerpoint/2010/main" val="1669752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228" t="-35818" r="-11439"/>
            </a:stretch>
          </a:blipFill>
        </p:spPr>
        <p:txBody>
          <a:bodyPr/>
          <a:lstStyle/>
          <a:p>
            <a:endParaRPr lang="en-US" dirty="0"/>
          </a:p>
        </p:txBody>
      </p:sp>
      <p:sp>
        <p:nvSpPr>
          <p:cNvPr id="6" name="TextBox 6"/>
          <p:cNvSpPr txBox="1"/>
          <p:nvPr/>
        </p:nvSpPr>
        <p:spPr>
          <a:xfrm>
            <a:off x="1921912" y="633304"/>
            <a:ext cx="14444177" cy="1488407"/>
          </a:xfrm>
          <a:prstGeom prst="rect">
            <a:avLst/>
          </a:prstGeom>
        </p:spPr>
        <p:txBody>
          <a:bodyPr lIns="0" tIns="0" rIns="0" bIns="0" rtlCol="0" anchor="t">
            <a:spAutoFit/>
          </a:bodyPr>
          <a:lstStyle/>
          <a:p>
            <a:pPr marL="0" lvl="0" indent="0" algn="ctr">
              <a:lnSpc>
                <a:spcPts val="10907"/>
              </a:lnSpc>
            </a:pPr>
            <a:r>
              <a:rPr lang="en-US" sz="11856" b="1" spc="-770">
                <a:solidFill>
                  <a:srgbClr val="FFFFFF"/>
                </a:solidFill>
                <a:latin typeface="Atkinson Hyperlegible Bold"/>
                <a:ea typeface="Atkinson Hyperlegible Bold"/>
                <a:cs typeface="Atkinson Hyperlegible Bold"/>
                <a:sym typeface="Atkinson Hyperlegible Bold"/>
              </a:rPr>
              <a:t>Porter’s Five Forces</a:t>
            </a:r>
          </a:p>
        </p:txBody>
      </p:sp>
      <p:grpSp>
        <p:nvGrpSpPr>
          <p:cNvPr id="7" name="Group 7"/>
          <p:cNvGrpSpPr/>
          <p:nvPr/>
        </p:nvGrpSpPr>
        <p:grpSpPr>
          <a:xfrm>
            <a:off x="1108114" y="5624324"/>
            <a:ext cx="4308088" cy="3657976"/>
            <a:chOff x="0" y="0"/>
            <a:chExt cx="546981" cy="464438"/>
          </a:xfrm>
        </p:grpSpPr>
        <p:sp>
          <p:nvSpPr>
            <p:cNvPr id="8" name="Freeform 8"/>
            <p:cNvSpPr/>
            <p:nvPr/>
          </p:nvSpPr>
          <p:spPr>
            <a:xfrm>
              <a:off x="0" y="0"/>
              <a:ext cx="546981" cy="464438"/>
            </a:xfrm>
            <a:custGeom>
              <a:avLst/>
              <a:gdLst/>
              <a:ahLst/>
              <a:cxnLst/>
              <a:rect l="l" t="t" r="r" b="b"/>
              <a:pathLst>
                <a:path w="546981" h="464438">
                  <a:moveTo>
                    <a:pt x="53912" y="0"/>
                  </a:moveTo>
                  <a:lnTo>
                    <a:pt x="493069" y="0"/>
                  </a:lnTo>
                  <a:cubicBezTo>
                    <a:pt x="522843" y="0"/>
                    <a:pt x="546981" y="24137"/>
                    <a:pt x="546981" y="53912"/>
                  </a:cubicBezTo>
                  <a:lnTo>
                    <a:pt x="546981" y="410526"/>
                  </a:lnTo>
                  <a:cubicBezTo>
                    <a:pt x="546981" y="424825"/>
                    <a:pt x="541301" y="438537"/>
                    <a:pt x="531190" y="448648"/>
                  </a:cubicBezTo>
                  <a:cubicBezTo>
                    <a:pt x="521080" y="458758"/>
                    <a:pt x="507367" y="464438"/>
                    <a:pt x="493069" y="464438"/>
                  </a:cubicBezTo>
                  <a:lnTo>
                    <a:pt x="53912" y="464438"/>
                  </a:lnTo>
                  <a:cubicBezTo>
                    <a:pt x="39614" y="464438"/>
                    <a:pt x="25901" y="458758"/>
                    <a:pt x="15790" y="448648"/>
                  </a:cubicBezTo>
                  <a:cubicBezTo>
                    <a:pt x="5680" y="438537"/>
                    <a:pt x="0" y="424825"/>
                    <a:pt x="0" y="410526"/>
                  </a:cubicBezTo>
                  <a:lnTo>
                    <a:pt x="0" y="53912"/>
                  </a:lnTo>
                  <a:cubicBezTo>
                    <a:pt x="0" y="39614"/>
                    <a:pt x="5680" y="25901"/>
                    <a:pt x="15790" y="15790"/>
                  </a:cubicBezTo>
                  <a:cubicBezTo>
                    <a:pt x="25901" y="5680"/>
                    <a:pt x="39614" y="0"/>
                    <a:pt x="53912" y="0"/>
                  </a:cubicBezTo>
                  <a:close/>
                </a:path>
              </a:pathLst>
            </a:custGeom>
            <a:gradFill rotWithShape="1">
              <a:gsLst>
                <a:gs pos="0">
                  <a:srgbClr val="FFFFFF">
                    <a:alpha val="10000"/>
                  </a:srgbClr>
                </a:gs>
                <a:gs pos="50000">
                  <a:srgbClr val="FFFFFF">
                    <a:alpha val="0"/>
                  </a:srgbClr>
                </a:gs>
                <a:gs pos="100000">
                  <a:srgbClr val="FFFFFF">
                    <a:alpha val="10500"/>
                  </a:srgbClr>
                </a:gs>
              </a:gsLst>
              <a:lin ang="2700000"/>
            </a:gradFill>
            <a:ln w="19050" cap="rnd">
              <a:gradFill>
                <a:gsLst>
                  <a:gs pos="0">
                    <a:srgbClr val="FFFFFF">
                      <a:alpha val="50000"/>
                    </a:srgbClr>
                  </a:gs>
                  <a:gs pos="50000">
                    <a:srgbClr val="FFFFFF">
                      <a:alpha val="0"/>
                    </a:srgbClr>
                  </a:gs>
                  <a:gs pos="100000">
                    <a:srgbClr val="FFFFFF">
                      <a:alpha val="50000"/>
                    </a:srgbClr>
                  </a:gs>
                </a:gsLst>
                <a:lin ang="0"/>
              </a:gradFill>
              <a:prstDash val="solid"/>
              <a:round/>
            </a:ln>
          </p:spPr>
          <p:txBody>
            <a:bodyPr/>
            <a:lstStyle/>
            <a:p>
              <a:endParaRPr lang="en-US"/>
            </a:p>
          </p:txBody>
        </p:sp>
        <p:sp>
          <p:nvSpPr>
            <p:cNvPr id="9" name="TextBox 9"/>
            <p:cNvSpPr txBox="1"/>
            <p:nvPr/>
          </p:nvSpPr>
          <p:spPr>
            <a:xfrm>
              <a:off x="0" y="47625"/>
              <a:ext cx="546981" cy="416813"/>
            </a:xfrm>
            <a:prstGeom prst="rect">
              <a:avLst/>
            </a:prstGeom>
          </p:spPr>
          <p:txBody>
            <a:bodyPr lIns="50800" tIns="50800" rIns="50800" bIns="50800" rtlCol="0" anchor="ctr"/>
            <a:lstStyle/>
            <a:p>
              <a:pPr algn="ctr">
                <a:lnSpc>
                  <a:spcPts val="1800"/>
                </a:lnSpc>
              </a:pPr>
              <a:endParaRPr/>
            </a:p>
          </p:txBody>
        </p:sp>
      </p:grpSp>
      <p:grpSp>
        <p:nvGrpSpPr>
          <p:cNvPr id="10" name="Group 10"/>
          <p:cNvGrpSpPr/>
          <p:nvPr/>
        </p:nvGrpSpPr>
        <p:grpSpPr>
          <a:xfrm>
            <a:off x="6989956" y="5600324"/>
            <a:ext cx="4308088" cy="3657976"/>
            <a:chOff x="0" y="0"/>
            <a:chExt cx="546981" cy="464438"/>
          </a:xfrm>
        </p:grpSpPr>
        <p:sp>
          <p:nvSpPr>
            <p:cNvPr id="11" name="Freeform 11"/>
            <p:cNvSpPr/>
            <p:nvPr/>
          </p:nvSpPr>
          <p:spPr>
            <a:xfrm>
              <a:off x="0" y="0"/>
              <a:ext cx="546981" cy="464438"/>
            </a:xfrm>
            <a:custGeom>
              <a:avLst/>
              <a:gdLst/>
              <a:ahLst/>
              <a:cxnLst/>
              <a:rect l="l" t="t" r="r" b="b"/>
              <a:pathLst>
                <a:path w="546981" h="464438">
                  <a:moveTo>
                    <a:pt x="53912" y="0"/>
                  </a:moveTo>
                  <a:lnTo>
                    <a:pt x="493069" y="0"/>
                  </a:lnTo>
                  <a:cubicBezTo>
                    <a:pt x="522843" y="0"/>
                    <a:pt x="546981" y="24137"/>
                    <a:pt x="546981" y="53912"/>
                  </a:cubicBezTo>
                  <a:lnTo>
                    <a:pt x="546981" y="410526"/>
                  </a:lnTo>
                  <a:cubicBezTo>
                    <a:pt x="546981" y="424825"/>
                    <a:pt x="541301" y="438537"/>
                    <a:pt x="531190" y="448648"/>
                  </a:cubicBezTo>
                  <a:cubicBezTo>
                    <a:pt x="521080" y="458758"/>
                    <a:pt x="507367" y="464438"/>
                    <a:pt x="493069" y="464438"/>
                  </a:cubicBezTo>
                  <a:lnTo>
                    <a:pt x="53912" y="464438"/>
                  </a:lnTo>
                  <a:cubicBezTo>
                    <a:pt x="39614" y="464438"/>
                    <a:pt x="25901" y="458758"/>
                    <a:pt x="15790" y="448648"/>
                  </a:cubicBezTo>
                  <a:cubicBezTo>
                    <a:pt x="5680" y="438537"/>
                    <a:pt x="0" y="424825"/>
                    <a:pt x="0" y="410526"/>
                  </a:cubicBezTo>
                  <a:lnTo>
                    <a:pt x="0" y="53912"/>
                  </a:lnTo>
                  <a:cubicBezTo>
                    <a:pt x="0" y="39614"/>
                    <a:pt x="5680" y="25901"/>
                    <a:pt x="15790" y="15790"/>
                  </a:cubicBezTo>
                  <a:cubicBezTo>
                    <a:pt x="25901" y="5680"/>
                    <a:pt x="39614" y="0"/>
                    <a:pt x="53912" y="0"/>
                  </a:cubicBezTo>
                  <a:close/>
                </a:path>
              </a:pathLst>
            </a:custGeom>
            <a:gradFill rotWithShape="1">
              <a:gsLst>
                <a:gs pos="0">
                  <a:srgbClr val="FFFFFF">
                    <a:alpha val="10000"/>
                  </a:srgbClr>
                </a:gs>
                <a:gs pos="50000">
                  <a:srgbClr val="FFFFFF">
                    <a:alpha val="0"/>
                  </a:srgbClr>
                </a:gs>
                <a:gs pos="100000">
                  <a:srgbClr val="FFFFFF">
                    <a:alpha val="10500"/>
                  </a:srgbClr>
                </a:gs>
              </a:gsLst>
              <a:lin ang="2700000"/>
            </a:gradFill>
            <a:ln w="19050" cap="rnd">
              <a:gradFill>
                <a:gsLst>
                  <a:gs pos="0">
                    <a:srgbClr val="FFFFFF">
                      <a:alpha val="50000"/>
                    </a:srgbClr>
                  </a:gs>
                  <a:gs pos="50000">
                    <a:srgbClr val="FFFFFF">
                      <a:alpha val="0"/>
                    </a:srgbClr>
                  </a:gs>
                  <a:gs pos="100000">
                    <a:srgbClr val="FFFFFF">
                      <a:alpha val="50000"/>
                    </a:srgbClr>
                  </a:gs>
                </a:gsLst>
                <a:lin ang="0"/>
              </a:gradFill>
              <a:prstDash val="solid"/>
              <a:round/>
            </a:ln>
          </p:spPr>
          <p:txBody>
            <a:bodyPr/>
            <a:lstStyle/>
            <a:p>
              <a:endParaRPr lang="en-US" dirty="0"/>
            </a:p>
          </p:txBody>
        </p:sp>
        <p:sp>
          <p:nvSpPr>
            <p:cNvPr id="12" name="TextBox 12"/>
            <p:cNvSpPr txBox="1"/>
            <p:nvPr/>
          </p:nvSpPr>
          <p:spPr>
            <a:xfrm>
              <a:off x="0" y="47625"/>
              <a:ext cx="546981" cy="416813"/>
            </a:xfrm>
            <a:prstGeom prst="rect">
              <a:avLst/>
            </a:prstGeom>
          </p:spPr>
          <p:txBody>
            <a:bodyPr lIns="50800" tIns="50800" rIns="50800" bIns="50800" rtlCol="0" anchor="ctr"/>
            <a:lstStyle/>
            <a:p>
              <a:pPr algn="ctr">
                <a:lnSpc>
                  <a:spcPts val="1800"/>
                </a:lnSpc>
              </a:pPr>
              <a:endParaRPr/>
            </a:p>
          </p:txBody>
        </p:sp>
      </p:grpSp>
      <p:grpSp>
        <p:nvGrpSpPr>
          <p:cNvPr id="13" name="Group 13"/>
          <p:cNvGrpSpPr/>
          <p:nvPr/>
        </p:nvGrpSpPr>
        <p:grpSpPr>
          <a:xfrm>
            <a:off x="12783944" y="5600324"/>
            <a:ext cx="4308088" cy="3657976"/>
            <a:chOff x="0" y="0"/>
            <a:chExt cx="546981" cy="464438"/>
          </a:xfrm>
        </p:grpSpPr>
        <p:sp>
          <p:nvSpPr>
            <p:cNvPr id="14" name="Freeform 14"/>
            <p:cNvSpPr/>
            <p:nvPr/>
          </p:nvSpPr>
          <p:spPr>
            <a:xfrm>
              <a:off x="0" y="0"/>
              <a:ext cx="546981" cy="464438"/>
            </a:xfrm>
            <a:custGeom>
              <a:avLst/>
              <a:gdLst/>
              <a:ahLst/>
              <a:cxnLst/>
              <a:rect l="l" t="t" r="r" b="b"/>
              <a:pathLst>
                <a:path w="546981" h="464438">
                  <a:moveTo>
                    <a:pt x="53912" y="0"/>
                  </a:moveTo>
                  <a:lnTo>
                    <a:pt x="493069" y="0"/>
                  </a:lnTo>
                  <a:cubicBezTo>
                    <a:pt x="522843" y="0"/>
                    <a:pt x="546981" y="24137"/>
                    <a:pt x="546981" y="53912"/>
                  </a:cubicBezTo>
                  <a:lnTo>
                    <a:pt x="546981" y="410526"/>
                  </a:lnTo>
                  <a:cubicBezTo>
                    <a:pt x="546981" y="424825"/>
                    <a:pt x="541301" y="438537"/>
                    <a:pt x="531190" y="448648"/>
                  </a:cubicBezTo>
                  <a:cubicBezTo>
                    <a:pt x="521080" y="458758"/>
                    <a:pt x="507367" y="464438"/>
                    <a:pt x="493069" y="464438"/>
                  </a:cubicBezTo>
                  <a:lnTo>
                    <a:pt x="53912" y="464438"/>
                  </a:lnTo>
                  <a:cubicBezTo>
                    <a:pt x="39614" y="464438"/>
                    <a:pt x="25901" y="458758"/>
                    <a:pt x="15790" y="448648"/>
                  </a:cubicBezTo>
                  <a:cubicBezTo>
                    <a:pt x="5680" y="438537"/>
                    <a:pt x="0" y="424825"/>
                    <a:pt x="0" y="410526"/>
                  </a:cubicBezTo>
                  <a:lnTo>
                    <a:pt x="0" y="53912"/>
                  </a:lnTo>
                  <a:cubicBezTo>
                    <a:pt x="0" y="39614"/>
                    <a:pt x="5680" y="25901"/>
                    <a:pt x="15790" y="15790"/>
                  </a:cubicBezTo>
                  <a:cubicBezTo>
                    <a:pt x="25901" y="5680"/>
                    <a:pt x="39614" y="0"/>
                    <a:pt x="53912" y="0"/>
                  </a:cubicBezTo>
                  <a:close/>
                </a:path>
              </a:pathLst>
            </a:custGeom>
            <a:gradFill rotWithShape="1">
              <a:gsLst>
                <a:gs pos="0">
                  <a:srgbClr val="FFFFFF">
                    <a:alpha val="10000"/>
                  </a:srgbClr>
                </a:gs>
                <a:gs pos="50000">
                  <a:srgbClr val="FFFFFF">
                    <a:alpha val="0"/>
                  </a:srgbClr>
                </a:gs>
                <a:gs pos="100000">
                  <a:srgbClr val="FFFFFF">
                    <a:alpha val="10500"/>
                  </a:srgbClr>
                </a:gs>
              </a:gsLst>
              <a:lin ang="2700000"/>
            </a:gradFill>
            <a:ln w="19050" cap="rnd">
              <a:gradFill>
                <a:gsLst>
                  <a:gs pos="0">
                    <a:srgbClr val="FFFFFF">
                      <a:alpha val="50000"/>
                    </a:srgbClr>
                  </a:gs>
                  <a:gs pos="50000">
                    <a:srgbClr val="FFFFFF">
                      <a:alpha val="0"/>
                    </a:srgbClr>
                  </a:gs>
                  <a:gs pos="100000">
                    <a:srgbClr val="FFFFFF">
                      <a:alpha val="50000"/>
                    </a:srgbClr>
                  </a:gs>
                </a:gsLst>
                <a:lin ang="0"/>
              </a:gradFill>
              <a:prstDash val="solid"/>
              <a:round/>
            </a:ln>
          </p:spPr>
          <p:txBody>
            <a:bodyPr/>
            <a:lstStyle/>
            <a:p>
              <a:endParaRPr lang="en-US" dirty="0"/>
            </a:p>
          </p:txBody>
        </p:sp>
        <p:sp>
          <p:nvSpPr>
            <p:cNvPr id="15" name="TextBox 15"/>
            <p:cNvSpPr txBox="1"/>
            <p:nvPr/>
          </p:nvSpPr>
          <p:spPr>
            <a:xfrm>
              <a:off x="0" y="47625"/>
              <a:ext cx="546981" cy="416813"/>
            </a:xfrm>
            <a:prstGeom prst="rect">
              <a:avLst/>
            </a:prstGeom>
          </p:spPr>
          <p:txBody>
            <a:bodyPr lIns="50800" tIns="50800" rIns="50800" bIns="50800" rtlCol="0" anchor="ctr"/>
            <a:lstStyle/>
            <a:p>
              <a:pPr algn="ctr">
                <a:lnSpc>
                  <a:spcPts val="1800"/>
                </a:lnSpc>
              </a:pPr>
              <a:endParaRPr/>
            </a:p>
          </p:txBody>
        </p:sp>
      </p:grpSp>
      <p:sp>
        <p:nvSpPr>
          <p:cNvPr id="16" name="TextBox 16"/>
          <p:cNvSpPr txBox="1"/>
          <p:nvPr/>
        </p:nvSpPr>
        <p:spPr>
          <a:xfrm>
            <a:off x="1655924" y="7325072"/>
            <a:ext cx="3396858" cy="256480"/>
          </a:xfrm>
          <a:prstGeom prst="rect">
            <a:avLst/>
          </a:prstGeom>
        </p:spPr>
        <p:txBody>
          <a:bodyPr lIns="0" tIns="0" rIns="0" bIns="0" rtlCol="0" anchor="t">
            <a:spAutoFit/>
          </a:bodyPr>
          <a:lstStyle/>
          <a:p>
            <a:pPr marL="0" lvl="0" indent="0" algn="l">
              <a:lnSpc>
                <a:spcPts val="2040"/>
              </a:lnSpc>
            </a:pPr>
            <a:endParaRPr lang="en-US" sz="1700" u="none" strike="noStrike" dirty="0">
              <a:solidFill>
                <a:srgbClr val="FFFFFF"/>
              </a:solidFill>
              <a:latin typeface="Atkinson Hyperlegible"/>
              <a:ea typeface="Atkinson Hyperlegible"/>
              <a:cs typeface="Atkinson Hyperlegible"/>
              <a:sym typeface="Atkinson Hyperlegible"/>
            </a:endParaRPr>
          </a:p>
        </p:txBody>
      </p:sp>
      <p:sp>
        <p:nvSpPr>
          <p:cNvPr id="19" name="TextBox 19"/>
          <p:cNvSpPr txBox="1"/>
          <p:nvPr/>
        </p:nvSpPr>
        <p:spPr>
          <a:xfrm>
            <a:off x="1655924" y="5763525"/>
            <a:ext cx="3396858" cy="1269578"/>
          </a:xfrm>
          <a:prstGeom prst="rect">
            <a:avLst/>
          </a:prstGeom>
        </p:spPr>
        <p:txBody>
          <a:bodyPr lIns="0" tIns="0" rIns="0" bIns="0" rtlCol="0" anchor="t">
            <a:spAutoFit/>
          </a:bodyPr>
          <a:lstStyle/>
          <a:p>
            <a:pPr algn="l">
              <a:lnSpc>
                <a:spcPts val="3298"/>
              </a:lnSpc>
            </a:pPr>
            <a:r>
              <a:rPr lang="en-US" sz="2400" dirty="0">
                <a:solidFill>
                  <a:srgbClr val="FFFFFF"/>
                </a:solidFill>
                <a:latin typeface="Atkinson Hyperlegible"/>
                <a:ea typeface="Atkinson Hyperlegible"/>
                <a:cs typeface="Atkinson Hyperlegible"/>
                <a:sym typeface="Atkinson Hyperlegible"/>
              </a:rPr>
              <a:t>Threats of Substitute Products:</a:t>
            </a:r>
          </a:p>
          <a:p>
            <a:pPr algn="l">
              <a:lnSpc>
                <a:spcPts val="3298"/>
              </a:lnSpc>
            </a:pPr>
            <a:r>
              <a:rPr lang="en-US" sz="2400" dirty="0">
                <a:solidFill>
                  <a:srgbClr val="00B050"/>
                </a:solidFill>
                <a:latin typeface="Atkinson Hyperlegible"/>
                <a:ea typeface="Atkinson Hyperlegible"/>
                <a:cs typeface="Atkinson Hyperlegible"/>
                <a:sym typeface="Atkinson Hyperlegible"/>
              </a:rPr>
              <a:t>Low</a:t>
            </a:r>
            <a:r>
              <a:rPr lang="en-US" sz="2400" dirty="0">
                <a:solidFill>
                  <a:srgbClr val="FFFFFF"/>
                </a:solidFill>
                <a:latin typeface="Atkinson Hyperlegible"/>
                <a:ea typeface="Atkinson Hyperlegible"/>
                <a:cs typeface="Atkinson Hyperlegible"/>
                <a:sym typeface="Atkinson Hyperlegible"/>
              </a:rPr>
              <a:t> to </a:t>
            </a:r>
            <a:r>
              <a:rPr lang="en-US" sz="2400" dirty="0">
                <a:solidFill>
                  <a:srgbClr val="FFFF00"/>
                </a:solidFill>
                <a:latin typeface="Atkinson Hyperlegible"/>
                <a:ea typeface="Atkinson Hyperlegible"/>
                <a:cs typeface="Atkinson Hyperlegible"/>
                <a:sym typeface="Atkinson Hyperlegible"/>
              </a:rPr>
              <a:t>Moderate</a:t>
            </a:r>
          </a:p>
        </p:txBody>
      </p:sp>
      <p:sp>
        <p:nvSpPr>
          <p:cNvPr id="20" name="TextBox 20"/>
          <p:cNvSpPr txBox="1"/>
          <p:nvPr/>
        </p:nvSpPr>
        <p:spPr>
          <a:xfrm>
            <a:off x="7483918" y="5919521"/>
            <a:ext cx="3396858" cy="1434432"/>
          </a:xfrm>
          <a:prstGeom prst="rect">
            <a:avLst/>
          </a:prstGeom>
        </p:spPr>
        <p:txBody>
          <a:bodyPr lIns="0" tIns="0" rIns="0" bIns="0" rtlCol="0" anchor="t">
            <a:spAutoFit/>
          </a:bodyPr>
          <a:lstStyle/>
          <a:p>
            <a:pPr algn="l">
              <a:lnSpc>
                <a:spcPts val="3694"/>
              </a:lnSpc>
            </a:pPr>
            <a:r>
              <a:rPr lang="en-US" sz="3600" dirty="0">
                <a:solidFill>
                  <a:srgbClr val="FFFFFF"/>
                </a:solidFill>
                <a:latin typeface="Atkinson Hyperlegible"/>
                <a:ea typeface="Atkinson Hyperlegible"/>
                <a:cs typeface="Atkinson Hyperlegible"/>
                <a:sym typeface="Atkinson Hyperlegible"/>
              </a:rPr>
              <a:t>Bargaining Power of Buyers: </a:t>
            </a:r>
            <a:r>
              <a:rPr lang="en-US" sz="3600" dirty="0">
                <a:solidFill>
                  <a:srgbClr val="FFFF00"/>
                </a:solidFill>
                <a:latin typeface="Atkinson Hyperlegible"/>
                <a:ea typeface="Atkinson Hyperlegible"/>
                <a:cs typeface="Atkinson Hyperlegible"/>
                <a:sym typeface="Atkinson Hyperlegible"/>
              </a:rPr>
              <a:t>Moderate</a:t>
            </a:r>
          </a:p>
        </p:txBody>
      </p:sp>
      <p:grpSp>
        <p:nvGrpSpPr>
          <p:cNvPr id="21" name="Group 21"/>
          <p:cNvGrpSpPr/>
          <p:nvPr/>
        </p:nvGrpSpPr>
        <p:grpSpPr>
          <a:xfrm>
            <a:off x="3784624" y="1866149"/>
            <a:ext cx="4308088" cy="3657976"/>
            <a:chOff x="0" y="0"/>
            <a:chExt cx="546981" cy="464438"/>
          </a:xfrm>
        </p:grpSpPr>
        <p:sp>
          <p:nvSpPr>
            <p:cNvPr id="22" name="Freeform 22"/>
            <p:cNvSpPr/>
            <p:nvPr/>
          </p:nvSpPr>
          <p:spPr>
            <a:xfrm>
              <a:off x="0" y="0"/>
              <a:ext cx="546981" cy="464438"/>
            </a:xfrm>
            <a:custGeom>
              <a:avLst/>
              <a:gdLst/>
              <a:ahLst/>
              <a:cxnLst/>
              <a:rect l="l" t="t" r="r" b="b"/>
              <a:pathLst>
                <a:path w="546981" h="464438">
                  <a:moveTo>
                    <a:pt x="53912" y="0"/>
                  </a:moveTo>
                  <a:lnTo>
                    <a:pt x="493069" y="0"/>
                  </a:lnTo>
                  <a:cubicBezTo>
                    <a:pt x="522843" y="0"/>
                    <a:pt x="546981" y="24137"/>
                    <a:pt x="546981" y="53912"/>
                  </a:cubicBezTo>
                  <a:lnTo>
                    <a:pt x="546981" y="410526"/>
                  </a:lnTo>
                  <a:cubicBezTo>
                    <a:pt x="546981" y="424825"/>
                    <a:pt x="541301" y="438537"/>
                    <a:pt x="531190" y="448648"/>
                  </a:cubicBezTo>
                  <a:cubicBezTo>
                    <a:pt x="521080" y="458758"/>
                    <a:pt x="507367" y="464438"/>
                    <a:pt x="493069" y="464438"/>
                  </a:cubicBezTo>
                  <a:lnTo>
                    <a:pt x="53912" y="464438"/>
                  </a:lnTo>
                  <a:cubicBezTo>
                    <a:pt x="39614" y="464438"/>
                    <a:pt x="25901" y="458758"/>
                    <a:pt x="15790" y="448648"/>
                  </a:cubicBezTo>
                  <a:cubicBezTo>
                    <a:pt x="5680" y="438537"/>
                    <a:pt x="0" y="424825"/>
                    <a:pt x="0" y="410526"/>
                  </a:cubicBezTo>
                  <a:lnTo>
                    <a:pt x="0" y="53912"/>
                  </a:lnTo>
                  <a:cubicBezTo>
                    <a:pt x="0" y="39614"/>
                    <a:pt x="5680" y="25901"/>
                    <a:pt x="15790" y="15790"/>
                  </a:cubicBezTo>
                  <a:cubicBezTo>
                    <a:pt x="25901" y="5680"/>
                    <a:pt x="39614" y="0"/>
                    <a:pt x="53912" y="0"/>
                  </a:cubicBezTo>
                  <a:close/>
                </a:path>
              </a:pathLst>
            </a:custGeom>
            <a:gradFill rotWithShape="1">
              <a:gsLst>
                <a:gs pos="0">
                  <a:srgbClr val="FFFFFF">
                    <a:alpha val="10000"/>
                  </a:srgbClr>
                </a:gs>
                <a:gs pos="50000">
                  <a:srgbClr val="FFFFFF">
                    <a:alpha val="0"/>
                  </a:srgbClr>
                </a:gs>
                <a:gs pos="100000">
                  <a:srgbClr val="FFFFFF">
                    <a:alpha val="10500"/>
                  </a:srgbClr>
                </a:gs>
              </a:gsLst>
              <a:lin ang="2700000"/>
            </a:gradFill>
            <a:ln w="19050" cap="rnd">
              <a:gradFill>
                <a:gsLst>
                  <a:gs pos="0">
                    <a:srgbClr val="FFFFFF">
                      <a:alpha val="50000"/>
                    </a:srgbClr>
                  </a:gs>
                  <a:gs pos="50000">
                    <a:srgbClr val="FFFFFF">
                      <a:alpha val="0"/>
                    </a:srgbClr>
                  </a:gs>
                  <a:gs pos="100000">
                    <a:srgbClr val="FFFFFF">
                      <a:alpha val="50000"/>
                    </a:srgbClr>
                  </a:gs>
                </a:gsLst>
                <a:lin ang="0"/>
              </a:gradFill>
              <a:prstDash val="solid"/>
              <a:round/>
            </a:ln>
          </p:spPr>
          <p:txBody>
            <a:bodyPr/>
            <a:lstStyle/>
            <a:p>
              <a:endParaRPr lang="en-US"/>
            </a:p>
          </p:txBody>
        </p:sp>
        <p:sp>
          <p:nvSpPr>
            <p:cNvPr id="23" name="TextBox 23"/>
            <p:cNvSpPr txBox="1"/>
            <p:nvPr/>
          </p:nvSpPr>
          <p:spPr>
            <a:xfrm>
              <a:off x="0" y="47625"/>
              <a:ext cx="546981" cy="416813"/>
            </a:xfrm>
            <a:prstGeom prst="rect">
              <a:avLst/>
            </a:prstGeom>
          </p:spPr>
          <p:txBody>
            <a:bodyPr lIns="50800" tIns="50800" rIns="50800" bIns="50800" rtlCol="0" anchor="ctr"/>
            <a:lstStyle/>
            <a:p>
              <a:pPr algn="ctr">
                <a:lnSpc>
                  <a:spcPts val="1800"/>
                </a:lnSpc>
              </a:pPr>
              <a:endParaRPr/>
            </a:p>
          </p:txBody>
        </p:sp>
      </p:grpSp>
      <p:grpSp>
        <p:nvGrpSpPr>
          <p:cNvPr id="24" name="Group 24"/>
          <p:cNvGrpSpPr/>
          <p:nvPr/>
        </p:nvGrpSpPr>
        <p:grpSpPr>
          <a:xfrm>
            <a:off x="10235684" y="1866149"/>
            <a:ext cx="4308088" cy="3657976"/>
            <a:chOff x="0" y="0"/>
            <a:chExt cx="546981" cy="464438"/>
          </a:xfrm>
        </p:grpSpPr>
        <p:sp>
          <p:nvSpPr>
            <p:cNvPr id="25" name="Freeform 25"/>
            <p:cNvSpPr/>
            <p:nvPr/>
          </p:nvSpPr>
          <p:spPr>
            <a:xfrm>
              <a:off x="0" y="0"/>
              <a:ext cx="546981" cy="464438"/>
            </a:xfrm>
            <a:custGeom>
              <a:avLst/>
              <a:gdLst/>
              <a:ahLst/>
              <a:cxnLst/>
              <a:rect l="l" t="t" r="r" b="b"/>
              <a:pathLst>
                <a:path w="546981" h="464438">
                  <a:moveTo>
                    <a:pt x="53912" y="0"/>
                  </a:moveTo>
                  <a:lnTo>
                    <a:pt x="493069" y="0"/>
                  </a:lnTo>
                  <a:cubicBezTo>
                    <a:pt x="522843" y="0"/>
                    <a:pt x="546981" y="24137"/>
                    <a:pt x="546981" y="53912"/>
                  </a:cubicBezTo>
                  <a:lnTo>
                    <a:pt x="546981" y="410526"/>
                  </a:lnTo>
                  <a:cubicBezTo>
                    <a:pt x="546981" y="424825"/>
                    <a:pt x="541301" y="438537"/>
                    <a:pt x="531190" y="448648"/>
                  </a:cubicBezTo>
                  <a:cubicBezTo>
                    <a:pt x="521080" y="458758"/>
                    <a:pt x="507367" y="464438"/>
                    <a:pt x="493069" y="464438"/>
                  </a:cubicBezTo>
                  <a:lnTo>
                    <a:pt x="53912" y="464438"/>
                  </a:lnTo>
                  <a:cubicBezTo>
                    <a:pt x="39614" y="464438"/>
                    <a:pt x="25901" y="458758"/>
                    <a:pt x="15790" y="448648"/>
                  </a:cubicBezTo>
                  <a:cubicBezTo>
                    <a:pt x="5680" y="438537"/>
                    <a:pt x="0" y="424825"/>
                    <a:pt x="0" y="410526"/>
                  </a:cubicBezTo>
                  <a:lnTo>
                    <a:pt x="0" y="53912"/>
                  </a:lnTo>
                  <a:cubicBezTo>
                    <a:pt x="0" y="39614"/>
                    <a:pt x="5680" y="25901"/>
                    <a:pt x="15790" y="15790"/>
                  </a:cubicBezTo>
                  <a:cubicBezTo>
                    <a:pt x="25901" y="5680"/>
                    <a:pt x="39614" y="0"/>
                    <a:pt x="53912" y="0"/>
                  </a:cubicBezTo>
                  <a:close/>
                </a:path>
              </a:pathLst>
            </a:custGeom>
            <a:gradFill rotWithShape="1">
              <a:gsLst>
                <a:gs pos="0">
                  <a:srgbClr val="FFFFFF">
                    <a:alpha val="10000"/>
                  </a:srgbClr>
                </a:gs>
                <a:gs pos="50000">
                  <a:srgbClr val="FFFFFF">
                    <a:alpha val="0"/>
                  </a:srgbClr>
                </a:gs>
                <a:gs pos="100000">
                  <a:srgbClr val="FFFFFF">
                    <a:alpha val="10500"/>
                  </a:srgbClr>
                </a:gs>
              </a:gsLst>
              <a:lin ang="2700000"/>
            </a:gradFill>
            <a:ln w="19050" cap="rnd">
              <a:gradFill>
                <a:gsLst>
                  <a:gs pos="0">
                    <a:srgbClr val="FFFFFF">
                      <a:alpha val="50000"/>
                    </a:srgbClr>
                  </a:gs>
                  <a:gs pos="50000">
                    <a:srgbClr val="FFFFFF">
                      <a:alpha val="0"/>
                    </a:srgbClr>
                  </a:gs>
                  <a:gs pos="100000">
                    <a:srgbClr val="FFFFFF">
                      <a:alpha val="50000"/>
                    </a:srgbClr>
                  </a:gs>
                </a:gsLst>
                <a:lin ang="0"/>
              </a:gradFill>
              <a:prstDash val="solid"/>
              <a:round/>
            </a:ln>
          </p:spPr>
          <p:txBody>
            <a:bodyPr/>
            <a:lstStyle/>
            <a:p>
              <a:endParaRPr lang="en-US"/>
            </a:p>
          </p:txBody>
        </p:sp>
        <p:sp>
          <p:nvSpPr>
            <p:cNvPr id="26" name="TextBox 26"/>
            <p:cNvSpPr txBox="1"/>
            <p:nvPr/>
          </p:nvSpPr>
          <p:spPr>
            <a:xfrm>
              <a:off x="0" y="47625"/>
              <a:ext cx="546981" cy="416813"/>
            </a:xfrm>
            <a:prstGeom prst="rect">
              <a:avLst/>
            </a:prstGeom>
          </p:spPr>
          <p:txBody>
            <a:bodyPr lIns="50800" tIns="50800" rIns="50800" bIns="50800" rtlCol="0" anchor="ctr"/>
            <a:lstStyle/>
            <a:p>
              <a:pPr algn="ctr">
                <a:lnSpc>
                  <a:spcPts val="1800"/>
                </a:lnSpc>
              </a:pPr>
              <a:endParaRPr/>
            </a:p>
          </p:txBody>
        </p:sp>
      </p:grpSp>
      <p:sp>
        <p:nvSpPr>
          <p:cNvPr id="27" name="TextBox 27"/>
          <p:cNvSpPr txBox="1"/>
          <p:nvPr/>
        </p:nvSpPr>
        <p:spPr>
          <a:xfrm>
            <a:off x="4240239" y="2188387"/>
            <a:ext cx="3396858" cy="2130070"/>
          </a:xfrm>
          <a:prstGeom prst="rect">
            <a:avLst/>
          </a:prstGeom>
        </p:spPr>
        <p:txBody>
          <a:bodyPr lIns="0" tIns="0" rIns="0" bIns="0" rtlCol="0" anchor="t">
            <a:spAutoFit/>
          </a:bodyPr>
          <a:lstStyle/>
          <a:p>
            <a:pPr algn="l">
              <a:lnSpc>
                <a:spcPts val="3298"/>
              </a:lnSpc>
            </a:pPr>
            <a:r>
              <a:rPr lang="en-US" sz="3331" dirty="0">
                <a:solidFill>
                  <a:srgbClr val="FFFFFF"/>
                </a:solidFill>
                <a:latin typeface="Atkinson Hyperlegible"/>
                <a:ea typeface="Atkinson Hyperlegible"/>
                <a:cs typeface="Atkinson Hyperlegible"/>
                <a:sym typeface="Atkinson Hyperlegible"/>
              </a:rPr>
              <a:t>Threats of New Entrants: </a:t>
            </a:r>
            <a:r>
              <a:rPr lang="en-US" sz="3331" dirty="0">
                <a:solidFill>
                  <a:srgbClr val="00B050"/>
                </a:solidFill>
                <a:latin typeface="Atkinson Hyperlegible"/>
                <a:ea typeface="Atkinson Hyperlegible"/>
                <a:cs typeface="Atkinson Hyperlegible"/>
                <a:sym typeface="Atkinson Hyperlegible"/>
              </a:rPr>
              <a:t>Low</a:t>
            </a:r>
          </a:p>
          <a:p>
            <a:pPr marL="457200" indent="-457200" algn="l">
              <a:lnSpc>
                <a:spcPts val="3298"/>
              </a:lnSpc>
              <a:buFont typeface="Arial" panose="020B0604020202020204" pitchFamily="34" charset="0"/>
              <a:buChar char="•"/>
            </a:pPr>
            <a:endParaRPr lang="en-US" sz="2000" dirty="0">
              <a:solidFill>
                <a:srgbClr val="FFFFFF"/>
              </a:solidFill>
              <a:latin typeface="Atkinson Hyperlegible"/>
              <a:ea typeface="Atkinson Hyperlegible"/>
              <a:cs typeface="Atkinson Hyperlegible"/>
              <a:sym typeface="Atkinson Hyperlegible"/>
            </a:endParaRPr>
          </a:p>
          <a:p>
            <a:pPr algn="l">
              <a:lnSpc>
                <a:spcPts val="3298"/>
              </a:lnSpc>
            </a:pPr>
            <a:endParaRPr lang="en-US" sz="3331" dirty="0">
              <a:solidFill>
                <a:srgbClr val="FFFFFF"/>
              </a:solidFill>
              <a:latin typeface="Atkinson Hyperlegible"/>
              <a:ea typeface="Atkinson Hyperlegible"/>
              <a:cs typeface="Atkinson Hyperlegible"/>
              <a:sym typeface="Atkinson Hyperlegible"/>
            </a:endParaRPr>
          </a:p>
          <a:p>
            <a:pPr algn="l">
              <a:lnSpc>
                <a:spcPts val="3298"/>
              </a:lnSpc>
            </a:pPr>
            <a:endParaRPr lang="en-US" sz="3331" dirty="0">
              <a:solidFill>
                <a:srgbClr val="FFFFFF"/>
              </a:solidFill>
              <a:latin typeface="Atkinson Hyperlegible"/>
              <a:ea typeface="Atkinson Hyperlegible"/>
              <a:cs typeface="Atkinson Hyperlegible"/>
              <a:sym typeface="Atkinson Hyperlegible"/>
            </a:endParaRPr>
          </a:p>
        </p:txBody>
      </p:sp>
      <p:sp>
        <p:nvSpPr>
          <p:cNvPr id="28" name="TextBox 28"/>
          <p:cNvSpPr txBox="1"/>
          <p:nvPr/>
        </p:nvSpPr>
        <p:spPr>
          <a:xfrm>
            <a:off x="10691299" y="2188387"/>
            <a:ext cx="3396858" cy="860492"/>
          </a:xfrm>
          <a:prstGeom prst="rect">
            <a:avLst/>
          </a:prstGeom>
        </p:spPr>
        <p:txBody>
          <a:bodyPr lIns="0" tIns="0" rIns="0" bIns="0" rtlCol="0" anchor="t">
            <a:spAutoFit/>
          </a:bodyPr>
          <a:lstStyle/>
          <a:p>
            <a:pPr algn="l">
              <a:lnSpc>
                <a:spcPts val="3298"/>
              </a:lnSpc>
            </a:pPr>
            <a:r>
              <a:rPr lang="en-US" sz="3331" dirty="0">
                <a:solidFill>
                  <a:srgbClr val="FFFFFF"/>
                </a:solidFill>
                <a:latin typeface="Atkinson Hyperlegible"/>
                <a:ea typeface="Atkinson Hyperlegible"/>
                <a:cs typeface="Atkinson Hyperlegible"/>
                <a:sym typeface="Atkinson Hyperlegible"/>
              </a:rPr>
              <a:t>Competitive Rivalries: </a:t>
            </a:r>
            <a:r>
              <a:rPr lang="en-US" sz="3331" dirty="0">
                <a:solidFill>
                  <a:srgbClr val="FF0000"/>
                </a:solidFill>
                <a:latin typeface="Atkinson Hyperlegible"/>
                <a:ea typeface="Atkinson Hyperlegible"/>
                <a:cs typeface="Atkinson Hyperlegible"/>
                <a:sym typeface="Atkinson Hyperlegible"/>
              </a:rPr>
              <a:t>High</a:t>
            </a:r>
          </a:p>
        </p:txBody>
      </p:sp>
      <p:sp>
        <p:nvSpPr>
          <p:cNvPr id="29" name="TextBox 28">
            <a:extLst>
              <a:ext uri="{FF2B5EF4-FFF2-40B4-BE49-F238E27FC236}">
                <a16:creationId xmlns:a16="http://schemas.microsoft.com/office/drawing/2014/main" id="{9D6EAA58-F1CD-4A55-F79C-AA50DD506EEF}"/>
              </a:ext>
            </a:extLst>
          </p:cNvPr>
          <p:cNvSpPr txBox="1"/>
          <p:nvPr/>
        </p:nvSpPr>
        <p:spPr>
          <a:xfrm>
            <a:off x="13364238" y="5808410"/>
            <a:ext cx="3126529" cy="1661993"/>
          </a:xfrm>
          <a:prstGeom prst="rect">
            <a:avLst/>
          </a:prstGeom>
          <a:noFill/>
        </p:spPr>
        <p:txBody>
          <a:bodyPr wrap="square" rtlCol="0">
            <a:spAutoFit/>
          </a:bodyPr>
          <a:lstStyle/>
          <a:p>
            <a:r>
              <a:rPr lang="en-US" sz="2800" dirty="0">
                <a:solidFill>
                  <a:srgbClr val="FFFFFF"/>
                </a:solidFill>
                <a:latin typeface="Atkinson Hyperlegible"/>
                <a:ea typeface="Atkinson Hyperlegible"/>
                <a:cs typeface="Atkinson Hyperlegible"/>
                <a:sym typeface="Atkinson Hyperlegible"/>
              </a:rPr>
              <a:t>Bargaining Power of Suppliers: </a:t>
            </a:r>
            <a:r>
              <a:rPr lang="en-US" sz="2800" dirty="0">
                <a:solidFill>
                  <a:srgbClr val="FFFF00"/>
                </a:solidFill>
                <a:latin typeface="Atkinson Hyperlegible"/>
                <a:ea typeface="Atkinson Hyperlegible"/>
                <a:cs typeface="Atkinson Hyperlegible"/>
                <a:sym typeface="Atkinson Hyperlegible"/>
              </a:rPr>
              <a:t>Moderate</a:t>
            </a:r>
            <a:r>
              <a:rPr lang="en-US" sz="2800" dirty="0">
                <a:solidFill>
                  <a:srgbClr val="FF0000"/>
                </a:solidFill>
                <a:latin typeface="Atkinson Hyperlegible"/>
                <a:ea typeface="Atkinson Hyperlegible"/>
                <a:cs typeface="Atkinson Hyperlegible"/>
                <a:sym typeface="Atkinson Hyperlegible"/>
              </a:rPr>
              <a:t> </a:t>
            </a:r>
            <a:r>
              <a:rPr lang="en-US" sz="2800" dirty="0">
                <a:solidFill>
                  <a:schemeClr val="bg1"/>
                </a:solidFill>
                <a:latin typeface="Atkinson Hyperlegible"/>
                <a:ea typeface="Atkinson Hyperlegible"/>
                <a:cs typeface="Atkinson Hyperlegible"/>
                <a:sym typeface="Atkinson Hyperlegible"/>
              </a:rPr>
              <a:t>to</a:t>
            </a:r>
            <a:r>
              <a:rPr lang="en-US" sz="2800" dirty="0">
                <a:solidFill>
                  <a:srgbClr val="FF0000"/>
                </a:solidFill>
                <a:latin typeface="Atkinson Hyperlegible"/>
                <a:ea typeface="Atkinson Hyperlegible"/>
                <a:cs typeface="Atkinson Hyperlegible"/>
                <a:sym typeface="Atkinson Hyperlegible"/>
              </a:rPr>
              <a:t> High</a:t>
            </a:r>
            <a:endParaRPr lang="en-US" sz="2800" dirty="0">
              <a:solidFill>
                <a:srgbClr val="FFFFFF"/>
              </a:solidFill>
              <a:latin typeface="Atkinson Hyperlegible"/>
              <a:ea typeface="Atkinson Hyperlegible"/>
              <a:cs typeface="Atkinson Hyperlegible"/>
              <a:sym typeface="Atkinson Hyperlegible"/>
            </a:endParaRPr>
          </a:p>
          <a:p>
            <a:endParaRPr lang="en-US" dirty="0"/>
          </a:p>
        </p:txBody>
      </p:sp>
      <p:sp>
        <p:nvSpPr>
          <p:cNvPr id="30" name="TextBox 29">
            <a:extLst>
              <a:ext uri="{FF2B5EF4-FFF2-40B4-BE49-F238E27FC236}">
                <a16:creationId xmlns:a16="http://schemas.microsoft.com/office/drawing/2014/main" id="{7A1F9DC7-FF18-35AA-F406-74F488423A49}"/>
              </a:ext>
            </a:extLst>
          </p:cNvPr>
          <p:cNvSpPr txBox="1"/>
          <p:nvPr/>
        </p:nvSpPr>
        <p:spPr>
          <a:xfrm>
            <a:off x="4125407" y="3142861"/>
            <a:ext cx="3396858" cy="923330"/>
          </a:xfrm>
          <a:prstGeom prst="rect">
            <a:avLst/>
          </a:prstGeom>
          <a:noFill/>
        </p:spPr>
        <p:txBody>
          <a:bodyPr wrap="square" rtlCol="0" anchor="ctr">
            <a:spAutoFit/>
          </a:bodyPr>
          <a:lstStyle/>
          <a:p>
            <a:pPr marL="285750" indent="-285750">
              <a:buFont typeface="Arial" panose="020B0604020202020204" pitchFamily="34" charset="0"/>
              <a:buChar char="•"/>
            </a:pPr>
            <a:r>
              <a:rPr lang="en-US" dirty="0">
                <a:solidFill>
                  <a:schemeClr val="bg1"/>
                </a:solidFill>
              </a:rPr>
              <a:t>Need standing relationships with government</a:t>
            </a:r>
          </a:p>
          <a:p>
            <a:pPr marL="285750" indent="-285750">
              <a:buFont typeface="Arial" panose="020B0604020202020204" pitchFamily="34" charset="0"/>
              <a:buChar char="•"/>
            </a:pPr>
            <a:r>
              <a:rPr lang="en-US" dirty="0">
                <a:solidFill>
                  <a:schemeClr val="bg1"/>
                </a:solidFill>
              </a:rPr>
              <a:t>Certifications required</a:t>
            </a:r>
          </a:p>
        </p:txBody>
      </p:sp>
      <p:sp>
        <p:nvSpPr>
          <p:cNvPr id="31" name="TextBox 30">
            <a:extLst>
              <a:ext uri="{FF2B5EF4-FFF2-40B4-BE49-F238E27FC236}">
                <a16:creationId xmlns:a16="http://schemas.microsoft.com/office/drawing/2014/main" id="{D47581B4-CD21-1DF2-DB0B-65F567BE6BA1}"/>
              </a:ext>
            </a:extLst>
          </p:cNvPr>
          <p:cNvSpPr txBox="1"/>
          <p:nvPr/>
        </p:nvSpPr>
        <p:spPr>
          <a:xfrm>
            <a:off x="13241143" y="7278945"/>
            <a:ext cx="3396858" cy="1752600"/>
          </a:xfrm>
          <a:prstGeom prst="rect">
            <a:avLst/>
          </a:prstGeom>
          <a:noFill/>
        </p:spPr>
        <p:txBody>
          <a:bodyPr wrap="square" rtlCol="0">
            <a:spAutoFit/>
          </a:bodyPr>
          <a:lstStyle/>
          <a:p>
            <a:endParaRPr lang="en-US" dirty="0"/>
          </a:p>
        </p:txBody>
      </p:sp>
      <p:sp>
        <p:nvSpPr>
          <p:cNvPr id="32" name="TextBox 31">
            <a:extLst>
              <a:ext uri="{FF2B5EF4-FFF2-40B4-BE49-F238E27FC236}">
                <a16:creationId xmlns:a16="http://schemas.microsoft.com/office/drawing/2014/main" id="{7CC37F96-4CF1-6F31-4622-3598C2D5F182}"/>
              </a:ext>
            </a:extLst>
          </p:cNvPr>
          <p:cNvSpPr txBox="1"/>
          <p:nvPr/>
        </p:nvSpPr>
        <p:spPr>
          <a:xfrm>
            <a:off x="10691299" y="3282522"/>
            <a:ext cx="3396858" cy="923330"/>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Competes with Lockheed Martin, Northrop Grumman &amp; Boeing</a:t>
            </a:r>
          </a:p>
        </p:txBody>
      </p:sp>
      <p:sp>
        <p:nvSpPr>
          <p:cNvPr id="33" name="TextBox 32">
            <a:extLst>
              <a:ext uri="{FF2B5EF4-FFF2-40B4-BE49-F238E27FC236}">
                <a16:creationId xmlns:a16="http://schemas.microsoft.com/office/drawing/2014/main" id="{FC940D8D-1B38-466B-0A91-13B584462F25}"/>
              </a:ext>
            </a:extLst>
          </p:cNvPr>
          <p:cNvSpPr txBox="1"/>
          <p:nvPr/>
        </p:nvSpPr>
        <p:spPr>
          <a:xfrm>
            <a:off x="1644072" y="7550930"/>
            <a:ext cx="3396858" cy="1752600"/>
          </a:xfrm>
          <a:prstGeom prst="rect">
            <a:avLst/>
          </a:prstGeom>
          <a:noFill/>
        </p:spPr>
        <p:txBody>
          <a:bodyPr wrap="square" rtlCol="0">
            <a:spAutoFit/>
          </a:bodyPr>
          <a:lstStyle/>
          <a:p>
            <a:endParaRPr lang="en-US" dirty="0"/>
          </a:p>
        </p:txBody>
      </p:sp>
      <p:sp>
        <p:nvSpPr>
          <p:cNvPr id="34" name="TextBox 33">
            <a:extLst>
              <a:ext uri="{FF2B5EF4-FFF2-40B4-BE49-F238E27FC236}">
                <a16:creationId xmlns:a16="http://schemas.microsoft.com/office/drawing/2014/main" id="{767FE8F1-9BDA-C4F9-621D-348C3AC31419}"/>
              </a:ext>
            </a:extLst>
          </p:cNvPr>
          <p:cNvSpPr txBox="1"/>
          <p:nvPr/>
        </p:nvSpPr>
        <p:spPr>
          <a:xfrm>
            <a:off x="7522265" y="7344318"/>
            <a:ext cx="3396858" cy="1752600"/>
          </a:xfrm>
          <a:prstGeom prst="rect">
            <a:avLst/>
          </a:prstGeom>
          <a:noFill/>
        </p:spPr>
        <p:txBody>
          <a:bodyPr wrap="square" rtlCol="0">
            <a:spAutoFit/>
          </a:bodyPr>
          <a:lstStyle/>
          <a:p>
            <a:endParaRPr lang="en-US" dirty="0"/>
          </a:p>
        </p:txBody>
      </p:sp>
      <p:sp>
        <p:nvSpPr>
          <p:cNvPr id="17" name="TextBox 16">
            <a:extLst>
              <a:ext uri="{FF2B5EF4-FFF2-40B4-BE49-F238E27FC236}">
                <a16:creationId xmlns:a16="http://schemas.microsoft.com/office/drawing/2014/main" id="{91718B7D-B892-A12B-2837-E40678245D6C}"/>
              </a:ext>
            </a:extLst>
          </p:cNvPr>
          <p:cNvSpPr txBox="1"/>
          <p:nvPr/>
        </p:nvSpPr>
        <p:spPr>
          <a:xfrm>
            <a:off x="1508690" y="6964635"/>
            <a:ext cx="3212468" cy="2062103"/>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bg1"/>
                </a:solidFill>
              </a:rPr>
              <a:t>No viable substitutes exist for core products like the F135 engine or Patriot missile defense systems</a:t>
            </a:r>
          </a:p>
          <a:p>
            <a:pPr marL="285750" indent="-285750">
              <a:buFont typeface="Arial" panose="020B0604020202020204" pitchFamily="34" charset="0"/>
              <a:buChar char="•"/>
            </a:pPr>
            <a:r>
              <a:rPr lang="en-US" sz="1600" dirty="0">
                <a:solidFill>
                  <a:schemeClr val="bg1"/>
                </a:solidFill>
              </a:rPr>
              <a:t>RTX is proactively investing in = AI through ventures like </a:t>
            </a:r>
            <a:r>
              <a:rPr lang="en-US" sz="1600" dirty="0" err="1">
                <a:solidFill>
                  <a:schemeClr val="bg1"/>
                </a:solidFill>
              </a:rPr>
              <a:t>EpiSci</a:t>
            </a:r>
            <a:r>
              <a:rPr lang="en-US" sz="1600" dirty="0">
                <a:solidFill>
                  <a:schemeClr val="bg1"/>
                </a:solidFill>
              </a:rPr>
              <a:t> and </a:t>
            </a:r>
            <a:r>
              <a:rPr lang="en-US" sz="1600" dirty="0" err="1">
                <a:solidFill>
                  <a:schemeClr val="bg1"/>
                </a:solidFill>
              </a:rPr>
              <a:t>HawkEye</a:t>
            </a:r>
            <a:r>
              <a:rPr lang="en-US" sz="1600" dirty="0">
                <a:solidFill>
                  <a:schemeClr val="bg1"/>
                </a:solidFill>
              </a:rPr>
              <a:t> 360 to stay ahead of technological disruption</a:t>
            </a:r>
          </a:p>
        </p:txBody>
      </p:sp>
      <p:sp>
        <p:nvSpPr>
          <p:cNvPr id="18" name="TextBox 17">
            <a:extLst>
              <a:ext uri="{FF2B5EF4-FFF2-40B4-BE49-F238E27FC236}">
                <a16:creationId xmlns:a16="http://schemas.microsoft.com/office/drawing/2014/main" id="{D8753FAB-FAD8-CA5C-BB73-0A967C89AC9E}"/>
              </a:ext>
            </a:extLst>
          </p:cNvPr>
          <p:cNvSpPr txBox="1"/>
          <p:nvPr/>
        </p:nvSpPr>
        <p:spPr>
          <a:xfrm>
            <a:off x="7225238" y="7453312"/>
            <a:ext cx="3396858" cy="1477328"/>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U.S. government is the largest customer but has limited alternatives </a:t>
            </a:r>
          </a:p>
          <a:p>
            <a:pPr marL="285750" indent="-285750">
              <a:buFont typeface="Arial" panose="020B0604020202020204" pitchFamily="34" charset="0"/>
              <a:buChar char="•"/>
            </a:pPr>
            <a:r>
              <a:rPr lang="en-US" dirty="0">
                <a:solidFill>
                  <a:schemeClr val="bg1"/>
                </a:solidFill>
              </a:rPr>
              <a:t>Airlines face high switching costs</a:t>
            </a:r>
          </a:p>
        </p:txBody>
      </p:sp>
      <p:sp>
        <p:nvSpPr>
          <p:cNvPr id="35" name="TextBox 34">
            <a:extLst>
              <a:ext uri="{FF2B5EF4-FFF2-40B4-BE49-F238E27FC236}">
                <a16:creationId xmlns:a16="http://schemas.microsoft.com/office/drawing/2014/main" id="{76F3466C-65D9-CA87-D07A-0FC257CC3077}"/>
              </a:ext>
            </a:extLst>
          </p:cNvPr>
          <p:cNvSpPr txBox="1"/>
          <p:nvPr/>
        </p:nvSpPr>
        <p:spPr>
          <a:xfrm>
            <a:off x="13247070" y="7365105"/>
            <a:ext cx="3396858" cy="1200329"/>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Long term contracts give RTX leverage</a:t>
            </a:r>
          </a:p>
          <a:p>
            <a:pPr marL="285750" indent="-285750">
              <a:buFont typeface="Arial" panose="020B0604020202020204" pitchFamily="34" charset="0"/>
              <a:buChar char="•"/>
            </a:pPr>
            <a:r>
              <a:rPr lang="en-US" dirty="0">
                <a:solidFill>
                  <a:schemeClr val="bg1"/>
                </a:solidFill>
              </a:rPr>
              <a:t>Rare Earth materials can create pricing pressure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3228" t="-35818" r="-11439"/>
            </a:stretch>
          </a:blipFill>
        </p:spPr>
        <p:txBody>
          <a:bodyPr/>
          <a:lstStyle/>
          <a:p>
            <a:endParaRPr lang="en-US"/>
          </a:p>
        </p:txBody>
      </p:sp>
      <p:grpSp>
        <p:nvGrpSpPr>
          <p:cNvPr id="3" name="Group 3"/>
          <p:cNvGrpSpPr/>
          <p:nvPr/>
        </p:nvGrpSpPr>
        <p:grpSpPr>
          <a:xfrm rot="5400000">
            <a:off x="4479117" y="1219103"/>
            <a:ext cx="9329765" cy="8948959"/>
            <a:chOff x="0" y="0"/>
            <a:chExt cx="622300" cy="596900"/>
          </a:xfrm>
        </p:grpSpPr>
        <p:sp>
          <p:nvSpPr>
            <p:cNvPr id="4" name="Freeform 4"/>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txBody>
            <a:bodyPr/>
            <a:lstStyle/>
            <a:p>
              <a:endParaRPr lang="en-US"/>
            </a:p>
          </p:txBody>
        </p:sp>
        <p:sp>
          <p:nvSpPr>
            <p:cNvPr id="5" name="TextBox 5"/>
            <p:cNvSpPr txBox="1"/>
            <p:nvPr/>
          </p:nvSpPr>
          <p:spPr>
            <a:xfrm>
              <a:off x="0" y="174625"/>
              <a:ext cx="622300" cy="295275"/>
            </a:xfrm>
            <a:prstGeom prst="rect">
              <a:avLst/>
            </a:prstGeom>
          </p:spPr>
          <p:txBody>
            <a:bodyPr lIns="50800" tIns="50800" rIns="50800" bIns="50800" rtlCol="0" anchor="ctr"/>
            <a:lstStyle/>
            <a:p>
              <a:pPr algn="ctr">
                <a:lnSpc>
                  <a:spcPts val="1800"/>
                </a:lnSpc>
              </a:pPr>
              <a:endParaRPr/>
            </a:p>
          </p:txBody>
        </p:sp>
      </p:grpSp>
      <p:sp>
        <p:nvSpPr>
          <p:cNvPr id="12" name="Freeform 12"/>
          <p:cNvSpPr/>
          <p:nvPr/>
        </p:nvSpPr>
        <p:spPr>
          <a:xfrm>
            <a:off x="1492458" y="1755981"/>
            <a:ext cx="14359501" cy="7251548"/>
          </a:xfrm>
          <a:custGeom>
            <a:avLst/>
            <a:gdLst/>
            <a:ahLst/>
            <a:cxnLst/>
            <a:rect l="l" t="t" r="r" b="b"/>
            <a:pathLst>
              <a:path w="14359501" h="7251548">
                <a:moveTo>
                  <a:pt x="0" y="0"/>
                </a:moveTo>
                <a:lnTo>
                  <a:pt x="14359501" y="0"/>
                </a:lnTo>
                <a:lnTo>
                  <a:pt x="14359501" y="7251548"/>
                </a:lnTo>
                <a:lnTo>
                  <a:pt x="0" y="7251548"/>
                </a:lnTo>
                <a:lnTo>
                  <a:pt x="0" y="0"/>
                </a:lnTo>
                <a:close/>
              </a:path>
            </a:pathLst>
          </a:custGeom>
          <a:blipFill>
            <a:blip r:embed="rId4"/>
            <a:stretch>
              <a:fillRect/>
            </a:stretch>
          </a:blipFill>
        </p:spPr>
        <p:txBody>
          <a:bodyPr/>
          <a:lstStyle/>
          <a:p>
            <a:endParaRPr lang="en-US"/>
          </a:p>
        </p:txBody>
      </p:sp>
      <p:sp>
        <p:nvSpPr>
          <p:cNvPr id="13" name="TextBox 13"/>
          <p:cNvSpPr txBox="1"/>
          <p:nvPr/>
        </p:nvSpPr>
        <p:spPr>
          <a:xfrm>
            <a:off x="1296346" y="441659"/>
            <a:ext cx="15695308" cy="1488407"/>
          </a:xfrm>
          <a:prstGeom prst="rect">
            <a:avLst/>
          </a:prstGeom>
        </p:spPr>
        <p:txBody>
          <a:bodyPr lIns="0" tIns="0" rIns="0" bIns="0" rtlCol="0" anchor="t">
            <a:spAutoFit/>
          </a:bodyPr>
          <a:lstStyle/>
          <a:p>
            <a:pPr marL="0" lvl="0" indent="0" algn="ctr">
              <a:lnSpc>
                <a:spcPts val="10907"/>
              </a:lnSpc>
            </a:pPr>
            <a:r>
              <a:rPr lang="en-US" sz="11856" b="1" spc="-770" dirty="0">
                <a:solidFill>
                  <a:srgbClr val="FFFFFF"/>
                </a:solidFill>
                <a:latin typeface="Atkinson Hyperlegible Bold"/>
                <a:ea typeface="Atkinson Hyperlegible Bold"/>
                <a:cs typeface="Atkinson Hyperlegible Bold"/>
                <a:sym typeface="Atkinson Hyperlegible Bold"/>
              </a:rPr>
              <a:t>RTX VS. S&amp;P 500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36DD3-3DD4-0AAA-D765-377210D6A32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E5EFB08-0DFC-648A-98FA-6EB7206CEFDD}"/>
              </a:ext>
            </a:extLst>
          </p:cNvPr>
          <p:cNvSpPr/>
          <p:nvPr/>
        </p:nvSpPr>
        <p:spPr>
          <a:xfrm>
            <a:off x="-1" y="-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3228" t="-35818" r="-11439"/>
            </a:stretch>
          </a:blipFill>
        </p:spPr>
        <p:txBody>
          <a:bodyPr/>
          <a:lstStyle/>
          <a:p>
            <a:endParaRPr lang="en-US" dirty="0"/>
          </a:p>
        </p:txBody>
      </p:sp>
      <p:sp>
        <p:nvSpPr>
          <p:cNvPr id="6" name="TextBox 6">
            <a:extLst>
              <a:ext uri="{FF2B5EF4-FFF2-40B4-BE49-F238E27FC236}">
                <a16:creationId xmlns:a16="http://schemas.microsoft.com/office/drawing/2014/main" id="{BE4D3CAD-D539-9ACD-2BDD-4897C7EFA008}"/>
              </a:ext>
            </a:extLst>
          </p:cNvPr>
          <p:cNvSpPr txBox="1"/>
          <p:nvPr/>
        </p:nvSpPr>
        <p:spPr>
          <a:xfrm>
            <a:off x="1921912" y="633304"/>
            <a:ext cx="14444177" cy="1264320"/>
          </a:xfrm>
          <a:prstGeom prst="rect">
            <a:avLst/>
          </a:prstGeom>
        </p:spPr>
        <p:txBody>
          <a:bodyPr lIns="0" tIns="0" rIns="0" bIns="0" rtlCol="0" anchor="t">
            <a:spAutoFit/>
          </a:bodyPr>
          <a:lstStyle/>
          <a:p>
            <a:pPr marL="0" lvl="0" indent="0" algn="ctr">
              <a:lnSpc>
                <a:spcPts val="10907"/>
              </a:lnSpc>
            </a:pPr>
            <a:r>
              <a:rPr lang="en-US" sz="6000" b="1" spc="-770" dirty="0">
                <a:solidFill>
                  <a:srgbClr val="FFFFFF"/>
                </a:solidFill>
                <a:latin typeface="Atkinson Hyperlegible Bold"/>
                <a:ea typeface="Atkinson Hyperlegible Bold"/>
                <a:cs typeface="Atkinson Hyperlegible Bold"/>
                <a:sym typeface="Atkinson Hyperlegible Bold"/>
              </a:rPr>
              <a:t>DCF – WACC Assumptions</a:t>
            </a:r>
          </a:p>
        </p:txBody>
      </p:sp>
      <p:pic>
        <p:nvPicPr>
          <p:cNvPr id="9" name="Picture 8" descr="A screenshot of a computer&#10;&#10;AI-generated content may be incorrect.">
            <a:extLst>
              <a:ext uri="{FF2B5EF4-FFF2-40B4-BE49-F238E27FC236}">
                <a16:creationId xmlns:a16="http://schemas.microsoft.com/office/drawing/2014/main" id="{323F6271-AEE9-75C9-AB9C-4FF839D48A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8666" y="2049593"/>
            <a:ext cx="7481707" cy="7606820"/>
          </a:xfrm>
          <a:prstGeom prst="rect">
            <a:avLst/>
          </a:prstGeom>
        </p:spPr>
      </p:pic>
      <p:sp>
        <p:nvSpPr>
          <p:cNvPr id="10" name="TextBox 9">
            <a:extLst>
              <a:ext uri="{FF2B5EF4-FFF2-40B4-BE49-F238E27FC236}">
                <a16:creationId xmlns:a16="http://schemas.microsoft.com/office/drawing/2014/main" id="{7A03DAB7-9176-818F-F470-2CDD9A89FE47}"/>
              </a:ext>
            </a:extLst>
          </p:cNvPr>
          <p:cNvSpPr txBox="1"/>
          <p:nvPr/>
        </p:nvSpPr>
        <p:spPr>
          <a:xfrm>
            <a:off x="9296400" y="2705100"/>
            <a:ext cx="7772400" cy="2677656"/>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chemeClr val="bg1"/>
                </a:solidFill>
              </a:rPr>
              <a:t>Industry standard is 7-8%</a:t>
            </a:r>
          </a:p>
          <a:p>
            <a:pPr marL="457200" indent="-457200">
              <a:buFont typeface="Arial" panose="020B0604020202020204" pitchFamily="34" charset="0"/>
              <a:buChar char="•"/>
            </a:pPr>
            <a:endParaRPr lang="en-US" sz="2800" dirty="0">
              <a:solidFill>
                <a:schemeClr val="bg1"/>
              </a:solidFill>
            </a:endParaRPr>
          </a:p>
          <a:p>
            <a:endParaRPr lang="en-US" sz="2800" dirty="0">
              <a:solidFill>
                <a:schemeClr val="bg1"/>
              </a:solidFill>
            </a:endParaRPr>
          </a:p>
          <a:p>
            <a:pPr marL="457200" indent="-457200">
              <a:buFont typeface="Arial" panose="020B0604020202020204" pitchFamily="34" charset="0"/>
              <a:buChar char="•"/>
            </a:pPr>
            <a:r>
              <a:rPr lang="en-US" sz="2800" dirty="0">
                <a:solidFill>
                  <a:schemeClr val="bg1"/>
                </a:solidFill>
              </a:rPr>
              <a:t>Low raw beta because of locked in revenue</a:t>
            </a:r>
          </a:p>
          <a:p>
            <a:pPr marL="457200" indent="-457200">
              <a:buFont typeface="Arial" panose="020B0604020202020204" pitchFamily="34" charset="0"/>
              <a:buChar char="•"/>
            </a:pPr>
            <a:endParaRPr lang="en-US" sz="2800" dirty="0">
              <a:solidFill>
                <a:schemeClr val="bg1"/>
              </a:solidFill>
            </a:endParaRPr>
          </a:p>
          <a:p>
            <a:pPr marL="457200"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63051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ED53D-B6A2-1E49-D5A1-E168667D64A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1B3EB0E-44D9-D7A9-367B-FA8AE1BB31F9}"/>
              </a:ext>
            </a:extLst>
          </p:cNvPr>
          <p:cNvSpPr/>
          <p:nvPr/>
        </p:nvSpPr>
        <p:spPr>
          <a:xfrm>
            <a:off x="-1" y="-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3228" t="-35818" r="-11439"/>
            </a:stretch>
          </a:blipFill>
        </p:spPr>
        <p:txBody>
          <a:bodyPr/>
          <a:lstStyle/>
          <a:p>
            <a:endParaRPr lang="en-US" dirty="0"/>
          </a:p>
        </p:txBody>
      </p:sp>
      <p:sp>
        <p:nvSpPr>
          <p:cNvPr id="6" name="TextBox 6">
            <a:extLst>
              <a:ext uri="{FF2B5EF4-FFF2-40B4-BE49-F238E27FC236}">
                <a16:creationId xmlns:a16="http://schemas.microsoft.com/office/drawing/2014/main" id="{BD279D58-2243-40D2-5ADF-1F5B6E6E9DE2}"/>
              </a:ext>
            </a:extLst>
          </p:cNvPr>
          <p:cNvSpPr txBox="1"/>
          <p:nvPr/>
        </p:nvSpPr>
        <p:spPr>
          <a:xfrm>
            <a:off x="1921912" y="633304"/>
            <a:ext cx="14444177" cy="1264320"/>
          </a:xfrm>
          <a:prstGeom prst="rect">
            <a:avLst/>
          </a:prstGeom>
        </p:spPr>
        <p:txBody>
          <a:bodyPr lIns="0" tIns="0" rIns="0" bIns="0" rtlCol="0" anchor="t">
            <a:spAutoFit/>
          </a:bodyPr>
          <a:lstStyle/>
          <a:p>
            <a:pPr marL="0" lvl="0" indent="0" algn="ctr">
              <a:lnSpc>
                <a:spcPts val="10907"/>
              </a:lnSpc>
            </a:pPr>
            <a:r>
              <a:rPr lang="en-US" sz="6000" b="1" spc="-770" dirty="0">
                <a:solidFill>
                  <a:srgbClr val="FFFFFF"/>
                </a:solidFill>
                <a:latin typeface="Atkinson Hyperlegible Bold"/>
                <a:ea typeface="Atkinson Hyperlegible Bold"/>
                <a:cs typeface="Atkinson Hyperlegible Bold"/>
                <a:sym typeface="Atkinson Hyperlegible Bold"/>
              </a:rPr>
              <a:t>DCF – Major Assumptions</a:t>
            </a:r>
          </a:p>
        </p:txBody>
      </p:sp>
      <p:sp>
        <p:nvSpPr>
          <p:cNvPr id="10" name="TextBox 9">
            <a:extLst>
              <a:ext uri="{FF2B5EF4-FFF2-40B4-BE49-F238E27FC236}">
                <a16:creationId xmlns:a16="http://schemas.microsoft.com/office/drawing/2014/main" id="{5AD4EAE3-2C8B-2D3A-F96C-F0145FEA1C80}"/>
              </a:ext>
            </a:extLst>
          </p:cNvPr>
          <p:cNvSpPr txBox="1"/>
          <p:nvPr/>
        </p:nvSpPr>
        <p:spPr>
          <a:xfrm>
            <a:off x="1257299" y="2324100"/>
            <a:ext cx="15773400" cy="8463855"/>
          </a:xfrm>
          <a:prstGeom prst="rect">
            <a:avLst/>
          </a:prstGeom>
          <a:noFill/>
        </p:spPr>
        <p:txBody>
          <a:bodyPr wrap="square" rtlCol="0">
            <a:spAutoFit/>
          </a:bodyPr>
          <a:lstStyle/>
          <a:p>
            <a:pPr marL="285750" indent="-285750">
              <a:buFont typeface="Arial" panose="020B0604020202020204" pitchFamily="34" charset="0"/>
              <a:buChar char="•"/>
            </a:pPr>
            <a:r>
              <a:rPr lang="en-US" sz="3200" dirty="0">
                <a:solidFill>
                  <a:schemeClr val="bg1"/>
                </a:solidFill>
              </a:rPr>
              <a:t>Capital expenditures grow from $2.0B in 2021 to a projected $4.7B by 2030 (3.8% forecasted growth)</a:t>
            </a:r>
          </a:p>
          <a:p>
            <a:pPr marL="285750" indent="-285750">
              <a:buFont typeface="Arial" panose="020B0604020202020204" pitchFamily="34" charset="0"/>
              <a:buChar char="•"/>
            </a:pPr>
            <a:endParaRPr lang="en-US" sz="3200" dirty="0">
              <a:solidFill>
                <a:schemeClr val="bg1"/>
              </a:solidFill>
            </a:endParaRPr>
          </a:p>
          <a:p>
            <a:pPr marL="285750" indent="-285750">
              <a:buFont typeface="Arial" panose="020B0604020202020204" pitchFamily="34" charset="0"/>
              <a:buChar char="•"/>
            </a:pPr>
            <a:r>
              <a:rPr lang="en-US" sz="3200" dirty="0">
                <a:solidFill>
                  <a:schemeClr val="bg1"/>
                </a:solidFill>
              </a:rPr>
              <a:t>Inventories nearly triple from $9.4B to $23.4B from 2021 to 2030</a:t>
            </a:r>
          </a:p>
          <a:p>
            <a:pPr marL="285750" indent="-285750">
              <a:buFont typeface="Arial" panose="020B0604020202020204" pitchFamily="34" charset="0"/>
              <a:buChar char="•"/>
            </a:pPr>
            <a:endParaRPr lang="en-US" sz="3200" dirty="0">
              <a:solidFill>
                <a:schemeClr val="bg1"/>
              </a:solidFill>
            </a:endParaRPr>
          </a:p>
          <a:p>
            <a:pPr marL="285750" indent="-285750">
              <a:buFont typeface="Arial" panose="020B0604020202020204" pitchFamily="34" charset="0"/>
              <a:buChar char="•"/>
            </a:pPr>
            <a:r>
              <a:rPr lang="en-US" sz="3200" dirty="0">
                <a:solidFill>
                  <a:schemeClr val="bg1"/>
                </a:solidFill>
              </a:rPr>
              <a:t>Accounts payable more than doubles from $21B to $44.9B </a:t>
            </a:r>
          </a:p>
          <a:p>
            <a:pPr marL="285750" indent="-285750">
              <a:buFont typeface="Arial" panose="020B0604020202020204" pitchFamily="34" charset="0"/>
              <a:buChar char="•"/>
            </a:pPr>
            <a:r>
              <a:rPr lang="en-US" sz="3200" dirty="0">
                <a:solidFill>
                  <a:schemeClr val="bg1"/>
                </a:solidFill>
              </a:rPr>
              <a:t>Capex, Inventories, and Accounts payable </a:t>
            </a:r>
            <a:r>
              <a:rPr lang="en-US" sz="3200" dirty="0">
                <a:solidFill>
                  <a:schemeClr val="bg1"/>
                </a:solidFill>
                <a:sym typeface="Wingdings" pitchFamily="2" charset="2"/>
              </a:rPr>
              <a:t> % of revenue</a:t>
            </a:r>
            <a:endParaRPr lang="en-US" sz="3200" dirty="0">
              <a:solidFill>
                <a:schemeClr val="bg1"/>
              </a:solidFill>
            </a:endParaRPr>
          </a:p>
          <a:p>
            <a:r>
              <a:rPr lang="en-US" sz="3200" dirty="0">
                <a:solidFill>
                  <a:schemeClr val="bg1"/>
                </a:solidFill>
              </a:rPr>
              <a:t>Bottom line: </a:t>
            </a:r>
          </a:p>
          <a:p>
            <a:pPr marL="285750" indent="-285750">
              <a:buFont typeface="Arial" panose="020B0604020202020204" pitchFamily="34" charset="0"/>
              <a:buChar char="•"/>
            </a:pPr>
            <a:r>
              <a:rPr lang="en-US" sz="3200" dirty="0">
                <a:solidFill>
                  <a:schemeClr val="bg1"/>
                </a:solidFill>
              </a:rPr>
              <a:t>RTX is in active production ramp mode absorbing significant capital upfront.</a:t>
            </a:r>
          </a:p>
          <a:p>
            <a:pPr marL="285750" indent="-285750">
              <a:buFont typeface="Arial" panose="020B0604020202020204" pitchFamily="34" charset="0"/>
              <a:buChar char="•"/>
            </a:pPr>
            <a:endParaRPr lang="en-US" sz="3200" dirty="0">
              <a:solidFill>
                <a:schemeClr val="bg1"/>
              </a:solidFill>
            </a:endParaRPr>
          </a:p>
          <a:p>
            <a:pPr marL="285750" indent="-285750">
              <a:buFont typeface="Arial" panose="020B0604020202020204" pitchFamily="34" charset="0"/>
              <a:buChar char="•"/>
            </a:pPr>
            <a:r>
              <a:rPr lang="en-US" sz="3200" dirty="0">
                <a:solidFill>
                  <a:schemeClr val="bg1"/>
                </a:solidFill>
              </a:rPr>
              <a:t>Tax rate rate 21%</a:t>
            </a:r>
          </a:p>
          <a:p>
            <a:pPr marL="285750" indent="-285750">
              <a:buFont typeface="Arial" panose="020B0604020202020204" pitchFamily="34" charset="0"/>
              <a:buChar char="•"/>
            </a:pPr>
            <a:endParaRPr lang="en-US" sz="3200" dirty="0">
              <a:solidFill>
                <a:schemeClr val="bg1"/>
              </a:solidFill>
            </a:endParaRPr>
          </a:p>
          <a:p>
            <a:pPr marL="285750" indent="-285750">
              <a:buFont typeface="Arial" panose="020B0604020202020204" pitchFamily="34" charset="0"/>
              <a:buChar char="•"/>
            </a:pPr>
            <a:r>
              <a:rPr lang="en-US" sz="3200" dirty="0">
                <a:solidFill>
                  <a:schemeClr val="bg1"/>
                </a:solidFill>
              </a:rPr>
              <a:t>3.5% Long term growth rate </a:t>
            </a:r>
          </a:p>
          <a:p>
            <a:pPr marL="285750" indent="-285750">
              <a:buFont typeface="Arial" panose="020B0604020202020204" pitchFamily="34" charset="0"/>
              <a:buChar char="•"/>
            </a:pPr>
            <a:endParaRPr lang="en-US" sz="3200" dirty="0">
              <a:solidFill>
                <a:schemeClr val="bg1"/>
              </a:solidFill>
            </a:endParaRPr>
          </a:p>
          <a:p>
            <a:pPr marL="285750" indent="-285750">
              <a:buFont typeface="Arial" panose="020B0604020202020204" pitchFamily="34" charset="0"/>
              <a:buChar char="•"/>
            </a:pPr>
            <a:r>
              <a:rPr lang="en-US" sz="3200" dirty="0">
                <a:solidFill>
                  <a:schemeClr val="bg1"/>
                </a:solidFill>
              </a:rPr>
              <a:t>Revenue Growth: 7.79%		EBIT Margin: 9.31%  both found with geometric average</a:t>
            </a:r>
          </a:p>
          <a:p>
            <a:pPr marL="285750" indent="-285750">
              <a:buFont typeface="Arial" panose="020B0604020202020204" pitchFamily="34" charset="0"/>
              <a:buChar char="•"/>
            </a:pPr>
            <a:endParaRPr lang="en-US" sz="3200" dirty="0">
              <a:solidFill>
                <a:schemeClr val="bg1"/>
              </a:solidFill>
            </a:endParaRPr>
          </a:p>
          <a:p>
            <a:pPr marL="285750" indent="-285750">
              <a:buFont typeface="Arial" panose="020B0604020202020204" pitchFamily="34" charset="0"/>
              <a:buChar char="•"/>
            </a:pPr>
            <a:endParaRPr lang="en-US" sz="3200" dirty="0">
              <a:solidFill>
                <a:schemeClr val="bg1"/>
              </a:solidFill>
            </a:endParaRPr>
          </a:p>
        </p:txBody>
      </p:sp>
    </p:spTree>
    <p:extLst>
      <p:ext uri="{BB962C8B-B14F-4D97-AF65-F5344CB8AC3E}">
        <p14:creationId xmlns:p14="http://schemas.microsoft.com/office/powerpoint/2010/main" val="1919739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6F365-B7C3-8454-C2B1-B9DC32C44B7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FD63829-ED71-9592-A24E-14BD4CB7832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3228" t="-35818" r="-11439"/>
            </a:stretch>
          </a:blipFill>
        </p:spPr>
        <p:txBody>
          <a:bodyPr/>
          <a:lstStyle/>
          <a:p>
            <a:endParaRPr lang="en-US"/>
          </a:p>
        </p:txBody>
      </p:sp>
      <p:grpSp>
        <p:nvGrpSpPr>
          <p:cNvPr id="3" name="Group 3">
            <a:extLst>
              <a:ext uri="{FF2B5EF4-FFF2-40B4-BE49-F238E27FC236}">
                <a16:creationId xmlns:a16="http://schemas.microsoft.com/office/drawing/2014/main" id="{A27C42CF-BEF9-03B6-8384-A2576D5922BD}"/>
              </a:ext>
            </a:extLst>
          </p:cNvPr>
          <p:cNvGrpSpPr/>
          <p:nvPr/>
        </p:nvGrpSpPr>
        <p:grpSpPr>
          <a:xfrm rot="5400000">
            <a:off x="4479117" y="1219103"/>
            <a:ext cx="9329765" cy="8948959"/>
            <a:chOff x="0" y="0"/>
            <a:chExt cx="622300" cy="596900"/>
          </a:xfrm>
        </p:grpSpPr>
        <p:sp>
          <p:nvSpPr>
            <p:cNvPr id="4" name="Freeform 4">
              <a:extLst>
                <a:ext uri="{FF2B5EF4-FFF2-40B4-BE49-F238E27FC236}">
                  <a16:creationId xmlns:a16="http://schemas.microsoft.com/office/drawing/2014/main" id="{A08F2456-423F-D6A0-9A57-074EBD425F85}"/>
                </a:ext>
              </a:extLst>
            </p:cNvPr>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txBody>
            <a:bodyPr/>
            <a:lstStyle/>
            <a:p>
              <a:endParaRPr lang="en-US"/>
            </a:p>
          </p:txBody>
        </p:sp>
        <p:sp>
          <p:nvSpPr>
            <p:cNvPr id="5" name="TextBox 5">
              <a:extLst>
                <a:ext uri="{FF2B5EF4-FFF2-40B4-BE49-F238E27FC236}">
                  <a16:creationId xmlns:a16="http://schemas.microsoft.com/office/drawing/2014/main" id="{5C386008-FDA9-E5B3-15F4-8DC5124AC29D}"/>
                </a:ext>
              </a:extLst>
            </p:cNvPr>
            <p:cNvSpPr txBox="1"/>
            <p:nvPr/>
          </p:nvSpPr>
          <p:spPr>
            <a:xfrm>
              <a:off x="0" y="174625"/>
              <a:ext cx="622300" cy="295275"/>
            </a:xfrm>
            <a:prstGeom prst="rect">
              <a:avLst/>
            </a:prstGeom>
          </p:spPr>
          <p:txBody>
            <a:bodyPr lIns="50800" tIns="50800" rIns="50800" bIns="50800" rtlCol="0" anchor="ctr"/>
            <a:lstStyle/>
            <a:p>
              <a:pPr algn="ctr">
                <a:lnSpc>
                  <a:spcPts val="1800"/>
                </a:lnSpc>
              </a:pPr>
              <a:endParaRPr/>
            </a:p>
          </p:txBody>
        </p:sp>
      </p:grpSp>
      <p:grpSp>
        <p:nvGrpSpPr>
          <p:cNvPr id="6" name="Group 6">
            <a:extLst>
              <a:ext uri="{FF2B5EF4-FFF2-40B4-BE49-F238E27FC236}">
                <a16:creationId xmlns:a16="http://schemas.microsoft.com/office/drawing/2014/main" id="{6F958FFD-4C88-5140-C909-E3553A8AD7CC}"/>
              </a:ext>
            </a:extLst>
          </p:cNvPr>
          <p:cNvGrpSpPr/>
          <p:nvPr/>
        </p:nvGrpSpPr>
        <p:grpSpPr>
          <a:xfrm rot="5400000">
            <a:off x="12945683" y="6409665"/>
            <a:ext cx="9329765" cy="8948959"/>
            <a:chOff x="0" y="0"/>
            <a:chExt cx="622300" cy="596900"/>
          </a:xfrm>
        </p:grpSpPr>
        <p:sp>
          <p:nvSpPr>
            <p:cNvPr id="7" name="Freeform 7">
              <a:extLst>
                <a:ext uri="{FF2B5EF4-FFF2-40B4-BE49-F238E27FC236}">
                  <a16:creationId xmlns:a16="http://schemas.microsoft.com/office/drawing/2014/main" id="{8AAE09E6-A893-65DC-0832-1885EF8B0C22}"/>
                </a:ext>
              </a:extLst>
            </p:cNvPr>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txBody>
            <a:bodyPr/>
            <a:lstStyle/>
            <a:p>
              <a:endParaRPr lang="en-US"/>
            </a:p>
          </p:txBody>
        </p:sp>
        <p:sp>
          <p:nvSpPr>
            <p:cNvPr id="8" name="TextBox 8">
              <a:extLst>
                <a:ext uri="{FF2B5EF4-FFF2-40B4-BE49-F238E27FC236}">
                  <a16:creationId xmlns:a16="http://schemas.microsoft.com/office/drawing/2014/main" id="{2C71E96A-FA12-E614-5CDF-7D23578D0871}"/>
                </a:ext>
              </a:extLst>
            </p:cNvPr>
            <p:cNvSpPr txBox="1"/>
            <p:nvPr/>
          </p:nvSpPr>
          <p:spPr>
            <a:xfrm>
              <a:off x="0" y="174625"/>
              <a:ext cx="622300" cy="295275"/>
            </a:xfrm>
            <a:prstGeom prst="rect">
              <a:avLst/>
            </a:prstGeom>
          </p:spPr>
          <p:txBody>
            <a:bodyPr lIns="50800" tIns="50800" rIns="50800" bIns="50800" rtlCol="0" anchor="ctr"/>
            <a:lstStyle/>
            <a:p>
              <a:pPr algn="ctr">
                <a:lnSpc>
                  <a:spcPts val="1800"/>
                </a:lnSpc>
              </a:pPr>
              <a:endParaRPr/>
            </a:p>
          </p:txBody>
        </p:sp>
      </p:grpSp>
      <p:grpSp>
        <p:nvGrpSpPr>
          <p:cNvPr id="9" name="Group 9">
            <a:extLst>
              <a:ext uri="{FF2B5EF4-FFF2-40B4-BE49-F238E27FC236}">
                <a16:creationId xmlns:a16="http://schemas.microsoft.com/office/drawing/2014/main" id="{461984F4-5D9D-E90E-C072-6DD4EBAC6B26}"/>
              </a:ext>
            </a:extLst>
          </p:cNvPr>
          <p:cNvGrpSpPr/>
          <p:nvPr/>
        </p:nvGrpSpPr>
        <p:grpSpPr>
          <a:xfrm rot="5400000">
            <a:off x="-3987448" y="6409665"/>
            <a:ext cx="9329765" cy="8948959"/>
            <a:chOff x="0" y="0"/>
            <a:chExt cx="622300" cy="596900"/>
          </a:xfrm>
        </p:grpSpPr>
        <p:sp>
          <p:nvSpPr>
            <p:cNvPr id="10" name="Freeform 10">
              <a:extLst>
                <a:ext uri="{FF2B5EF4-FFF2-40B4-BE49-F238E27FC236}">
                  <a16:creationId xmlns:a16="http://schemas.microsoft.com/office/drawing/2014/main" id="{E064B8F2-F2CF-5E07-5337-6F7CE24C0ECD}"/>
                </a:ext>
              </a:extLst>
            </p:cNvPr>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txBody>
            <a:bodyPr/>
            <a:lstStyle/>
            <a:p>
              <a:endParaRPr lang="en-US"/>
            </a:p>
          </p:txBody>
        </p:sp>
        <p:sp>
          <p:nvSpPr>
            <p:cNvPr id="11" name="TextBox 11">
              <a:extLst>
                <a:ext uri="{FF2B5EF4-FFF2-40B4-BE49-F238E27FC236}">
                  <a16:creationId xmlns:a16="http://schemas.microsoft.com/office/drawing/2014/main" id="{937221A1-1A9C-1B31-39DF-BDB7FFCE2885}"/>
                </a:ext>
              </a:extLst>
            </p:cNvPr>
            <p:cNvSpPr txBox="1"/>
            <p:nvPr/>
          </p:nvSpPr>
          <p:spPr>
            <a:xfrm>
              <a:off x="0" y="174625"/>
              <a:ext cx="622300" cy="295275"/>
            </a:xfrm>
            <a:prstGeom prst="rect">
              <a:avLst/>
            </a:prstGeom>
          </p:spPr>
          <p:txBody>
            <a:bodyPr lIns="50800" tIns="50800" rIns="50800" bIns="50800" rtlCol="0" anchor="ctr"/>
            <a:lstStyle/>
            <a:p>
              <a:pPr algn="ctr">
                <a:lnSpc>
                  <a:spcPts val="1800"/>
                </a:lnSpc>
              </a:pPr>
              <a:endParaRPr/>
            </a:p>
          </p:txBody>
        </p:sp>
      </p:grpSp>
      <p:sp>
        <p:nvSpPr>
          <p:cNvPr id="13" name="TextBox 13">
            <a:extLst>
              <a:ext uri="{FF2B5EF4-FFF2-40B4-BE49-F238E27FC236}">
                <a16:creationId xmlns:a16="http://schemas.microsoft.com/office/drawing/2014/main" id="{57E43628-9F01-914C-9EEC-7CCA802C7BF8}"/>
              </a:ext>
            </a:extLst>
          </p:cNvPr>
          <p:cNvSpPr txBox="1"/>
          <p:nvPr/>
        </p:nvSpPr>
        <p:spPr>
          <a:xfrm>
            <a:off x="1296346" y="441659"/>
            <a:ext cx="15695308" cy="2872838"/>
          </a:xfrm>
          <a:prstGeom prst="rect">
            <a:avLst/>
          </a:prstGeom>
        </p:spPr>
        <p:txBody>
          <a:bodyPr lIns="0" tIns="0" rIns="0" bIns="0" rtlCol="0" anchor="t">
            <a:spAutoFit/>
          </a:bodyPr>
          <a:lstStyle/>
          <a:p>
            <a:pPr lvl="0" algn="ctr">
              <a:lnSpc>
                <a:spcPts val="10907"/>
              </a:lnSpc>
            </a:pPr>
            <a:r>
              <a:rPr lang="en-US" sz="11856" b="1" spc="-770" dirty="0">
                <a:solidFill>
                  <a:srgbClr val="FFFFFF"/>
                </a:solidFill>
                <a:latin typeface="Atkinson Hyperlegible Bold"/>
                <a:ea typeface="Atkinson Hyperlegible Bold"/>
                <a:cs typeface="Atkinson Hyperlegible Bold"/>
                <a:sym typeface="Atkinson Hyperlegible Bold"/>
              </a:rPr>
              <a:t>Revenue/Revenue Growth</a:t>
            </a:r>
          </a:p>
        </p:txBody>
      </p:sp>
      <p:pic>
        <p:nvPicPr>
          <p:cNvPr id="15" name="Picture 14" descr="A graph with a line going up&#10;&#10;AI-generated content may be incorrect.">
            <a:extLst>
              <a:ext uri="{FF2B5EF4-FFF2-40B4-BE49-F238E27FC236}">
                <a16:creationId xmlns:a16="http://schemas.microsoft.com/office/drawing/2014/main" id="{454E3987-F915-2F86-6156-A459D8C368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4247" y="3965012"/>
            <a:ext cx="7404100" cy="4508500"/>
          </a:xfrm>
          <a:prstGeom prst="rect">
            <a:avLst/>
          </a:prstGeom>
        </p:spPr>
      </p:pic>
      <p:pic>
        <p:nvPicPr>
          <p:cNvPr id="17" name="Picture 16" descr="A graph showing the growth of a company&#10;&#10;AI-generated content may be incorrect.">
            <a:extLst>
              <a:ext uri="{FF2B5EF4-FFF2-40B4-BE49-F238E27FC236}">
                <a16:creationId xmlns:a16="http://schemas.microsoft.com/office/drawing/2014/main" id="{CF18F45F-A9A0-43D7-BDCC-B091ECFD28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35153" y="3969442"/>
            <a:ext cx="7556500" cy="4508500"/>
          </a:xfrm>
          <a:prstGeom prst="rect">
            <a:avLst/>
          </a:prstGeom>
        </p:spPr>
      </p:pic>
    </p:spTree>
    <p:extLst>
      <p:ext uri="{BB962C8B-B14F-4D97-AF65-F5344CB8AC3E}">
        <p14:creationId xmlns:p14="http://schemas.microsoft.com/office/powerpoint/2010/main" val="1613038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D025C-CA79-6745-B0AD-BE07D45770E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A88D1CC-4556-39E0-36C1-B3F87B91154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3228" t="-35818" r="-11439"/>
            </a:stretch>
          </a:blipFill>
        </p:spPr>
        <p:txBody>
          <a:bodyPr/>
          <a:lstStyle/>
          <a:p>
            <a:endParaRPr lang="en-US"/>
          </a:p>
        </p:txBody>
      </p:sp>
      <p:grpSp>
        <p:nvGrpSpPr>
          <p:cNvPr id="6" name="Group 6">
            <a:extLst>
              <a:ext uri="{FF2B5EF4-FFF2-40B4-BE49-F238E27FC236}">
                <a16:creationId xmlns:a16="http://schemas.microsoft.com/office/drawing/2014/main" id="{7FF75F55-DB2E-B632-0DA1-65CA69A4CEC2}"/>
              </a:ext>
            </a:extLst>
          </p:cNvPr>
          <p:cNvGrpSpPr/>
          <p:nvPr/>
        </p:nvGrpSpPr>
        <p:grpSpPr>
          <a:xfrm rot="5400000">
            <a:off x="12945683" y="6409665"/>
            <a:ext cx="9329765" cy="8948959"/>
            <a:chOff x="0" y="0"/>
            <a:chExt cx="622300" cy="596900"/>
          </a:xfrm>
        </p:grpSpPr>
        <p:sp>
          <p:nvSpPr>
            <p:cNvPr id="7" name="Freeform 7">
              <a:extLst>
                <a:ext uri="{FF2B5EF4-FFF2-40B4-BE49-F238E27FC236}">
                  <a16:creationId xmlns:a16="http://schemas.microsoft.com/office/drawing/2014/main" id="{6F95E654-0E6C-5749-8818-4C2D0E1D9BD6}"/>
                </a:ext>
              </a:extLst>
            </p:cNvPr>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txBody>
            <a:bodyPr/>
            <a:lstStyle/>
            <a:p>
              <a:endParaRPr lang="en-US"/>
            </a:p>
          </p:txBody>
        </p:sp>
        <p:sp>
          <p:nvSpPr>
            <p:cNvPr id="8" name="TextBox 8">
              <a:extLst>
                <a:ext uri="{FF2B5EF4-FFF2-40B4-BE49-F238E27FC236}">
                  <a16:creationId xmlns:a16="http://schemas.microsoft.com/office/drawing/2014/main" id="{952B008D-0C41-13C2-10FF-67C181227AE4}"/>
                </a:ext>
              </a:extLst>
            </p:cNvPr>
            <p:cNvSpPr txBox="1"/>
            <p:nvPr/>
          </p:nvSpPr>
          <p:spPr>
            <a:xfrm>
              <a:off x="0" y="174625"/>
              <a:ext cx="622300" cy="295275"/>
            </a:xfrm>
            <a:prstGeom prst="rect">
              <a:avLst/>
            </a:prstGeom>
          </p:spPr>
          <p:txBody>
            <a:bodyPr lIns="50800" tIns="50800" rIns="50800" bIns="50800" rtlCol="0" anchor="ctr"/>
            <a:lstStyle/>
            <a:p>
              <a:pPr algn="ctr">
                <a:lnSpc>
                  <a:spcPts val="1800"/>
                </a:lnSpc>
              </a:pPr>
              <a:endParaRPr/>
            </a:p>
          </p:txBody>
        </p:sp>
      </p:grpSp>
      <p:grpSp>
        <p:nvGrpSpPr>
          <p:cNvPr id="9" name="Group 9">
            <a:extLst>
              <a:ext uri="{FF2B5EF4-FFF2-40B4-BE49-F238E27FC236}">
                <a16:creationId xmlns:a16="http://schemas.microsoft.com/office/drawing/2014/main" id="{D039D09D-A652-430C-212D-4A51FCC486FF}"/>
              </a:ext>
            </a:extLst>
          </p:cNvPr>
          <p:cNvGrpSpPr/>
          <p:nvPr/>
        </p:nvGrpSpPr>
        <p:grpSpPr>
          <a:xfrm rot="5400000">
            <a:off x="-3987448" y="6409665"/>
            <a:ext cx="9329765" cy="8948959"/>
            <a:chOff x="0" y="0"/>
            <a:chExt cx="622300" cy="596900"/>
          </a:xfrm>
        </p:grpSpPr>
        <p:sp>
          <p:nvSpPr>
            <p:cNvPr id="10" name="Freeform 10">
              <a:extLst>
                <a:ext uri="{FF2B5EF4-FFF2-40B4-BE49-F238E27FC236}">
                  <a16:creationId xmlns:a16="http://schemas.microsoft.com/office/drawing/2014/main" id="{777C7DFA-7564-BF09-A8FE-0E4BE6FBB91E}"/>
                </a:ext>
              </a:extLst>
            </p:cNvPr>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txBody>
            <a:bodyPr/>
            <a:lstStyle/>
            <a:p>
              <a:endParaRPr lang="en-US"/>
            </a:p>
          </p:txBody>
        </p:sp>
        <p:sp>
          <p:nvSpPr>
            <p:cNvPr id="11" name="TextBox 11">
              <a:extLst>
                <a:ext uri="{FF2B5EF4-FFF2-40B4-BE49-F238E27FC236}">
                  <a16:creationId xmlns:a16="http://schemas.microsoft.com/office/drawing/2014/main" id="{2E59F6A8-AB2C-1BB6-4AC6-A7E311E2F40F}"/>
                </a:ext>
              </a:extLst>
            </p:cNvPr>
            <p:cNvSpPr txBox="1"/>
            <p:nvPr/>
          </p:nvSpPr>
          <p:spPr>
            <a:xfrm>
              <a:off x="0" y="174625"/>
              <a:ext cx="622300" cy="295275"/>
            </a:xfrm>
            <a:prstGeom prst="rect">
              <a:avLst/>
            </a:prstGeom>
          </p:spPr>
          <p:txBody>
            <a:bodyPr lIns="50800" tIns="50800" rIns="50800" bIns="50800" rtlCol="0" anchor="ctr"/>
            <a:lstStyle/>
            <a:p>
              <a:pPr algn="ctr">
                <a:lnSpc>
                  <a:spcPts val="1800"/>
                </a:lnSpc>
              </a:pPr>
              <a:endParaRPr/>
            </a:p>
          </p:txBody>
        </p:sp>
      </p:grpSp>
      <p:sp>
        <p:nvSpPr>
          <p:cNvPr id="13" name="TextBox 13">
            <a:extLst>
              <a:ext uri="{FF2B5EF4-FFF2-40B4-BE49-F238E27FC236}">
                <a16:creationId xmlns:a16="http://schemas.microsoft.com/office/drawing/2014/main" id="{81E08861-8BBE-876A-484D-820CF9534BA0}"/>
              </a:ext>
            </a:extLst>
          </p:cNvPr>
          <p:cNvSpPr txBox="1"/>
          <p:nvPr/>
        </p:nvSpPr>
        <p:spPr>
          <a:xfrm>
            <a:off x="1296346" y="441659"/>
            <a:ext cx="15695308" cy="1475019"/>
          </a:xfrm>
          <a:prstGeom prst="rect">
            <a:avLst/>
          </a:prstGeom>
        </p:spPr>
        <p:txBody>
          <a:bodyPr lIns="0" tIns="0" rIns="0" bIns="0" rtlCol="0" anchor="t">
            <a:spAutoFit/>
          </a:bodyPr>
          <a:lstStyle/>
          <a:p>
            <a:pPr lvl="0" algn="ctr">
              <a:lnSpc>
                <a:spcPts val="10907"/>
              </a:lnSpc>
            </a:pPr>
            <a:r>
              <a:rPr lang="en-US" sz="11856" b="1" spc="-770" dirty="0">
                <a:solidFill>
                  <a:srgbClr val="FFFFFF"/>
                </a:solidFill>
                <a:latin typeface="Atkinson Hyperlegible Bold"/>
                <a:ea typeface="Atkinson Hyperlegible Bold"/>
                <a:cs typeface="Atkinson Hyperlegible Bold"/>
                <a:sym typeface="Atkinson Hyperlegible Bold"/>
              </a:rPr>
              <a:t>EBIT Margin</a:t>
            </a:r>
          </a:p>
        </p:txBody>
      </p:sp>
      <p:pic>
        <p:nvPicPr>
          <p:cNvPr id="16" name="Picture 15" descr="A graph with a line and numbers&#10;&#10;AI-generated content may be incorrect.">
            <a:extLst>
              <a:ext uri="{FF2B5EF4-FFF2-40B4-BE49-F238E27FC236}">
                <a16:creationId xmlns:a16="http://schemas.microsoft.com/office/drawing/2014/main" id="{594354B6-BF1A-960F-DEBB-4188EBB843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563" y="3007089"/>
            <a:ext cx="8255000" cy="4953000"/>
          </a:xfrm>
          <a:prstGeom prst="rect">
            <a:avLst/>
          </a:prstGeom>
        </p:spPr>
      </p:pic>
      <p:pic>
        <p:nvPicPr>
          <p:cNvPr id="18" name="Picture 17" descr="A graph with a line going up&#10;&#10;AI-generated content may be incorrect.">
            <a:extLst>
              <a:ext uri="{FF2B5EF4-FFF2-40B4-BE49-F238E27FC236}">
                <a16:creationId xmlns:a16="http://schemas.microsoft.com/office/drawing/2014/main" id="{598367AB-03C9-F312-35D9-C3FB54D683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67725" y="3043417"/>
            <a:ext cx="8301508" cy="4953000"/>
          </a:xfrm>
          <a:prstGeom prst="rect">
            <a:avLst/>
          </a:prstGeom>
        </p:spPr>
      </p:pic>
    </p:spTree>
    <p:extLst>
      <p:ext uri="{BB962C8B-B14F-4D97-AF65-F5344CB8AC3E}">
        <p14:creationId xmlns:p14="http://schemas.microsoft.com/office/powerpoint/2010/main" val="1664459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E90E2-07CA-F0DD-2921-D983EF90B66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F8E3238-8EE0-5D12-3986-B0D6FB6B6C47}"/>
              </a:ext>
            </a:extLst>
          </p:cNvPr>
          <p:cNvSpPr/>
          <p:nvPr/>
        </p:nvSpPr>
        <p:spPr>
          <a:xfrm>
            <a:off x="-8965" y="1120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3228" t="-35818" r="-11439"/>
            </a:stretch>
          </a:blipFill>
        </p:spPr>
        <p:txBody>
          <a:bodyPr/>
          <a:lstStyle/>
          <a:p>
            <a:endParaRPr lang="en-US"/>
          </a:p>
        </p:txBody>
      </p:sp>
      <p:sp>
        <p:nvSpPr>
          <p:cNvPr id="13" name="TextBox 13">
            <a:extLst>
              <a:ext uri="{FF2B5EF4-FFF2-40B4-BE49-F238E27FC236}">
                <a16:creationId xmlns:a16="http://schemas.microsoft.com/office/drawing/2014/main" id="{4A568695-001A-7B72-8398-147C82687623}"/>
              </a:ext>
            </a:extLst>
          </p:cNvPr>
          <p:cNvSpPr txBox="1"/>
          <p:nvPr/>
        </p:nvSpPr>
        <p:spPr>
          <a:xfrm>
            <a:off x="1296346" y="441659"/>
            <a:ext cx="15695308" cy="1488407"/>
          </a:xfrm>
          <a:prstGeom prst="rect">
            <a:avLst/>
          </a:prstGeom>
        </p:spPr>
        <p:txBody>
          <a:bodyPr lIns="0" tIns="0" rIns="0" bIns="0" rtlCol="0" anchor="t">
            <a:spAutoFit/>
          </a:bodyPr>
          <a:lstStyle/>
          <a:p>
            <a:pPr marL="0" lvl="0" indent="0" algn="ctr">
              <a:lnSpc>
                <a:spcPts val="10907"/>
              </a:lnSpc>
            </a:pPr>
            <a:r>
              <a:rPr lang="en-US" sz="11856" b="1" spc="-770" dirty="0">
                <a:solidFill>
                  <a:srgbClr val="FFFFFF"/>
                </a:solidFill>
                <a:latin typeface="Atkinson Hyperlegible Bold"/>
                <a:ea typeface="Atkinson Hyperlegible Bold"/>
                <a:cs typeface="Atkinson Hyperlegible Bold"/>
                <a:sym typeface="Atkinson Hyperlegible Bold"/>
              </a:rPr>
              <a:t>Sensitivity Analysis</a:t>
            </a:r>
          </a:p>
        </p:txBody>
      </p:sp>
      <p:sp>
        <p:nvSpPr>
          <p:cNvPr id="17" name="TextBox 16">
            <a:extLst>
              <a:ext uri="{FF2B5EF4-FFF2-40B4-BE49-F238E27FC236}">
                <a16:creationId xmlns:a16="http://schemas.microsoft.com/office/drawing/2014/main" id="{7D1E0996-5D8F-37D9-69F9-459CB885E886}"/>
              </a:ext>
            </a:extLst>
          </p:cNvPr>
          <p:cNvSpPr txBox="1"/>
          <p:nvPr/>
        </p:nvSpPr>
        <p:spPr>
          <a:xfrm>
            <a:off x="7772400" y="3314700"/>
            <a:ext cx="8686800" cy="707886"/>
          </a:xfrm>
          <a:prstGeom prst="rect">
            <a:avLst/>
          </a:prstGeom>
          <a:noFill/>
        </p:spPr>
        <p:txBody>
          <a:bodyPr wrap="square" rtlCol="0">
            <a:spAutoFit/>
          </a:bodyPr>
          <a:lstStyle/>
          <a:p>
            <a:r>
              <a:rPr lang="en-US" sz="4000" dirty="0">
                <a:solidFill>
                  <a:schemeClr val="bg1"/>
                </a:solidFill>
              </a:rPr>
              <a:t>ST Growth</a:t>
            </a:r>
          </a:p>
        </p:txBody>
      </p:sp>
      <p:sp>
        <p:nvSpPr>
          <p:cNvPr id="18" name="TextBox 17">
            <a:extLst>
              <a:ext uri="{FF2B5EF4-FFF2-40B4-BE49-F238E27FC236}">
                <a16:creationId xmlns:a16="http://schemas.microsoft.com/office/drawing/2014/main" id="{303421EC-B5C9-6BCB-811B-62934E4FC9B3}"/>
              </a:ext>
            </a:extLst>
          </p:cNvPr>
          <p:cNvSpPr txBox="1"/>
          <p:nvPr/>
        </p:nvSpPr>
        <p:spPr>
          <a:xfrm>
            <a:off x="533400" y="4610100"/>
            <a:ext cx="2209800" cy="2544693"/>
          </a:xfrm>
          <a:prstGeom prst="rect">
            <a:avLst/>
          </a:prstGeom>
          <a:noFill/>
        </p:spPr>
        <p:txBody>
          <a:bodyPr wrap="square" rtlCol="0">
            <a:spAutoFit/>
          </a:bodyPr>
          <a:lstStyle/>
          <a:p>
            <a:endParaRPr lang="en-US" dirty="0"/>
          </a:p>
        </p:txBody>
      </p:sp>
      <p:sp>
        <p:nvSpPr>
          <p:cNvPr id="19" name="TextBox 18">
            <a:extLst>
              <a:ext uri="{FF2B5EF4-FFF2-40B4-BE49-F238E27FC236}">
                <a16:creationId xmlns:a16="http://schemas.microsoft.com/office/drawing/2014/main" id="{81B7AEF6-B94D-0834-A12C-85A5BD33BCE7}"/>
              </a:ext>
            </a:extLst>
          </p:cNvPr>
          <p:cNvSpPr txBox="1"/>
          <p:nvPr/>
        </p:nvSpPr>
        <p:spPr>
          <a:xfrm>
            <a:off x="407894" y="5528503"/>
            <a:ext cx="8686800" cy="707886"/>
          </a:xfrm>
          <a:prstGeom prst="rect">
            <a:avLst/>
          </a:prstGeom>
          <a:noFill/>
        </p:spPr>
        <p:txBody>
          <a:bodyPr wrap="square" rtlCol="0">
            <a:spAutoFit/>
          </a:bodyPr>
          <a:lstStyle/>
          <a:p>
            <a:r>
              <a:rPr lang="en-US" sz="4000" dirty="0">
                <a:solidFill>
                  <a:schemeClr val="bg1"/>
                </a:solidFill>
              </a:rPr>
              <a:t>EBIT</a:t>
            </a:r>
          </a:p>
        </p:txBody>
      </p:sp>
      <p:graphicFrame>
        <p:nvGraphicFramePr>
          <p:cNvPr id="21" name="Object 20">
            <a:extLst>
              <a:ext uri="{FF2B5EF4-FFF2-40B4-BE49-F238E27FC236}">
                <a16:creationId xmlns:a16="http://schemas.microsoft.com/office/drawing/2014/main" id="{B5595CE5-EB8B-5EE0-74DF-DDBD15BCA3EF}"/>
              </a:ext>
            </a:extLst>
          </p:cNvPr>
          <p:cNvGraphicFramePr>
            <a:graphicFrameLocks noChangeAspect="1"/>
          </p:cNvGraphicFramePr>
          <p:nvPr>
            <p:extLst>
              <p:ext uri="{D42A27DB-BD31-4B8C-83A1-F6EECF244321}">
                <p14:modId xmlns:p14="http://schemas.microsoft.com/office/powerpoint/2010/main" val="3985963980"/>
              </p:ext>
            </p:extLst>
          </p:nvPr>
        </p:nvGraphicFramePr>
        <p:xfrm>
          <a:off x="2391832" y="4353800"/>
          <a:ext cx="15016827" cy="2544692"/>
        </p:xfrm>
        <a:graphic>
          <a:graphicData uri="http://schemas.openxmlformats.org/presentationml/2006/ole">
            <mc:AlternateContent xmlns:mc="http://schemas.openxmlformats.org/markup-compatibility/2006">
              <mc:Choice xmlns:v="urn:schemas-microsoft-com:vml" Requires="v">
                <p:oleObj name="Worksheet" r:id="rId4" imgW="6070600" imgH="1028700" progId="Excel.Sheet.12">
                  <p:embed/>
                </p:oleObj>
              </mc:Choice>
              <mc:Fallback>
                <p:oleObj name="Worksheet" r:id="rId4" imgW="6070600" imgH="1028700" progId="Excel.Sheet.12">
                  <p:embed/>
                  <p:pic>
                    <p:nvPicPr>
                      <p:cNvPr id="0" name=""/>
                      <p:cNvPicPr/>
                      <p:nvPr/>
                    </p:nvPicPr>
                    <p:blipFill>
                      <a:blip r:embed="rId5"/>
                      <a:stretch>
                        <a:fillRect/>
                      </a:stretch>
                    </p:blipFill>
                    <p:spPr>
                      <a:xfrm>
                        <a:off x="2391832" y="4353800"/>
                        <a:ext cx="15016827" cy="2544692"/>
                      </a:xfrm>
                      <a:prstGeom prst="rect">
                        <a:avLst/>
                      </a:prstGeom>
                    </p:spPr>
                  </p:pic>
                </p:oleObj>
              </mc:Fallback>
            </mc:AlternateContent>
          </a:graphicData>
        </a:graphic>
      </p:graphicFrame>
    </p:spTree>
    <p:extLst>
      <p:ext uri="{BB962C8B-B14F-4D97-AF65-F5344CB8AC3E}">
        <p14:creationId xmlns:p14="http://schemas.microsoft.com/office/powerpoint/2010/main" val="1121155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7FECD-5E9B-490A-D424-B3AF7BD4634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2F709E3-26F1-1F62-CEF5-2E94A02AAD8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3228" t="-35818" r="-11439"/>
            </a:stretch>
          </a:blipFill>
        </p:spPr>
        <p:txBody>
          <a:bodyPr/>
          <a:lstStyle/>
          <a:p>
            <a:endParaRPr lang="en-US"/>
          </a:p>
        </p:txBody>
      </p:sp>
      <p:grpSp>
        <p:nvGrpSpPr>
          <p:cNvPr id="6" name="Group 6">
            <a:extLst>
              <a:ext uri="{FF2B5EF4-FFF2-40B4-BE49-F238E27FC236}">
                <a16:creationId xmlns:a16="http://schemas.microsoft.com/office/drawing/2014/main" id="{A23B7216-5331-07E9-6F88-62F8F862F3F7}"/>
              </a:ext>
            </a:extLst>
          </p:cNvPr>
          <p:cNvGrpSpPr/>
          <p:nvPr/>
        </p:nvGrpSpPr>
        <p:grpSpPr>
          <a:xfrm rot="5400000">
            <a:off x="12945683" y="6409665"/>
            <a:ext cx="9329765" cy="8948959"/>
            <a:chOff x="0" y="0"/>
            <a:chExt cx="622300" cy="596900"/>
          </a:xfrm>
        </p:grpSpPr>
        <p:sp>
          <p:nvSpPr>
            <p:cNvPr id="7" name="Freeform 7">
              <a:extLst>
                <a:ext uri="{FF2B5EF4-FFF2-40B4-BE49-F238E27FC236}">
                  <a16:creationId xmlns:a16="http://schemas.microsoft.com/office/drawing/2014/main" id="{C427186E-5615-CF57-92AC-9E2A734AE953}"/>
                </a:ext>
              </a:extLst>
            </p:cNvPr>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txBody>
            <a:bodyPr/>
            <a:lstStyle/>
            <a:p>
              <a:endParaRPr lang="en-US"/>
            </a:p>
          </p:txBody>
        </p:sp>
        <p:sp>
          <p:nvSpPr>
            <p:cNvPr id="8" name="TextBox 8">
              <a:extLst>
                <a:ext uri="{FF2B5EF4-FFF2-40B4-BE49-F238E27FC236}">
                  <a16:creationId xmlns:a16="http://schemas.microsoft.com/office/drawing/2014/main" id="{0CC0E99C-523D-4413-D534-9F63F5FAC26F}"/>
                </a:ext>
              </a:extLst>
            </p:cNvPr>
            <p:cNvSpPr txBox="1"/>
            <p:nvPr/>
          </p:nvSpPr>
          <p:spPr>
            <a:xfrm>
              <a:off x="0" y="174625"/>
              <a:ext cx="622300" cy="295275"/>
            </a:xfrm>
            <a:prstGeom prst="rect">
              <a:avLst/>
            </a:prstGeom>
          </p:spPr>
          <p:txBody>
            <a:bodyPr lIns="50800" tIns="50800" rIns="50800" bIns="50800" rtlCol="0" anchor="ctr"/>
            <a:lstStyle/>
            <a:p>
              <a:pPr algn="ctr">
                <a:lnSpc>
                  <a:spcPts val="1800"/>
                </a:lnSpc>
              </a:pPr>
              <a:endParaRPr/>
            </a:p>
          </p:txBody>
        </p:sp>
      </p:grpSp>
      <p:grpSp>
        <p:nvGrpSpPr>
          <p:cNvPr id="9" name="Group 9">
            <a:extLst>
              <a:ext uri="{FF2B5EF4-FFF2-40B4-BE49-F238E27FC236}">
                <a16:creationId xmlns:a16="http://schemas.microsoft.com/office/drawing/2014/main" id="{E17FF7BD-426C-15CA-1E47-9BD6FD441E51}"/>
              </a:ext>
            </a:extLst>
          </p:cNvPr>
          <p:cNvGrpSpPr/>
          <p:nvPr/>
        </p:nvGrpSpPr>
        <p:grpSpPr>
          <a:xfrm rot="5400000">
            <a:off x="-3987448" y="6409665"/>
            <a:ext cx="9329765" cy="8948959"/>
            <a:chOff x="0" y="0"/>
            <a:chExt cx="622300" cy="596900"/>
          </a:xfrm>
        </p:grpSpPr>
        <p:sp>
          <p:nvSpPr>
            <p:cNvPr id="10" name="Freeform 10">
              <a:extLst>
                <a:ext uri="{FF2B5EF4-FFF2-40B4-BE49-F238E27FC236}">
                  <a16:creationId xmlns:a16="http://schemas.microsoft.com/office/drawing/2014/main" id="{9BD7AB6B-8977-6D48-DF18-A41834F868E0}"/>
                </a:ext>
              </a:extLst>
            </p:cNvPr>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FFFFFF">
                    <a:alpha val="9000"/>
                  </a:srgbClr>
                </a:gs>
                <a:gs pos="33333">
                  <a:srgbClr val="FFFFFF">
                    <a:alpha val="0"/>
                  </a:srgbClr>
                </a:gs>
                <a:gs pos="66667">
                  <a:srgbClr val="FFFFFF">
                    <a:alpha val="1500"/>
                  </a:srgbClr>
                </a:gs>
                <a:gs pos="100000">
                  <a:srgbClr val="FFFFFF">
                    <a:alpha val="0"/>
                  </a:srgbClr>
                </a:gs>
              </a:gsLst>
              <a:lin ang="0"/>
            </a:gradFill>
            <a:ln cap="sq">
              <a:noFill/>
              <a:prstDash val="solid"/>
              <a:miter/>
            </a:ln>
          </p:spPr>
          <p:txBody>
            <a:bodyPr/>
            <a:lstStyle/>
            <a:p>
              <a:endParaRPr lang="en-US"/>
            </a:p>
          </p:txBody>
        </p:sp>
        <p:sp>
          <p:nvSpPr>
            <p:cNvPr id="11" name="TextBox 11">
              <a:extLst>
                <a:ext uri="{FF2B5EF4-FFF2-40B4-BE49-F238E27FC236}">
                  <a16:creationId xmlns:a16="http://schemas.microsoft.com/office/drawing/2014/main" id="{9D426ED5-B804-81B9-3893-4E33399992D6}"/>
                </a:ext>
              </a:extLst>
            </p:cNvPr>
            <p:cNvSpPr txBox="1"/>
            <p:nvPr/>
          </p:nvSpPr>
          <p:spPr>
            <a:xfrm>
              <a:off x="0" y="174625"/>
              <a:ext cx="622300" cy="295275"/>
            </a:xfrm>
            <a:prstGeom prst="rect">
              <a:avLst/>
            </a:prstGeom>
          </p:spPr>
          <p:txBody>
            <a:bodyPr lIns="50800" tIns="50800" rIns="50800" bIns="50800" rtlCol="0" anchor="ctr"/>
            <a:lstStyle/>
            <a:p>
              <a:pPr algn="ctr">
                <a:lnSpc>
                  <a:spcPts val="1800"/>
                </a:lnSpc>
              </a:pPr>
              <a:endParaRPr/>
            </a:p>
          </p:txBody>
        </p:sp>
      </p:grpSp>
      <p:sp>
        <p:nvSpPr>
          <p:cNvPr id="13" name="TextBox 13">
            <a:extLst>
              <a:ext uri="{FF2B5EF4-FFF2-40B4-BE49-F238E27FC236}">
                <a16:creationId xmlns:a16="http://schemas.microsoft.com/office/drawing/2014/main" id="{AACD7A3C-A2E8-F5B5-BB1C-9CFB84EE3A97}"/>
              </a:ext>
            </a:extLst>
          </p:cNvPr>
          <p:cNvSpPr txBox="1"/>
          <p:nvPr/>
        </p:nvSpPr>
        <p:spPr>
          <a:xfrm>
            <a:off x="1296346" y="441659"/>
            <a:ext cx="15695308" cy="1475019"/>
          </a:xfrm>
          <a:prstGeom prst="rect">
            <a:avLst/>
          </a:prstGeom>
        </p:spPr>
        <p:txBody>
          <a:bodyPr lIns="0" tIns="0" rIns="0" bIns="0" rtlCol="0" anchor="t">
            <a:spAutoFit/>
          </a:bodyPr>
          <a:lstStyle/>
          <a:p>
            <a:pPr marL="0" lvl="0" indent="0" algn="ctr">
              <a:lnSpc>
                <a:spcPts val="10907"/>
              </a:lnSpc>
            </a:pPr>
            <a:r>
              <a:rPr lang="en-US" sz="11856" b="1" spc="-770" dirty="0">
                <a:solidFill>
                  <a:srgbClr val="FFFFFF"/>
                </a:solidFill>
                <a:latin typeface="Atkinson Hyperlegible Bold"/>
                <a:ea typeface="Atkinson Hyperlegible Bold"/>
                <a:cs typeface="Atkinson Hyperlegible Bold"/>
                <a:sym typeface="Atkinson Hyperlegible Bold"/>
              </a:rPr>
              <a:t>Relative Valuation</a:t>
            </a:r>
          </a:p>
        </p:txBody>
      </p:sp>
      <p:pic>
        <p:nvPicPr>
          <p:cNvPr id="21" name="Picture 20" descr="A screenshot of a table&#10;&#10;AI-generated content may be incorrect.">
            <a:extLst>
              <a:ext uri="{FF2B5EF4-FFF2-40B4-BE49-F238E27FC236}">
                <a16:creationId xmlns:a16="http://schemas.microsoft.com/office/drawing/2014/main" id="{15627DB3-E763-8879-8B8D-99CC58352A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0" y="2087136"/>
            <a:ext cx="14468366" cy="7268906"/>
          </a:xfrm>
          <a:prstGeom prst="rect">
            <a:avLst/>
          </a:prstGeom>
        </p:spPr>
      </p:pic>
    </p:spTree>
    <p:extLst>
      <p:ext uri="{BB962C8B-B14F-4D97-AF65-F5344CB8AC3E}">
        <p14:creationId xmlns:p14="http://schemas.microsoft.com/office/powerpoint/2010/main" val="3915791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5774B-1790-83A2-7978-BEB1F3E1A86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8478CFC-9919-22A7-E4FD-3FC95DC1938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3228" t="-35818" r="-11439"/>
            </a:stretch>
          </a:blipFill>
        </p:spPr>
        <p:txBody>
          <a:bodyPr/>
          <a:lstStyle/>
          <a:p>
            <a:endParaRPr lang="en-US"/>
          </a:p>
        </p:txBody>
      </p:sp>
      <p:sp>
        <p:nvSpPr>
          <p:cNvPr id="13" name="TextBox 13">
            <a:extLst>
              <a:ext uri="{FF2B5EF4-FFF2-40B4-BE49-F238E27FC236}">
                <a16:creationId xmlns:a16="http://schemas.microsoft.com/office/drawing/2014/main" id="{0B973CAF-2C22-9454-09F2-5083F5B0C5E5}"/>
              </a:ext>
            </a:extLst>
          </p:cNvPr>
          <p:cNvSpPr txBox="1"/>
          <p:nvPr/>
        </p:nvSpPr>
        <p:spPr>
          <a:xfrm>
            <a:off x="1296346" y="441659"/>
            <a:ext cx="15695308" cy="1475019"/>
          </a:xfrm>
          <a:prstGeom prst="rect">
            <a:avLst/>
          </a:prstGeom>
        </p:spPr>
        <p:txBody>
          <a:bodyPr lIns="0" tIns="0" rIns="0" bIns="0" rtlCol="0" anchor="t">
            <a:spAutoFit/>
          </a:bodyPr>
          <a:lstStyle/>
          <a:p>
            <a:pPr lvl="0" algn="ctr">
              <a:lnSpc>
                <a:spcPts val="10907"/>
              </a:lnSpc>
            </a:pPr>
            <a:r>
              <a:rPr lang="en-US" sz="11856" b="1" spc="-770" dirty="0">
                <a:solidFill>
                  <a:srgbClr val="FFFFFF"/>
                </a:solidFill>
                <a:latin typeface="Atkinson Hyperlegible Bold"/>
                <a:ea typeface="Atkinson Hyperlegible Bold"/>
                <a:cs typeface="Atkinson Hyperlegible Bold"/>
                <a:sym typeface="Atkinson Hyperlegible Bold"/>
              </a:rPr>
              <a:t>Summary</a:t>
            </a:r>
          </a:p>
        </p:txBody>
      </p:sp>
      <p:sp>
        <p:nvSpPr>
          <p:cNvPr id="12" name="TextBox 11">
            <a:extLst>
              <a:ext uri="{FF2B5EF4-FFF2-40B4-BE49-F238E27FC236}">
                <a16:creationId xmlns:a16="http://schemas.microsoft.com/office/drawing/2014/main" id="{9A8AB2D3-503D-0170-0846-9D865A26A441}"/>
              </a:ext>
            </a:extLst>
          </p:cNvPr>
          <p:cNvSpPr txBox="1"/>
          <p:nvPr/>
        </p:nvSpPr>
        <p:spPr>
          <a:xfrm>
            <a:off x="609600" y="2324100"/>
            <a:ext cx="16382054" cy="7848302"/>
          </a:xfrm>
          <a:prstGeom prst="rect">
            <a:avLst/>
          </a:prstGeom>
          <a:noFill/>
        </p:spPr>
        <p:txBody>
          <a:bodyPr wrap="square" rtlCol="0">
            <a:spAutoFit/>
          </a:bodyPr>
          <a:lstStyle/>
          <a:p>
            <a:r>
              <a:rPr lang="en-US" sz="3600" dirty="0">
                <a:solidFill>
                  <a:schemeClr val="bg1"/>
                </a:solidFill>
              </a:rPr>
              <a:t>How did I get target price? $201.76</a:t>
            </a:r>
          </a:p>
          <a:p>
            <a:r>
              <a:rPr lang="en-US" sz="3600" dirty="0">
                <a:solidFill>
                  <a:schemeClr val="bg1"/>
                </a:solidFill>
              </a:rPr>
              <a:t>40% from EV/EBITDA – 294.60</a:t>
            </a:r>
          </a:p>
          <a:p>
            <a:r>
              <a:rPr lang="en-US" sz="3600" dirty="0">
                <a:solidFill>
                  <a:schemeClr val="bg1"/>
                </a:solidFill>
              </a:rPr>
              <a:t>60% from DCF – 139.86</a:t>
            </a:r>
          </a:p>
          <a:p>
            <a:endParaRPr lang="en-US" sz="3600" dirty="0">
              <a:solidFill>
                <a:schemeClr val="bg1"/>
              </a:solidFill>
            </a:endParaRPr>
          </a:p>
          <a:p>
            <a:pPr marL="571500" indent="-571500">
              <a:buFont typeface="Arial" panose="020B0604020202020204" pitchFamily="34" charset="0"/>
              <a:buChar char="•"/>
            </a:pPr>
            <a:r>
              <a:rPr lang="en-US" sz="3600" dirty="0">
                <a:solidFill>
                  <a:schemeClr val="bg1"/>
                </a:solidFill>
              </a:rPr>
              <a:t>More to story</a:t>
            </a:r>
          </a:p>
          <a:p>
            <a:endParaRPr lang="en-US" sz="3600" dirty="0">
              <a:solidFill>
                <a:schemeClr val="bg1"/>
              </a:solidFill>
            </a:endParaRPr>
          </a:p>
          <a:p>
            <a:endParaRPr lang="en-US" sz="3600" dirty="0">
              <a:solidFill>
                <a:schemeClr val="bg1"/>
              </a:solidFill>
            </a:endParaRPr>
          </a:p>
          <a:p>
            <a:endParaRPr lang="en-US" sz="3600" dirty="0">
              <a:solidFill>
                <a:schemeClr val="bg1"/>
              </a:solidFill>
            </a:endParaRPr>
          </a:p>
          <a:p>
            <a:r>
              <a:rPr lang="en-US" sz="3600" dirty="0">
                <a:solidFill>
                  <a:schemeClr val="bg1"/>
                </a:solidFill>
              </a:rPr>
              <a:t>Why Hold?</a:t>
            </a:r>
          </a:p>
          <a:p>
            <a:pPr marL="571500" indent="-571500">
              <a:buFont typeface="Arial" panose="020B0604020202020204" pitchFamily="34" charset="0"/>
              <a:buChar char="•"/>
            </a:pPr>
            <a:r>
              <a:rPr lang="en-US" sz="3600" dirty="0">
                <a:solidFill>
                  <a:schemeClr val="bg1"/>
                </a:solidFill>
              </a:rPr>
              <a:t>Diversified revenue streams</a:t>
            </a:r>
          </a:p>
          <a:p>
            <a:pPr marL="571500" indent="-571500">
              <a:buFont typeface="Arial" panose="020B0604020202020204" pitchFamily="34" charset="0"/>
              <a:buChar char="•"/>
            </a:pPr>
            <a:r>
              <a:rPr lang="en-US" sz="3600" dirty="0">
                <a:solidFill>
                  <a:schemeClr val="bg1"/>
                </a:solidFill>
              </a:rPr>
              <a:t>Headwinds will resolve</a:t>
            </a:r>
          </a:p>
          <a:p>
            <a:pPr marL="571500" indent="-571500">
              <a:buFont typeface="Arial" panose="020B0604020202020204" pitchFamily="34" charset="0"/>
              <a:buChar char="•"/>
            </a:pPr>
            <a:r>
              <a:rPr lang="en-US" sz="3600" dirty="0">
                <a:solidFill>
                  <a:schemeClr val="bg1"/>
                </a:solidFill>
              </a:rPr>
              <a:t>15,000 Pratt engines globally – 19 countries operating Patriot systems</a:t>
            </a:r>
          </a:p>
          <a:p>
            <a:endParaRPr lang="en-US" sz="3600" dirty="0">
              <a:solidFill>
                <a:schemeClr val="bg1"/>
              </a:solidFill>
            </a:endParaRPr>
          </a:p>
          <a:p>
            <a:pPr marL="571500" indent="-571500">
              <a:buFont typeface="Arial" panose="020B0604020202020204" pitchFamily="34" charset="0"/>
              <a:buChar char="•"/>
            </a:pPr>
            <a:endParaRPr lang="en-US" sz="3600" dirty="0"/>
          </a:p>
        </p:txBody>
      </p:sp>
    </p:spTree>
    <p:extLst>
      <p:ext uri="{BB962C8B-B14F-4D97-AF65-F5344CB8AC3E}">
        <p14:creationId xmlns:p14="http://schemas.microsoft.com/office/powerpoint/2010/main" val="1333691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228" t="-35818" r="-11439"/>
            </a:stretch>
          </a:blipFill>
        </p:spPr>
        <p:txBody>
          <a:bodyPr/>
          <a:lstStyle/>
          <a:p>
            <a:endParaRPr lang="en-US"/>
          </a:p>
        </p:txBody>
      </p:sp>
      <p:sp>
        <p:nvSpPr>
          <p:cNvPr id="13" name="TextBox 13"/>
          <p:cNvSpPr txBox="1"/>
          <p:nvPr/>
        </p:nvSpPr>
        <p:spPr>
          <a:xfrm>
            <a:off x="1028700" y="2684619"/>
            <a:ext cx="17006904" cy="3592510"/>
          </a:xfrm>
          <a:prstGeom prst="rect">
            <a:avLst/>
          </a:prstGeom>
        </p:spPr>
        <p:txBody>
          <a:bodyPr lIns="0" tIns="0" rIns="0" bIns="0" rtlCol="0" anchor="t">
            <a:spAutoFit/>
          </a:bodyPr>
          <a:lstStyle/>
          <a:p>
            <a:pPr marL="0" lvl="0" indent="0" algn="l">
              <a:lnSpc>
                <a:spcPts val="29312"/>
              </a:lnSpc>
              <a:spcBef>
                <a:spcPct val="0"/>
              </a:spcBef>
            </a:pPr>
            <a:r>
              <a:rPr lang="en-US" sz="20937" b="1" u="none" strike="noStrike">
                <a:solidFill>
                  <a:srgbClr val="FFFFFF"/>
                </a:solidFill>
                <a:latin typeface="Atkinson Hyperlegible Bold"/>
                <a:ea typeface="Atkinson Hyperlegible Bold"/>
                <a:cs typeface="Atkinson Hyperlegible Bold"/>
                <a:sym typeface="Atkinson Hyperlegible Bold"/>
              </a:rPr>
              <a:t>Thank You</a:t>
            </a:r>
          </a:p>
        </p:txBody>
      </p:sp>
      <p:sp>
        <p:nvSpPr>
          <p:cNvPr id="20" name="TextBox 20"/>
          <p:cNvSpPr txBox="1"/>
          <p:nvPr/>
        </p:nvSpPr>
        <p:spPr>
          <a:xfrm>
            <a:off x="11438869" y="8676840"/>
            <a:ext cx="5497277" cy="232115"/>
          </a:xfrm>
          <a:prstGeom prst="rect">
            <a:avLst/>
          </a:prstGeom>
        </p:spPr>
        <p:txBody>
          <a:bodyPr lIns="0" tIns="0" rIns="0" bIns="0" rtlCol="0" anchor="t">
            <a:spAutoFit/>
          </a:bodyPr>
          <a:lstStyle/>
          <a:p>
            <a:pPr marL="0" lvl="0" indent="0" algn="r">
              <a:lnSpc>
                <a:spcPts val="1800"/>
              </a:lnSpc>
              <a:spcBef>
                <a:spcPct val="0"/>
              </a:spcBef>
            </a:pPr>
            <a:endParaRPr lang="en-US" sz="2000" dirty="0">
              <a:solidFill>
                <a:srgbClr val="CFCFCF"/>
              </a:solidFill>
              <a:latin typeface="Open Sauce"/>
              <a:ea typeface="Open Sauce"/>
              <a:cs typeface="Open Sauce"/>
              <a:sym typeface="Open Sauc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5384</TotalTime>
  <Words>2208</Words>
  <Application>Microsoft Macintosh PowerPoint</Application>
  <PresentationFormat>Custom</PresentationFormat>
  <Paragraphs>213</Paragraphs>
  <Slides>15</Slides>
  <Notes>11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6" baseType="lpstr">
      <vt:lpstr>Atkinson Hyperlegible Bold</vt:lpstr>
      <vt:lpstr>Atkinson Hyperlegible</vt:lpstr>
      <vt:lpstr>Wingdings</vt:lpstr>
      <vt:lpstr>Arial Black</vt:lpstr>
      <vt:lpstr>Open Sauce Bold</vt:lpstr>
      <vt:lpstr>Open Sauce</vt:lpstr>
      <vt:lpstr>Arial</vt:lpstr>
      <vt:lpstr>Calibri</vt:lpstr>
      <vt:lpstr>Aptos</vt:lpstr>
      <vt:lpstr>Office Theme</vt:lpstr>
      <vt:lpstr>Microsoft Excel 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Business Pitch Deck Presentation</dc:title>
  <cp:lastModifiedBy>Joe Marfisi</cp:lastModifiedBy>
  <cp:revision>4</cp:revision>
  <dcterms:created xsi:type="dcterms:W3CDTF">2006-08-16T00:00:00Z</dcterms:created>
  <dcterms:modified xsi:type="dcterms:W3CDTF">2026-02-25T16:15:55Z</dcterms:modified>
  <dc:identifier>DAHBbc5Ff-M</dc:identifier>
</cp:coreProperties>
</file>