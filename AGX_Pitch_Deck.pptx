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76" r:id="rId24"/>
    <p:sldId id="257" r:id="rId3"/>
    <p:sldId id="258" r:id="rId4"/>
    <p:sldId id="259" r:id="rId5"/>
    <p:sldId id="260" r:id="rId6"/>
    <p:sldId id="261" r:id="rId7"/>
    <p:sldId id="277" r:id="rId25"/>
    <p:sldId id="271" r:id="rId8"/>
    <p:sldId id="263" r:id="rId9"/>
    <p:sldId id="264" r:id="rId10"/>
    <p:sldId id="272" r:id="rId11"/>
    <p:sldId id="273" r:id="rId12"/>
    <p:sldId id="268" r:id="rId13"/>
    <p:sldId id="269" r:id="rId14"/>
    <p:sldId id="270" r:id="rId15"/>
    <p:sldId id="274" r:id="rId16"/>
    <p:sldId id="275" r:id="rId17"/>
    <p:sldId id="265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7"/>
    <p:restoredTop sz="94610"/>
  </p:normalViewPr>
  <p:slideViewPr>
    <p:cSldViewPr snapToGrid="0" snapToObjects="1">
      <p:cViewPr>
        <p:scale>
          <a:sx n="152" d="100"/>
          <a:sy n="152" d="100"/>
        </p:scale>
        <p:origin x="27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FFFFF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13D6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CF3-8248-B69D-58335FAE8323}"/>
              </c:ext>
            </c:extLst>
          </c:dPt>
          <c:dPt>
            <c:idx val="1"/>
            <c:bubble3D val="0"/>
            <c:spPr>
              <a:solidFill>
                <a:srgbClr val="113D6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CF3-8248-B69D-58335FAE8323}"/>
              </c:ext>
            </c:extLst>
          </c:dPt>
          <c:dPt>
            <c:idx val="2"/>
            <c:bubble3D val="0"/>
            <c:spPr>
              <a:solidFill>
                <a:srgbClr val="59595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CF3-8248-B69D-58335FAE832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113D63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CF3-8248-B69D-58335FAE832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113D63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CF3-8248-B69D-58335FAE832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113D63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CF3-8248-B69D-58335FAE832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Power Industry Services</c:v>
                </c:pt>
                <c:pt idx="1">
                  <c:v>Industrial Fabrication</c:v>
                </c:pt>
                <c:pt idx="2">
                  <c:v>Telecommunications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16</c:v>
                </c:pt>
                <c:pt idx="2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CF3-8248-B69D-58335FAE83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 ($M)</c:v>
                </c:pt>
              </c:strCache>
            </c:strRef>
          </c:tx>
          <c:spPr>
            <a:solidFill>
              <a:srgbClr val="4F81BD"/>
            </a:solidFill>
          </c:spPr>
          <c:invertIfNegative val="1"/>
          <c:cat>
            <c:strRef>
              <c:f>Sheet1!$A$2:$A$11</c:f>
              <c:strCache>
                <c:ptCount val="10"/>
                <c:pt idx="0">
                  <c:v>FY21</c:v>
                </c:pt>
                <c:pt idx="1">
                  <c:v>FY22</c:v>
                </c:pt>
                <c:pt idx="2">
                  <c:v>FY23</c:v>
                </c:pt>
                <c:pt idx="3">
                  <c:v>FY24</c:v>
                </c:pt>
                <c:pt idx="4">
                  <c:v>FY25</c:v>
                </c:pt>
                <c:pt idx="5">
                  <c:v>FY26</c:v>
                </c:pt>
                <c:pt idx="6">
                  <c:v>FY27</c:v>
                </c:pt>
                <c:pt idx="7">
                  <c:v>FY28</c:v>
                </c:pt>
                <c:pt idx="8">
                  <c:v>FY29</c:v>
                </c:pt>
                <c:pt idx="9">
                  <c:v>FY30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392.2</c:v>
                </c:pt>
                <c:pt idx="1">
                  <c:v>509.4</c:v>
                </c:pt>
                <c:pt idx="2">
                  <c:v>455</c:v>
                </c:pt>
                <c:pt idx="3">
                  <c:v>573.29999999999995</c:v>
                </c:pt>
                <c:pt idx="4">
                  <c:v>874.2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113D63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55F-5A4C-B73B-BC65DC6267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Projected ($M)</c:v>
                </c:pt>
              </c:strCache>
            </c:strRef>
          </c:tx>
          <c:spPr>
            <a:solidFill>
              <a:srgbClr val="2ECC6E"/>
            </a:solidFill>
          </c:spPr>
          <c:invertIfNegative val="1"/>
          <c:cat>
            <c:strRef>
              <c:f>Sheet1!$A$2:$A$11</c:f>
              <c:strCache>
                <c:ptCount val="10"/>
                <c:pt idx="0">
                  <c:v>FY21</c:v>
                </c:pt>
                <c:pt idx="1">
                  <c:v>FY22</c:v>
                </c:pt>
                <c:pt idx="2">
                  <c:v>FY23</c:v>
                </c:pt>
                <c:pt idx="3">
                  <c:v>FY24</c:v>
                </c:pt>
                <c:pt idx="4">
                  <c:v>FY25</c:v>
                </c:pt>
                <c:pt idx="5">
                  <c:v>FY26</c:v>
                </c:pt>
                <c:pt idx="6">
                  <c:v>FY27</c:v>
                </c:pt>
                <c:pt idx="7">
                  <c:v>FY28</c:v>
                </c:pt>
                <c:pt idx="8">
                  <c:v>FY29</c:v>
                </c:pt>
                <c:pt idx="9">
                  <c:v>FY30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5">
                  <c:v>1068.2</c:v>
                </c:pt>
                <c:pt idx="6">
                  <c:v>1305.2</c:v>
                </c:pt>
                <c:pt idx="7">
                  <c:v>1594.7</c:v>
                </c:pt>
                <c:pt idx="8">
                  <c:v>1948.6</c:v>
                </c:pt>
                <c:pt idx="9">
                  <c:v>2380.9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113D63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D55F-5A4C-B73B-BC65DC6267AC}"/>
            </c:ext>
          </c:extLst>
        </c:ser>
        <c:dLbls>
          <c:numFmt formatCode="$#,##0" sourceLinked="0"/>
          <c:spPr>
            <a:noFill xmlns:a="http://schemas.openxmlformats.org/drawingml/2006/main"/>
            <a:ln xmlns:a="http://schemas.openxmlformats.org/drawingml/2006/main">
              <a:noFill/>
            </a:ln>
          </c:spPr>
          <c:txPr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13D6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D9D9D9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D9D9D9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113D63"/>
              </a:solidFill>
            </a:defRPr>
          </a:pPr>
          <a:endParaRPr lang="en-US"/>
        </a:p>
      </c:txPr>
    </c:legend>
    <c:plotVisOnly val="1"/>
    <c:dispBlanksAs val="gap"/>
    <c:showDLblsOverMax val="1"/>
  </c:chart>
  <c:spPr>
    <a:noFill/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 (%)</c:v>
                </c:pt>
              </c:strCache>
            </c:strRef>
          </c:tx>
          <c:spPr>
            <a:solidFill>
              <a:srgbClr val="4F81BD"/>
            </a:solidFill>
          </c:spPr>
          <c:invertIfNegative val="1"/>
          <c:cat>
            <c:strRef>
              <c:f>Sheet1!$A$2:$A$10</c:f>
              <c:strCache>
                <c:ptCount val="9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  <c:pt idx="5">
                  <c:v>FY27</c:v>
                </c:pt>
                <c:pt idx="6">
                  <c:v>FY28</c:v>
                </c:pt>
                <c:pt idx="7">
                  <c:v>FY29</c:v>
                </c:pt>
                <c:pt idx="8">
                  <c:v>FY30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29.9</c:v>
                </c:pt>
                <c:pt idx="1">
                  <c:v>-10.7</c:v>
                </c:pt>
                <c:pt idx="2">
                  <c:v>26</c:v>
                </c:pt>
                <c:pt idx="3">
                  <c:v>52.5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113D63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044A-DE47-B44F-8905F46644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Projected (%)</c:v>
                </c:pt>
              </c:strCache>
            </c:strRef>
          </c:tx>
          <c:spPr>
            <a:solidFill>
              <a:srgbClr val="2ECC6E"/>
            </a:solidFill>
          </c:spPr>
          <c:invertIfNegative val="1"/>
          <c:cat>
            <c:strRef>
              <c:f>Sheet1!$A$2:$A$10</c:f>
              <c:strCache>
                <c:ptCount val="9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  <c:pt idx="5">
                  <c:v>FY27</c:v>
                </c:pt>
                <c:pt idx="6">
                  <c:v>FY28</c:v>
                </c:pt>
                <c:pt idx="7">
                  <c:v>FY29</c:v>
                </c:pt>
                <c:pt idx="8">
                  <c:v>FY30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4">
                  <c:v>22.2</c:v>
                </c:pt>
                <c:pt idx="5">
                  <c:v>22.2</c:v>
                </c:pt>
                <c:pt idx="6">
                  <c:v>22.2</c:v>
                </c:pt>
                <c:pt idx="7">
                  <c:v>22.2</c:v>
                </c:pt>
                <c:pt idx="8">
                  <c:v>22.2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113D63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044A-DE47-B44F-8905F4664441}"/>
            </c:ext>
          </c:extLst>
        </c:ser>
        <c:dLbls>
          <c:numFmt formatCode="0.0&quot;%&quot;" sourceLinked="0"/>
          <c:spPr>
            <a:noFill xmlns:a="http://schemas.openxmlformats.org/drawingml/2006/main"/>
            <a:ln xmlns:a="http://schemas.openxmlformats.org/drawingml/2006/main">
              <a:noFill/>
            </a:ln>
          </c:spPr>
          <c:txPr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13D6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D9D9D9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D9D9D9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113D63"/>
              </a:solidFill>
            </a:defRPr>
          </a:pPr>
          <a:endParaRPr lang="en-US"/>
        </a:p>
      </c:txPr>
    </c:legend>
    <c:plotVisOnly val="1"/>
    <c:dispBlanksAs val="gap"/>
    <c:showDLblsOverMax val="1"/>
  </c:chart>
  <c:spPr>
    <a:noFill/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 (%)</c:v>
                </c:pt>
              </c:strCache>
            </c:strRef>
          </c:tx>
          <c:spPr>
            <a:solidFill>
              <a:srgbClr val="4F81BD"/>
            </a:solidFill>
          </c:spPr>
          <c:invertIfNegative val="1"/>
          <c:cat>
            <c:strRef>
              <c:f>Sheet1!$A$2:$A$11</c:f>
              <c:strCache>
                <c:ptCount val="10"/>
                <c:pt idx="0">
                  <c:v>FY21</c:v>
                </c:pt>
                <c:pt idx="1">
                  <c:v>FY22</c:v>
                </c:pt>
                <c:pt idx="2">
                  <c:v>FY23</c:v>
                </c:pt>
                <c:pt idx="3">
                  <c:v>FY24</c:v>
                </c:pt>
                <c:pt idx="4">
                  <c:v>FY25</c:v>
                </c:pt>
                <c:pt idx="5">
                  <c:v>FY26</c:v>
                </c:pt>
                <c:pt idx="6">
                  <c:v>FY27</c:v>
                </c:pt>
                <c:pt idx="7">
                  <c:v>FY28</c:v>
                </c:pt>
                <c:pt idx="8">
                  <c:v>FY29</c:v>
                </c:pt>
                <c:pt idx="9">
                  <c:v>FY30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5.9</c:v>
                </c:pt>
                <c:pt idx="1">
                  <c:v>8.6999999999999993</c:v>
                </c:pt>
                <c:pt idx="2">
                  <c:v>9.1999999999999993</c:v>
                </c:pt>
                <c:pt idx="3">
                  <c:v>6.4</c:v>
                </c:pt>
                <c:pt idx="4">
                  <c:v>10.1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113D63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BFE9-364D-94E9-3C385B420F2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Projected (%)</c:v>
                </c:pt>
              </c:strCache>
            </c:strRef>
          </c:tx>
          <c:spPr>
            <a:solidFill>
              <a:srgbClr val="2ECC6E"/>
            </a:solidFill>
          </c:spPr>
          <c:invertIfNegative val="1"/>
          <c:cat>
            <c:strRef>
              <c:f>Sheet1!$A$2:$A$11</c:f>
              <c:strCache>
                <c:ptCount val="10"/>
                <c:pt idx="0">
                  <c:v>FY21</c:v>
                </c:pt>
                <c:pt idx="1">
                  <c:v>FY22</c:v>
                </c:pt>
                <c:pt idx="2">
                  <c:v>FY23</c:v>
                </c:pt>
                <c:pt idx="3">
                  <c:v>FY24</c:v>
                </c:pt>
                <c:pt idx="4">
                  <c:v>FY25</c:v>
                </c:pt>
                <c:pt idx="5">
                  <c:v>FY26</c:v>
                </c:pt>
                <c:pt idx="6">
                  <c:v>FY27</c:v>
                </c:pt>
                <c:pt idx="7">
                  <c:v>FY28</c:v>
                </c:pt>
                <c:pt idx="8">
                  <c:v>FY29</c:v>
                </c:pt>
                <c:pt idx="9">
                  <c:v>FY30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113D63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BFE9-364D-94E9-3C385B420F2E}"/>
            </c:ext>
          </c:extLst>
        </c:ser>
        <c:dLbls>
          <c:numFmt formatCode="0.0&quot;%&quot;" sourceLinked="0"/>
          <c:spPr>
            <a:noFill xmlns:a="http://schemas.openxmlformats.org/drawingml/2006/main"/>
            <a:ln xmlns:a="http://schemas.openxmlformats.org/drawingml/2006/main">
              <a:noFill/>
            </a:ln>
          </c:spPr>
          <c:txPr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13D6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D9D9D9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D9D9D9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113D63"/>
              </a:solidFill>
            </a:defRPr>
          </a:pPr>
          <a:endParaRPr lang="en-US"/>
        </a:p>
      </c:txPr>
    </c:legend>
    <c:plotVisOnly val="1"/>
    <c:dispBlanksAs val="gap"/>
    <c:showDLblsOverMax val="1"/>
  </c:chart>
  <c:spPr>
    <a:noFill/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 ($M)</c:v>
                </c:pt>
              </c:strCache>
            </c:strRef>
          </c:tx>
          <c:spPr>
            <a:solidFill>
              <a:srgbClr val="4F81BD"/>
            </a:solidFill>
          </c:spPr>
          <c:invertIfNegative val="1"/>
          <c:cat>
            <c:strRef>
              <c:f>Sheet1!$A$2:$A$11</c:f>
              <c:strCache>
                <c:ptCount val="10"/>
                <c:pt idx="0">
                  <c:v>FY21</c:v>
                </c:pt>
                <c:pt idx="1">
                  <c:v>FY22</c:v>
                </c:pt>
                <c:pt idx="2">
                  <c:v>FY23</c:v>
                </c:pt>
                <c:pt idx="3">
                  <c:v>FY24</c:v>
                </c:pt>
                <c:pt idx="4">
                  <c:v>FY25</c:v>
                </c:pt>
                <c:pt idx="5">
                  <c:v>FY26</c:v>
                </c:pt>
                <c:pt idx="6">
                  <c:v>FY27</c:v>
                </c:pt>
                <c:pt idx="7">
                  <c:v>FY28</c:v>
                </c:pt>
                <c:pt idx="8">
                  <c:v>FY29</c:v>
                </c:pt>
                <c:pt idx="9">
                  <c:v>FY30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</c:v>
                </c:pt>
                <c:pt idx="1">
                  <c:v>44.5</c:v>
                </c:pt>
                <c:pt idx="2">
                  <c:v>41.7</c:v>
                </c:pt>
                <c:pt idx="3">
                  <c:v>36.5</c:v>
                </c:pt>
                <c:pt idx="4">
                  <c:v>88.2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113D63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159-9A43-B932-32A27C9EB9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Projected ($M)</c:v>
                </c:pt>
              </c:strCache>
            </c:strRef>
          </c:tx>
          <c:spPr>
            <a:solidFill>
              <a:srgbClr val="2ECC6E"/>
            </a:solidFill>
          </c:spPr>
          <c:invertIfNegative val="1"/>
          <c:cat>
            <c:strRef>
              <c:f>Sheet1!$A$2:$A$11</c:f>
              <c:strCache>
                <c:ptCount val="10"/>
                <c:pt idx="0">
                  <c:v>FY21</c:v>
                </c:pt>
                <c:pt idx="1">
                  <c:v>FY22</c:v>
                </c:pt>
                <c:pt idx="2">
                  <c:v>FY23</c:v>
                </c:pt>
                <c:pt idx="3">
                  <c:v>FY24</c:v>
                </c:pt>
                <c:pt idx="4">
                  <c:v>FY25</c:v>
                </c:pt>
                <c:pt idx="5">
                  <c:v>FY26</c:v>
                </c:pt>
                <c:pt idx="6">
                  <c:v>FY27</c:v>
                </c:pt>
                <c:pt idx="7">
                  <c:v>FY28</c:v>
                </c:pt>
                <c:pt idx="8">
                  <c:v>FY29</c:v>
                </c:pt>
                <c:pt idx="9">
                  <c:v>FY30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5">
                  <c:v>149.5</c:v>
                </c:pt>
                <c:pt idx="6">
                  <c:v>182.7</c:v>
                </c:pt>
                <c:pt idx="7">
                  <c:v>223.3</c:v>
                </c:pt>
                <c:pt idx="8">
                  <c:v>272.8</c:v>
                </c:pt>
                <c:pt idx="9">
                  <c:v>333.3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113D63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159-9A43-B932-32A27C9EB98C}"/>
            </c:ext>
          </c:extLst>
        </c:ser>
        <c:dLbls>
          <c:numFmt formatCode="$#,##0" sourceLinked="0"/>
          <c:spPr>
            <a:noFill xmlns:a="http://schemas.openxmlformats.org/drawingml/2006/main"/>
            <a:ln xmlns:a="http://schemas.openxmlformats.org/drawingml/2006/main">
              <a:noFill/>
            </a:ln>
          </c:spPr>
          <c:txPr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13D6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D9D9D9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rgbClr val="D9D9D9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113D63"/>
              </a:solidFill>
            </a:defRPr>
          </a:pPr>
          <a:endParaRPr lang="en-US"/>
        </a:p>
      </c:txPr>
    </c:legend>
    <c:plotVisOnly val="1"/>
    <c:dispBlanksAs val="gap"/>
    <c:showDLblsOverMax val="1"/>
  </c:chart>
  <c:spPr>
    <a:noFill/>
  </c:spPr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1182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1 -- COVER</a:t>
            </a:r>
          </a:p>
          <a:p>
            <a:endParaRPr lang="en-US" dirty="0"/>
          </a:p>
          <a:p>
            <a:r>
              <a:rPr lang="en-US" dirty="0"/>
              <a:t>OPENING LINE -- say this before anything else:</a:t>
            </a:r>
          </a:p>
          <a:p>
            <a:r>
              <a:rPr lang="en-US" dirty="0"/>
              <a:t xml:space="preserve">  &gt; This is a stock I want to own. I just can't buy it today.</a:t>
            </a:r>
          </a:p>
          <a:p>
            <a:endParaRPr lang="en-US" dirty="0"/>
          </a:p>
          <a:p>
            <a:r>
              <a:rPr lang="en-US" dirty="0"/>
              <a:t>Then introduce the company:</a:t>
            </a:r>
          </a:p>
          <a:p>
            <a:r>
              <a:rPr lang="en-US" dirty="0"/>
              <a:t xml:space="preserve">  &gt; I'm Joe Marfisi, and today I'm presenting Argan, Inc. -- ticker AGX</a:t>
            </a:r>
          </a:p>
          <a:p>
            <a:r>
              <a:rPr lang="en-US" dirty="0"/>
              <a:t xml:space="preserve">  &gt; Specialized EPC contractor -- they build large-scale power plants from the ground up</a:t>
            </a:r>
          </a:p>
          <a:p>
            <a:r>
              <a:rPr lang="en-US" dirty="0"/>
              <a:t xml:space="preserve">  &gt; These are massive, 3-4 year projects: gas-fired plants, solar farms, battery storage</a:t>
            </a:r>
          </a:p>
          <a:p>
            <a:r>
              <a:rPr lang="en-US" dirty="0"/>
              <a:t xml:space="preserve">  &gt; Then they service those plants for 20+ years after completion</a:t>
            </a:r>
          </a:p>
          <a:p>
            <a:endParaRPr lang="en-US" dirty="0"/>
          </a:p>
          <a:p>
            <a:r>
              <a:rPr lang="en-US" dirty="0"/>
              <a:t>Set up the story for the whole deck:</a:t>
            </a:r>
          </a:p>
          <a:p>
            <a:r>
              <a:rPr lang="en-US" dirty="0"/>
              <a:t xml:space="preserve">  &gt; We identified this company, built a full thesis, ran a DCF and relative valuation</a:t>
            </a:r>
          </a:p>
          <a:p>
            <a:r>
              <a:rPr lang="en-US" dirty="0"/>
              <a:t xml:space="preserve">  &gt; The business checked every box -- backlog, balance sheet, macro tailwind</a:t>
            </a:r>
          </a:p>
          <a:p>
            <a:r>
              <a:rPr lang="en-US" dirty="0"/>
              <a:t xml:space="preserve">  &gt; But on March 26, Q4 earnings dropped -- stock jumped 38% overnight</a:t>
            </a:r>
          </a:p>
          <a:p>
            <a:r>
              <a:rPr lang="en-US" dirty="0"/>
              <a:t xml:space="preserve">  &gt; The entry point we needed no longer exists</a:t>
            </a:r>
          </a:p>
          <a:p>
            <a:r>
              <a:rPr lang="en-US" dirty="0"/>
              <a:t xml:space="preserve">  &gt; So today's recommendation is a Pass -- but this is a company we are actively watching</a:t>
            </a:r>
          </a:p>
          <a:p>
            <a:endParaRPr lang="en-US" dirty="0"/>
          </a:p>
          <a:p>
            <a:r>
              <a:rPr lang="en-US" dirty="0"/>
              <a:t>On the target price:</a:t>
            </a:r>
          </a:p>
          <a:p>
            <a:r>
              <a:rPr lang="en-US" dirty="0"/>
              <a:t xml:space="preserve">  &gt; You'll notice the target says $630 -- that was built when the stock was at $410</a:t>
            </a:r>
          </a:p>
          <a:p>
            <a:r>
              <a:rPr lang="en-US" dirty="0"/>
              <a:t xml:space="preserve">  &gt; Our DCF base case is $518, which is actually below where it trades today at $575</a:t>
            </a:r>
          </a:p>
          <a:p>
            <a:r>
              <a:rPr lang="en-US" dirty="0"/>
              <a:t xml:space="preserve">  &gt; Everything after this slide explains how we got there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3 -- BUSINESS DESCRIPTION</a:t>
            </a:r>
          </a:p>
          <a:p>
            <a:endParaRPr lang="en-US" dirty="0"/>
          </a:p>
          <a:p>
            <a:r>
              <a:rPr lang="en-US" dirty="0"/>
              <a:t>OPEN with the one-liner at the top of the slide:</a:t>
            </a:r>
          </a:p>
          <a:p>
            <a:r>
              <a:rPr lang="en-US" dirty="0"/>
              <a:t xml:space="preserve">  &gt; Argan builds large-scale power plants -- then services them for 20+ years</a:t>
            </a:r>
          </a:p>
          <a:p>
            <a:r>
              <a:rPr lang="en-US" dirty="0"/>
              <a:t xml:space="preserve">  &gt; That is the entire business model in one sentence</a:t>
            </a:r>
          </a:p>
          <a:p>
            <a:endParaRPr lang="en-US" dirty="0"/>
          </a:p>
          <a:p>
            <a:r>
              <a:rPr lang="en-US" dirty="0"/>
              <a:t>--- THE THREE SEGMENTS ---</a:t>
            </a:r>
          </a:p>
          <a:p>
            <a:endParaRPr lang="en-US" dirty="0"/>
          </a:p>
          <a:p>
            <a:r>
              <a:rPr lang="en-US" dirty="0"/>
              <a:t>Power Industry Services -- 78% of revenue -- THIS IS THE ONLY ONE THAT MATTERS:</a:t>
            </a:r>
          </a:p>
          <a:p>
            <a:r>
              <a:rPr lang="en-US" dirty="0"/>
              <a:t xml:space="preserve">  &gt; Through Gemma Power Systems in the U.S. and Atlantic Projects in Ireland</a:t>
            </a:r>
          </a:p>
          <a:p>
            <a:r>
              <a:rPr lang="en-US" dirty="0"/>
              <a:t xml:space="preserve">  &gt; They design, build, and commission power plants -- gas, solar, wind, battery storage</a:t>
            </a:r>
          </a:p>
          <a:p>
            <a:r>
              <a:rPr lang="en-US" dirty="0"/>
              <a:t xml:space="preserve">  &gt; These are massive 3-4 year projects worth hundreds of millions of dollars</a:t>
            </a:r>
          </a:p>
          <a:p>
            <a:r>
              <a:rPr lang="en-US" dirty="0"/>
              <a:t xml:space="preserve">  &gt; Once built, they service that plant for 20+ years -- recurring revenue locked in</a:t>
            </a:r>
          </a:p>
          <a:p>
            <a:r>
              <a:rPr lang="en-US" dirty="0"/>
              <a:t xml:space="preserve">  &gt; 78% of revenue -- this segment IS the investment thesis</a:t>
            </a:r>
          </a:p>
          <a:p>
            <a:endParaRPr lang="en-US" dirty="0"/>
          </a:p>
          <a:p>
            <a:r>
              <a:rPr lang="en-US" dirty="0"/>
              <a:t>Industrial Fabrication -- 16% -- supporting business:</a:t>
            </a:r>
          </a:p>
          <a:p>
            <a:r>
              <a:rPr lang="en-US" dirty="0"/>
              <a:t xml:space="preserve">  &gt; Field maintenance for industrial plants, custom metal fabrication</a:t>
            </a:r>
          </a:p>
          <a:p>
            <a:r>
              <a:rPr lang="en-US" dirty="0"/>
              <a:t xml:space="preserve">  &gt; Fabrication just means they manufacture custom steel components --</a:t>
            </a:r>
          </a:p>
          <a:p>
            <a:r>
              <a:rPr lang="en-US" dirty="0"/>
              <a:t xml:space="preserve">  &gt; piping systems, pressure vessels -- things a plant cannot buy off the shelf</a:t>
            </a:r>
          </a:p>
          <a:p>
            <a:r>
              <a:rPr lang="en-US" dirty="0"/>
              <a:t xml:space="preserve">  &gt; Not glamorous, not the story -- just steady diversification</a:t>
            </a:r>
          </a:p>
          <a:p>
            <a:endParaRPr lang="en-US" dirty="0"/>
          </a:p>
          <a:p>
            <a:r>
              <a:rPr lang="en-US" dirty="0"/>
              <a:t>Telecom -- 6% -- essentially ignore this:</a:t>
            </a:r>
          </a:p>
          <a:p>
            <a:r>
              <a:rPr lang="en-US" dirty="0"/>
              <a:t xml:space="preserve">  &gt; Underground cabling, structured cabling for government clients</a:t>
            </a:r>
          </a:p>
          <a:p>
            <a:r>
              <a:rPr lang="en-US" dirty="0"/>
              <a:t xml:space="preserve">  &gt; Irrelevant to the thesis -- mention it exists and move on</a:t>
            </a:r>
          </a:p>
          <a:p>
            <a:endParaRPr lang="en-US" dirty="0"/>
          </a:p>
          <a:p>
            <a:r>
              <a:rPr lang="en-US" dirty="0"/>
              <a:t>--- THE AI CONNECTION -- say this clearly, this is what the room will want to know ---</a:t>
            </a:r>
          </a:p>
          <a:p>
            <a:endParaRPr lang="en-US" dirty="0"/>
          </a:p>
          <a:p>
            <a:r>
              <a:rPr lang="en-US" dirty="0"/>
              <a:t xml:space="preserve">  &gt; Here is the simplest way I can explain why AI matters for this company:</a:t>
            </a:r>
          </a:p>
          <a:p>
            <a:endParaRPr lang="en-US" dirty="0"/>
          </a:p>
          <a:p>
            <a:r>
              <a:rPr lang="en-US" dirty="0"/>
              <a:t xml:space="preserve">  &gt; When you open ChatGPT and type a question, that question travels to a data center</a:t>
            </a:r>
          </a:p>
          <a:p>
            <a:r>
              <a:rPr lang="en-US" dirty="0"/>
              <a:t xml:space="preserve">  &gt; Thousands of computer chips process it and send back an answer</a:t>
            </a:r>
          </a:p>
          <a:p>
            <a:r>
              <a:rPr lang="en-US" dirty="0"/>
              <a:t xml:space="preserve">  &gt; Those chips run 24 hours a day, 7 days a week, consuming enormous electricity</a:t>
            </a:r>
          </a:p>
          <a:p>
            <a:r>
              <a:rPr lang="en-US" dirty="0"/>
              <a:t xml:space="preserve">  &gt; A single large AI data center uses as much power as 100,000 homes</a:t>
            </a:r>
          </a:p>
          <a:p>
            <a:r>
              <a:rPr lang="en-US" dirty="0"/>
              <a:t xml:space="preserve">  &gt; Microsoft, Google, Amazon, Meta -- all building hundreds of these simultaneously</a:t>
            </a:r>
          </a:p>
          <a:p>
            <a:r>
              <a:rPr lang="en-US" dirty="0"/>
              <a:t xml:space="preserve">  &gt; That electricity has to come from somewhere -- it comes from power plants</a:t>
            </a:r>
          </a:p>
          <a:p>
            <a:r>
              <a:rPr lang="en-US" dirty="0"/>
              <a:t xml:space="preserve">  &gt; AGX builds those power plants</a:t>
            </a:r>
          </a:p>
          <a:p>
            <a:endParaRPr lang="en-US" dirty="0"/>
          </a:p>
          <a:p>
            <a:r>
              <a:rPr lang="en-US" dirty="0"/>
              <a:t xml:space="preserve">  &gt; So the chain is:</a:t>
            </a:r>
          </a:p>
          <a:p>
            <a:r>
              <a:rPr lang="en-US" dirty="0"/>
              <a:t xml:space="preserve">  &gt; You use ChatGPT --&gt; ChatGPT needs a data center --&gt; the data center needs electricity</a:t>
            </a:r>
          </a:p>
          <a:p>
            <a:r>
              <a:rPr lang="en-US" dirty="0"/>
              <a:t xml:space="preserve">  &gt; --&gt; a utility builds a new power plant --&gt; AGX wins the contract to build it</a:t>
            </a:r>
          </a:p>
          <a:p>
            <a:endParaRPr lang="en-US" dirty="0"/>
          </a:p>
          <a:p>
            <a:r>
              <a:rPr lang="en-US" dirty="0"/>
              <a:t xml:space="preserve">  &gt; AGX never talks to Microsoft or Google -- never sees an AI company's name on a check</a:t>
            </a:r>
          </a:p>
          <a:p>
            <a:r>
              <a:rPr lang="en-US" dirty="0"/>
              <a:t xml:space="preserve">  &gt; But every time someone uses an AI product, it creates demand for electricity,</a:t>
            </a:r>
          </a:p>
          <a:p>
            <a:r>
              <a:rPr lang="en-US" dirty="0"/>
              <a:t xml:space="preserve">  &gt; which eventually becomes a new power plant contract for AGX</a:t>
            </a:r>
          </a:p>
          <a:p>
            <a:r>
              <a:rPr lang="en-US" dirty="0"/>
              <a:t xml:space="preserve">  &gt; They supply the power to AI data centers -- which is what gives people the ability to use AI</a:t>
            </a:r>
          </a:p>
          <a:p>
            <a:endParaRPr lang="en-US" dirty="0"/>
          </a:p>
          <a:p>
            <a:r>
              <a:rPr lang="en-US" dirty="0"/>
              <a:t>--- WHY GAS PLANTS AND NOT SOLAR ---</a:t>
            </a:r>
          </a:p>
          <a:p>
            <a:endParaRPr lang="en-US" dirty="0"/>
          </a:p>
          <a:p>
            <a:r>
              <a:rPr lang="en-US" dirty="0"/>
              <a:t xml:space="preserve">  &gt; You might ask -- why not just build solar farms?</a:t>
            </a:r>
          </a:p>
          <a:p>
            <a:r>
              <a:rPr lang="en-US" dirty="0"/>
              <a:t xml:space="preserve">  &gt; The sun does not shine at night -- solar is intermittent</a:t>
            </a:r>
          </a:p>
          <a:p>
            <a:r>
              <a:rPr lang="en-US" dirty="0"/>
              <a:t xml:space="preserve">  &gt; An AI data center cannot turn off when a cloud passes overhead</a:t>
            </a:r>
          </a:p>
          <a:p>
            <a:r>
              <a:rPr lang="en-US" dirty="0"/>
              <a:t xml:space="preserve">  &gt; These facilities need power 24 hours a day, 365 days a year without interruption</a:t>
            </a:r>
          </a:p>
          <a:p>
            <a:r>
              <a:rPr lang="en-US" dirty="0"/>
              <a:t xml:space="preserve">  &gt; Gas-fired plants run constantly and on demand -- they are the reliable backbone</a:t>
            </a:r>
          </a:p>
          <a:p>
            <a:r>
              <a:rPr lang="en-US" dirty="0"/>
              <a:t xml:space="preserve">  &gt; Solar and wind are great supplements but they cannot replace baseload gas power</a:t>
            </a:r>
          </a:p>
          <a:p>
            <a:r>
              <a:rPr lang="en-US" dirty="0"/>
              <a:t xml:space="preserve">  &gt; That is why utilities keep signing contracts for new gas plants despite the green energy push</a:t>
            </a:r>
          </a:p>
          <a:p>
            <a:r>
              <a:rPr lang="en-US" dirty="0"/>
              <a:t xml:space="preserve">  &gt; And that is exactly what AGX specializes in -- nearly 20 years of gas-fired plant expertise</a:t>
            </a:r>
          </a:p>
          <a:p>
            <a:endParaRPr lang="en-US" dirty="0"/>
          </a:p>
          <a:p>
            <a:r>
              <a:rPr lang="en-US" dirty="0"/>
              <a:t>--- KEY POINT TO LAND THIS SLIDE ---</a:t>
            </a:r>
          </a:p>
          <a:p>
            <a:endParaRPr lang="en-US" dirty="0"/>
          </a:p>
          <a:p>
            <a:r>
              <a:rPr lang="en-US" dirty="0"/>
              <a:t xml:space="preserve">  &gt; AGX is not an AI company -- but they are one of the most important picks-and-shovels</a:t>
            </a:r>
          </a:p>
          <a:p>
            <a:r>
              <a:rPr lang="en-US" dirty="0"/>
              <a:t xml:space="preserve">  &gt; plays on AI infrastructure that exists</a:t>
            </a:r>
          </a:p>
          <a:p>
            <a:r>
              <a:rPr lang="en-US" dirty="0"/>
              <a:t xml:space="preserve">  &gt; The AI boom created a wave of new power plant orders</a:t>
            </a:r>
          </a:p>
          <a:p>
            <a:r>
              <a:rPr lang="en-US" dirty="0"/>
              <a:t xml:space="preserve">  &gt; AGX was perfectly positioned to catch it -- and that is why the backlog doubled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4 -- REVENUE SPLIT AND KEY METRICS</a:t>
            </a:r>
          </a:p>
          <a:p>
            <a:endParaRPr lang="en-US" dirty="0"/>
          </a:p>
          <a:p>
            <a:r>
              <a:rPr lang="en-US" dirty="0"/>
              <a:t>Walk through the numbers quickly -- don't linger on each one:</a:t>
            </a:r>
          </a:p>
          <a:p>
            <a:r>
              <a:rPr lang="en-US" dirty="0"/>
              <a:t xml:space="preserve">  &gt; Revenue: $944.6M, up 8.1% YoY</a:t>
            </a:r>
          </a:p>
          <a:p>
            <a:r>
              <a:rPr lang="en-US" dirty="0"/>
              <a:t xml:space="preserve">  &gt; Net income: $137.8M, up 61.2% -- earnings grew 7x faster than revenue</a:t>
            </a:r>
          </a:p>
          <a:p>
            <a:r>
              <a:rPr lang="en-US" dirty="0"/>
              <a:t xml:space="preserve">  &gt; Backlog: $2.9B, up 114.7% -- this is the number that drove the 38% stock surge</a:t>
            </a:r>
          </a:p>
          <a:p>
            <a:endParaRPr lang="en-US" dirty="0"/>
          </a:p>
          <a:p>
            <a:r>
              <a:rPr lang="en-US" dirty="0"/>
              <a:t>Then pause on the bottom line -- Cash and Investments: $895M, Zero Debt:</a:t>
            </a:r>
          </a:p>
          <a:p>
            <a:endParaRPr lang="en-US" dirty="0"/>
          </a:p>
          <a:p>
            <a:r>
              <a:rPr lang="en-US" dirty="0"/>
              <a:t>--- THE ZERO DEBT TALKING POINT -- spend real time here ---</a:t>
            </a:r>
          </a:p>
          <a:p>
            <a:endParaRPr lang="en-US" dirty="0"/>
          </a:p>
          <a:p>
            <a:r>
              <a:rPr lang="en-US" dirty="0"/>
              <a:t xml:space="preserve">  &gt; First, zero debt is rare in this industry</a:t>
            </a:r>
          </a:p>
          <a:p>
            <a:r>
              <a:rPr lang="en-US" dirty="0"/>
              <a:t xml:space="preserve">  &gt; Most EPC peers carry significant leverage -- MasTec at 3.2x, Quanta at 2.1x</a:t>
            </a:r>
          </a:p>
          <a:p>
            <a:r>
              <a:rPr lang="en-US" dirty="0"/>
              <a:t xml:space="preserve">  &gt; The only peer that comes close is EMCOR -- but even they drew $250M on a credit line in 2025</a:t>
            </a:r>
          </a:p>
          <a:p>
            <a:r>
              <a:rPr lang="en-US" dirty="0"/>
              <a:t xml:space="preserve">  &gt; AGX has never touched a credit facility -- that sets them apart even from EMCOR</a:t>
            </a:r>
          </a:p>
          <a:p>
            <a:endParaRPr lang="en-US" dirty="0"/>
          </a:p>
          <a:p>
            <a:r>
              <a:rPr lang="en-US" dirty="0"/>
              <a:t xml:space="preserve">  &gt; So how does a construction company end up with $895M in cash and zero debt?</a:t>
            </a:r>
          </a:p>
          <a:p>
            <a:r>
              <a:rPr lang="en-US" dirty="0"/>
              <a:t xml:space="preserve">  &gt; Two reasons working together:</a:t>
            </a:r>
          </a:p>
          <a:p>
            <a:endParaRPr lang="en-US" dirty="0"/>
          </a:p>
          <a:p>
            <a:r>
              <a:rPr lang="en-US" dirty="0"/>
              <a:t xml:space="preserve">  REASON 1 -- The nature of the contracts:</a:t>
            </a:r>
          </a:p>
          <a:p>
            <a:r>
              <a:rPr lang="en-US" dirty="0"/>
              <a:t xml:space="preserve">  &gt; AGX builds massive power plants -- these are 3-4 year projects worth hundreds of millions</a:t>
            </a:r>
          </a:p>
          <a:p>
            <a:r>
              <a:rPr lang="en-US" dirty="0"/>
              <a:t xml:space="preserve">  &gt; They don't get paid at the end -- contracts are structured with milestone payments</a:t>
            </a:r>
          </a:p>
          <a:p>
            <a:r>
              <a:rPr lang="en-US" dirty="0"/>
              <a:t xml:space="preserve">  &gt; Foundation complete, steel up, turbines in, grid connected -- each stage triggers a payment</a:t>
            </a:r>
          </a:p>
          <a:p>
            <a:r>
              <a:rPr lang="en-US" dirty="0"/>
              <a:t xml:space="preserve">  &gt; So clients are essentially funding the construction as it happens</a:t>
            </a:r>
          </a:p>
          <a:p>
            <a:r>
              <a:rPr lang="en-US" dirty="0"/>
              <a:t xml:space="preserve">  &gt; AGX never needs to borrow to build -- the client's money is already in the account</a:t>
            </a:r>
          </a:p>
          <a:p>
            <a:r>
              <a:rPr lang="en-US" dirty="0"/>
              <a:t xml:space="preserve">  &gt; Milestone payments are standard across EPC -- but AGX executes them at a scale and margin</a:t>
            </a:r>
          </a:p>
          <a:p>
            <a:r>
              <a:rPr lang="en-US" dirty="0"/>
              <a:t xml:space="preserve">  &gt; that competitors cannot match</a:t>
            </a:r>
          </a:p>
          <a:p>
            <a:endParaRPr lang="en-US" dirty="0"/>
          </a:p>
          <a:p>
            <a:r>
              <a:rPr lang="en-US" dirty="0"/>
              <a:t xml:space="preserve">  REASON 2 -- Two decades of discipline:</a:t>
            </a:r>
          </a:p>
          <a:p>
            <a:r>
              <a:rPr lang="en-US" dirty="0"/>
              <a:t xml:space="preserve">  &gt; Unlike Quanta and MasTec, AGX never went on a debt-financed acquisition spree</a:t>
            </a:r>
          </a:p>
          <a:p>
            <a:r>
              <a:rPr lang="en-US" dirty="0"/>
              <a:t xml:space="preserve">  &gt; They made two small acquisitions in 2015 -- APC in Ireland and The Roberts Company</a:t>
            </a:r>
          </a:p>
          <a:p>
            <a:r>
              <a:rPr lang="en-US" dirty="0"/>
              <a:t xml:space="preserve">  &gt; Both paid mostly in cash, any debt assumed retired almost immediately</a:t>
            </a:r>
          </a:p>
          <a:p>
            <a:r>
              <a:rPr lang="en-US" dirty="0"/>
              <a:t xml:space="preserve">  &gt; No leverage ever accumulated on the balance sheet</a:t>
            </a:r>
          </a:p>
          <a:p>
            <a:r>
              <a:rPr lang="en-US" dirty="0"/>
              <a:t xml:space="preserve">  &gt; Stack 20 years of strong margins on top of that -- cash compounds to $895M</a:t>
            </a:r>
          </a:p>
          <a:p>
            <a:endParaRPr lang="en-US" dirty="0"/>
          </a:p>
          <a:p>
            <a:r>
              <a:rPr lang="en-US" dirty="0"/>
              <a:t xml:space="preserve">  &gt; Note: management just flagged on the Q4 call they are now evaluating M&amp;A</a:t>
            </a:r>
          </a:p>
          <a:p>
            <a:r>
              <a:rPr lang="en-US" dirty="0"/>
              <a:t xml:space="preserve">  &gt; That $895M war chest could be deployed -- worth watching as a new risk variable</a:t>
            </a:r>
          </a:p>
          <a:p>
            <a:endParaRPr lang="en-US" dirty="0"/>
          </a:p>
          <a:p>
            <a:r>
              <a:rPr lang="en-US" dirty="0"/>
              <a:t>WHY THIS MATTERS for the investment case:</a:t>
            </a:r>
          </a:p>
          <a:p>
            <a:r>
              <a:rPr lang="en-US" dirty="0"/>
              <a:t xml:space="preserve">  &gt; Zero debt is not just a balance sheet stat -- it is a competitive advantage</a:t>
            </a:r>
          </a:p>
          <a:p>
            <a:r>
              <a:rPr lang="en-US" dirty="0"/>
              <a:t xml:space="preserve">  &gt; When a utility wants to build a $1B power plant, they need a contractor who can absorb</a:t>
            </a:r>
          </a:p>
          <a:p>
            <a:r>
              <a:rPr lang="en-US" dirty="0"/>
              <a:t xml:space="preserve">  &gt; cost overruns and delays without going under -- AGX's balance sheet is a sales tool</a:t>
            </a:r>
          </a:p>
          <a:p>
            <a:r>
              <a:rPr lang="en-US" dirty="0"/>
              <a:t xml:space="preserve">  &gt; Project delays don't threaten AGX -- they just draw down cash and keep building</a:t>
            </a:r>
          </a:p>
          <a:p>
            <a:r>
              <a:rPr lang="en-US" dirty="0"/>
              <a:t xml:space="preserve">  &gt; Heavily leveraged competitors in that same situation start stressing debt covenants</a:t>
            </a:r>
          </a:p>
          <a:p>
            <a:r>
              <a:rPr lang="en-US" dirty="0"/>
              <a:t xml:space="preserve">  &gt; And no interest expense means structurally better margins than every levered peer</a:t>
            </a:r>
          </a:p>
          <a:p>
            <a:endParaRPr lang="en-US" dirty="0"/>
          </a:p>
          <a:p>
            <a:r>
              <a:rPr lang="en-US" dirty="0"/>
              <a:t>One line to land this slide:</a:t>
            </a:r>
          </a:p>
          <a:p>
            <a:r>
              <a:rPr lang="en-US" dirty="0"/>
              <a:t xml:space="preserve">  &gt; Zero debt isn't an accident -- it is what happens when you build massive plants</a:t>
            </a:r>
          </a:p>
          <a:p>
            <a:r>
              <a:rPr lang="en-US" dirty="0"/>
              <a:t xml:space="preserve">  &gt; on client money, run high margins, and never borrow to grow.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5 -- CURRENT NEWS AND CATALYSTS</a:t>
            </a:r>
          </a:p>
          <a:p>
            <a:endParaRPr lang="en-US" dirty="0"/>
          </a:p>
          <a:p>
            <a:r>
              <a:rPr lang="en-US" dirty="0"/>
              <a:t>Three things put AGX on the radar:</a:t>
            </a:r>
          </a:p>
          <a:p>
            <a:endParaRPr lang="en-US" dirty="0"/>
          </a:p>
          <a:p>
            <a:r>
              <a:rPr lang="en-US" dirty="0"/>
              <a:t>1. Q4 earnings blowout</a:t>
            </a:r>
          </a:p>
          <a:p>
            <a:r>
              <a:rPr lang="en-US" dirty="0"/>
              <a:t xml:space="preserve">  &gt; EPS $3.47 vs. $2.13 consensus -- 63% beat</a:t>
            </a:r>
          </a:p>
          <a:p>
            <a:r>
              <a:rPr lang="en-US" dirty="0"/>
              <a:t xml:space="preserve">  &gt; Revenue +13% YoY; gross margin 25%</a:t>
            </a:r>
          </a:p>
          <a:p>
            <a:r>
              <a:rPr lang="en-US" dirty="0"/>
              <a:t xml:space="preserve">  &gt; Full-year EPS: $9.74</a:t>
            </a:r>
          </a:p>
          <a:p>
            <a:endParaRPr lang="en-US" dirty="0"/>
          </a:p>
          <a:p>
            <a:r>
              <a:rPr lang="en-US" dirty="0"/>
              <a:t>2. $2.9B backlog -- not estimates, fully committed</a:t>
            </a:r>
          </a:p>
          <a:p>
            <a:r>
              <a:rPr lang="en-US" dirty="0"/>
              <a:t xml:space="preserve">  &gt; $2.5B in new contracts signed in FY2026</a:t>
            </a:r>
          </a:p>
          <a:p>
            <a:r>
              <a:rPr lang="en-US" dirty="0"/>
              <a:t xml:space="preserve">  &gt; Three U.S. gas-fired plants, 3.4 GW total</a:t>
            </a:r>
          </a:p>
          <a:p>
            <a:r>
              <a:rPr lang="en-US" dirty="0"/>
              <a:t xml:space="preserve">  &gt; Backlog mix: 77% gas, 14% renewable, 9% industrial</a:t>
            </a:r>
          </a:p>
          <a:p>
            <a:endParaRPr lang="en-US" dirty="0"/>
          </a:p>
          <a:p>
            <a:r>
              <a:rPr lang="en-US" dirty="0"/>
              <a:t>3. AI/data center power demand</a:t>
            </a:r>
          </a:p>
          <a:p>
            <a:r>
              <a:rPr lang="en-US" dirty="0"/>
              <a:t xml:space="preserve">  &gt; CEO directly called it out -- AI is pressuring power grids</a:t>
            </a:r>
          </a:p>
          <a:p>
            <a:r>
              <a:rPr lang="en-US" dirty="0"/>
              <a:t xml:space="preserve">  &gt; AGX is the builder utilities call when they need reliable power fast</a:t>
            </a:r>
          </a:p>
          <a:p>
            <a:endParaRPr lang="en-US" dirty="0"/>
          </a:p>
          <a:p>
            <a:r>
              <a:rPr lang="en-US" dirty="0"/>
              <a:t>Important context for valuation:</a:t>
            </a:r>
          </a:p>
          <a:p>
            <a:r>
              <a:rPr lang="en-US" dirty="0"/>
              <a:t xml:space="preserve">  &gt; Stock surged 36% to $579 the day after earnings</a:t>
            </a:r>
          </a:p>
          <a:p>
            <a:r>
              <a:rPr lang="en-US" dirty="0"/>
              <a:t xml:space="preserve">  &gt; That surge is exactly why the entry point no longer works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6 -- MANAGEMENT OVERVIEW</a:t>
            </a:r>
          </a:p>
          <a:p>
            <a:endParaRPr lang="en-US" dirty="0"/>
          </a:p>
          <a:p>
            <a:r>
              <a:rPr lang="en-US" dirty="0"/>
              <a:t>CEO: David Watson</a:t>
            </a:r>
          </a:p>
          <a:p>
            <a:r>
              <a:rPr lang="en-US" dirty="0"/>
              <a:t xml:space="preserve">  &gt; Came up through the CFO role -- deep financial knowledge of the business</a:t>
            </a:r>
          </a:p>
          <a:p>
            <a:r>
              <a:rPr lang="en-US" dirty="0"/>
              <a:t xml:space="preserve">  &gt; Led the company through its most transformational growth period</a:t>
            </a:r>
          </a:p>
          <a:p>
            <a:r>
              <a:rPr lang="en-US" dirty="0"/>
              <a:t xml:space="preserve">  &gt; Completed Trumbull Energy Center ahead of schedule</a:t>
            </a:r>
          </a:p>
          <a:p>
            <a:endParaRPr lang="en-US" dirty="0"/>
          </a:p>
          <a:p>
            <a:r>
              <a:rPr lang="en-US" dirty="0"/>
              <a:t>CFO: Josh Baugher</a:t>
            </a:r>
          </a:p>
          <a:p>
            <a:r>
              <a:rPr lang="en-US" dirty="0"/>
              <a:t xml:space="preserve">  &gt; Oversaw margin expansion from 16.1% to 20.5%</a:t>
            </a:r>
          </a:p>
          <a:p>
            <a:r>
              <a:rPr lang="en-US" dirty="0"/>
              <a:t xml:space="preserve">  &gt; Manages $895M cash position -- disciplined steward of the balance sheet</a:t>
            </a:r>
          </a:p>
          <a:p>
            <a:endParaRPr lang="en-US" dirty="0"/>
          </a:p>
          <a:p>
            <a:r>
              <a:rPr lang="en-US" dirty="0"/>
              <a:t>Gemma Power Systems (the EPC engine):</a:t>
            </a:r>
          </a:p>
          <a:p>
            <a:r>
              <a:rPr lang="en-US" dirty="0"/>
              <a:t xml:space="preserve">  &gt; Collins and Trebilcock run day-to-day ops</a:t>
            </a:r>
          </a:p>
          <a:p>
            <a:r>
              <a:rPr lang="en-US" dirty="0"/>
              <a:t xml:space="preserve">  &gt; Responsible for the $2.9B backlog execution</a:t>
            </a:r>
          </a:p>
          <a:p>
            <a:endParaRPr lang="en-US" dirty="0"/>
          </a:p>
          <a:p>
            <a:r>
              <a:rPr lang="en-US" dirty="0"/>
              <a:t>Bottom line on management:</a:t>
            </a:r>
          </a:p>
          <a:p>
            <a:r>
              <a:rPr lang="en-US" dirty="0"/>
              <a:t xml:space="preserve">  &gt; Experienced, financially disciplined, institutional knowledge of the business</a:t>
            </a:r>
          </a:p>
          <a:p>
            <a:r>
              <a:rPr lang="en-US" dirty="0"/>
              <a:t xml:space="preserve">  &gt; Management quality is NOT the reason we're passing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7 -- PORTER'S FIVE FORCES</a:t>
            </a:r>
          </a:p>
          <a:p>
            <a:endParaRPr lang="en-US" dirty="0"/>
          </a:p>
          <a:p>
            <a:r>
              <a:rPr lang="en-US" dirty="0"/>
              <a:t>Threat of New Entrants -- LOW</a:t>
            </a:r>
          </a:p>
          <a:p>
            <a:r>
              <a:rPr lang="en-US" dirty="0"/>
              <a:t xml:space="preserve">  &gt; 20 years of expertise, bonding capacity, and client trust can't be replicated quickly</a:t>
            </a:r>
          </a:p>
          <a:p>
            <a:endParaRPr lang="en-US" dirty="0"/>
          </a:p>
          <a:p>
            <a:r>
              <a:rPr lang="en-US" dirty="0"/>
              <a:t>Threat of Substitutes -- LOW</a:t>
            </a:r>
          </a:p>
          <a:p>
            <a:r>
              <a:rPr lang="en-US" dirty="0"/>
              <a:t xml:space="preserve">  &gt; Power plants must be built -- no alternative to EPC construction</a:t>
            </a:r>
          </a:p>
          <a:p>
            <a:r>
              <a:rPr lang="en-US" dirty="0"/>
              <a:t xml:space="preserve">  &gt; Only question is who gets the contract</a:t>
            </a:r>
          </a:p>
          <a:p>
            <a:endParaRPr lang="en-US" dirty="0"/>
          </a:p>
          <a:p>
            <a:r>
              <a:rPr lang="en-US" dirty="0"/>
              <a:t>Competitive Rivalry -- MODERATE</a:t>
            </a:r>
          </a:p>
          <a:p>
            <a:r>
              <a:rPr lang="en-US" dirty="0"/>
              <a:t xml:space="preserve">  &gt; Quanta, MasTec, EMCOR, Fluor are all in the space</a:t>
            </a:r>
          </a:p>
          <a:p>
            <a:r>
              <a:rPr lang="en-US" dirty="0"/>
              <a:t xml:space="preserve">  &gt; But AGX's niche focus on gas-fired plants is a real differentiator</a:t>
            </a:r>
          </a:p>
          <a:p>
            <a:endParaRPr lang="en-US" dirty="0"/>
          </a:p>
          <a:p>
            <a:r>
              <a:rPr lang="en-US" dirty="0"/>
              <a:t>Supplier Power -- MODERATE</a:t>
            </a:r>
          </a:p>
          <a:p>
            <a:r>
              <a:rPr lang="en-US" dirty="0"/>
              <a:t xml:space="preserve">  &gt; GE and Siemens hold pricing power on turbines and specialty equipment</a:t>
            </a:r>
          </a:p>
          <a:p>
            <a:endParaRPr lang="en-US" dirty="0"/>
          </a:p>
          <a:p>
            <a:r>
              <a:rPr lang="en-US" dirty="0"/>
              <a:t>Buyer Power -- LOW TO MODERATE</a:t>
            </a:r>
          </a:p>
          <a:p>
            <a:r>
              <a:rPr lang="en-US" dirty="0"/>
              <a:t xml:space="preserve">  &gt; Once a utility picks a builder and breaks ground, switching is not viable</a:t>
            </a:r>
          </a:p>
          <a:p>
            <a:endParaRPr lang="en-US" dirty="0"/>
          </a:p>
          <a:p>
            <a:r>
              <a:rPr lang="en-US" dirty="0"/>
              <a:t>Takeaway: The five-forces profile supports a premium multiple.</a:t>
            </a:r>
          </a:p>
          <a:p>
            <a:r>
              <a:rPr lang="en-US" dirty="0"/>
              <a:t>The debate is how large that premium should be.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8 -- AGX vs. S&amp;P 500: 5-YEAR PERFORMANCE</a:t>
            </a:r>
          </a:p>
          <a:p>
            <a:endParaRPr lang="en-US" dirty="0"/>
          </a:p>
          <a:p>
            <a:r>
              <a:rPr lang="en-US" dirty="0"/>
              <a:t>Key stats:</a:t>
            </a:r>
          </a:p>
          <a:p>
            <a:r>
              <a:rPr lang="en-US" dirty="0"/>
              <a:t xml:space="preserve">  &gt; AGX 5-yr return: +310%</a:t>
            </a:r>
          </a:p>
          <a:p>
            <a:r>
              <a:rPr lang="en-US" dirty="0"/>
              <a:t xml:space="preserve">  &gt; S&amp;P 500 5-yr return: ~+65%</a:t>
            </a:r>
          </a:p>
          <a:p>
            <a:r>
              <a:rPr lang="en-US" dirty="0"/>
              <a:t xml:space="preserve">  &gt; Raw beta: 0.46 -- moves much less than the broad market</a:t>
            </a:r>
          </a:p>
          <a:p>
            <a:r>
              <a:rPr lang="en-US" dirty="0"/>
              <a:t xml:space="preserve">  &gt; 52-week range: $111 to $579</a:t>
            </a:r>
          </a:p>
          <a:p>
            <a:endParaRPr lang="en-US" dirty="0"/>
          </a:p>
          <a:p>
            <a:r>
              <a:rPr lang="en-US" dirty="0"/>
              <a:t>Why the low beta?</a:t>
            </a:r>
          </a:p>
          <a:p>
            <a:r>
              <a:rPr lang="en-US" dirty="0"/>
              <a:t xml:space="preserve">  &gt; Committed backlog decouples revenue from economic cycles</a:t>
            </a:r>
          </a:p>
          <a:p>
            <a:r>
              <a:rPr lang="en-US" dirty="0"/>
              <a:t xml:space="preserve">  &gt; When your next 3 years of revenue are already under contract, macro swings matter less</a:t>
            </a:r>
          </a:p>
          <a:p>
            <a:endParaRPr lang="en-US" dirty="0"/>
          </a:p>
          <a:p>
            <a:r>
              <a:rPr lang="en-US" dirty="0"/>
              <a:t>What this means for us:</a:t>
            </a:r>
          </a:p>
          <a:p>
            <a:r>
              <a:rPr lang="en-US" dirty="0"/>
              <a:t xml:space="preserve">  &gt; Strong historical performance -- but the stock has already been discovered</a:t>
            </a:r>
          </a:p>
          <a:p>
            <a:r>
              <a:rPr lang="en-US" dirty="0"/>
              <a:t xml:space="preserve">  &gt; The 36% single-day jump after earnings is a sign the market has fully re-rated it</a:t>
            </a:r>
          </a:p>
          <a:p>
            <a:r>
              <a:rPr lang="en-US" dirty="0"/>
              <a:t xml:space="preserve">  &gt; We're not getting the early-mover advantage anymore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9 -- RELATIVE VALUATION: PEER COMPARISON</a:t>
            </a:r>
          </a:p>
          <a:p>
            <a:endParaRPr lang="en-US" dirty="0"/>
          </a:p>
          <a:p>
            <a:r>
              <a:rPr lang="en-US" dirty="0"/>
              <a:t>Where AGX sits vs. peers:</a:t>
            </a:r>
          </a:p>
          <a:p>
            <a:r>
              <a:rPr lang="en-US" dirty="0"/>
              <a:t xml:space="preserve">  &gt; AGX: 58x EV/EBITDA, 58x forward P/E</a:t>
            </a:r>
          </a:p>
          <a:p>
            <a:r>
              <a:rPr lang="en-US" dirty="0"/>
              <a:t xml:space="preserve">  &gt; Peer median: ~20x EV/EBITDA, ~22-27x P/E</a:t>
            </a:r>
          </a:p>
          <a:p>
            <a:r>
              <a:rPr lang="en-US" dirty="0"/>
              <a:t xml:space="preserve">  &gt; That's roughly a 3x premium to the group</a:t>
            </a:r>
          </a:p>
          <a:p>
            <a:endParaRPr lang="en-US" dirty="0"/>
          </a:p>
          <a:p>
            <a:r>
              <a:rPr lang="en-US" dirty="0"/>
              <a:t>The bull case for the premium:</a:t>
            </a:r>
          </a:p>
          <a:p>
            <a:r>
              <a:rPr lang="en-US" dirty="0"/>
              <a:t xml:space="preserve">  &gt; $2.9B committed backlog provides revenue certainty peers can't match</a:t>
            </a:r>
          </a:p>
          <a:p>
            <a:r>
              <a:rPr lang="en-US" dirty="0"/>
              <a:t xml:space="preserve">  &gt; $895M cash inflates the EV denominator -- cash-adjusted multiple is lower</a:t>
            </a:r>
          </a:p>
          <a:p>
            <a:endParaRPr lang="en-US" dirty="0"/>
          </a:p>
          <a:p>
            <a:r>
              <a:rPr lang="en-US" dirty="0"/>
              <a:t>Why it still doesn't work:</a:t>
            </a:r>
          </a:p>
          <a:p>
            <a:r>
              <a:rPr lang="en-US" dirty="0"/>
              <a:t xml:space="preserve">  &gt; Even generous adjustments can't close the gap to peer multiples</a:t>
            </a:r>
          </a:p>
          <a:p>
            <a:r>
              <a:rPr lang="en-US" dirty="0"/>
              <a:t xml:space="preserve">  &gt; The comps-implied valuation on the next slide shows just how wide the gap is</a:t>
            </a:r>
          </a:p>
          <a:p>
            <a:endParaRPr lang="en-US" dirty="0"/>
          </a:p>
          <a:p>
            <a:r>
              <a:rPr lang="en-US" dirty="0"/>
              <a:t>This is where the story starts to crack.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18 -- THANK YOU / Q&amp;A</a:t>
            </a:r>
          </a:p>
          <a:p>
            <a:endParaRPr lang="en-US" dirty="0"/>
          </a:p>
          <a:p>
            <a:r>
              <a:rPr lang="en-US" dirty="0"/>
              <a:t>Key numbers to have ready:</a:t>
            </a:r>
          </a:p>
          <a:p>
            <a:r>
              <a:rPr lang="en-US" dirty="0"/>
              <a:t xml:space="preserve">  &gt; Base DCF: $518</a:t>
            </a:r>
          </a:p>
          <a:p>
            <a:r>
              <a:rPr lang="en-US" dirty="0"/>
              <a:t xml:space="preserve">  &gt; Bull case: $590</a:t>
            </a:r>
          </a:p>
          <a:p>
            <a:r>
              <a:rPr lang="en-US" dirty="0"/>
              <a:t xml:space="preserve">  &gt; Current price: ~$566</a:t>
            </a:r>
          </a:p>
          <a:p>
            <a:r>
              <a:rPr lang="en-US" dirty="0"/>
              <a:t xml:space="preserve">  &gt; Original target: $630 (set when stock was at ~$410)</a:t>
            </a:r>
          </a:p>
          <a:p>
            <a:endParaRPr lang="en-US" dirty="0"/>
          </a:p>
          <a:p>
            <a:r>
              <a:rPr lang="en-US" dirty="0"/>
              <a:t>If challenged on the pass:</a:t>
            </a:r>
          </a:p>
          <a:p>
            <a:r>
              <a:rPr lang="en-US" dirty="0"/>
              <a:t xml:space="preserve">  &gt; Pull up the sensitivity table -- base case is already below today's price</a:t>
            </a:r>
          </a:p>
          <a:p>
            <a:r>
              <a:rPr lang="en-US" dirty="0"/>
              <a:t xml:space="preserve">  &gt; Every peer comp implies downside -- show the multiples slide</a:t>
            </a:r>
          </a:p>
          <a:p>
            <a:r>
              <a:rPr lang="en-US" dirty="0"/>
              <a:t xml:space="preserve">  &gt; The 36% post-earnings surge front-ran the thesis</a:t>
            </a:r>
          </a:p>
          <a:p>
            <a:endParaRPr lang="en-US" dirty="0"/>
          </a:p>
          <a:p>
            <a:r>
              <a:rPr lang="en-US" dirty="0"/>
              <a:t>If asked why not buy given the backlog:</a:t>
            </a:r>
          </a:p>
          <a:p>
            <a:r>
              <a:rPr lang="en-US" dirty="0"/>
              <a:t xml:space="preserve">  &gt; The backlog is real and is a genuine strength</a:t>
            </a:r>
          </a:p>
          <a:p>
            <a:r>
              <a:rPr lang="en-US" dirty="0"/>
              <a:t xml:space="preserve">  &gt; But it's already priced in -- the market knows about it</a:t>
            </a:r>
          </a:p>
          <a:p>
            <a:r>
              <a:rPr lang="en-US" dirty="0"/>
              <a:t xml:space="preserve">  &gt; We need a margin of safety; we don't have one at $566</a:t>
            </a:r>
          </a:p>
          <a:p>
            <a:endParaRPr lang="en-US" dirty="0"/>
          </a:p>
          <a:p>
            <a:r>
              <a:rPr lang="en-US" dirty="0"/>
              <a:t>Revisit trigger: pullback to $450-$480.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11 -- REVENUE: DOLLAR AMOUNT AND GROWTH RATE</a:t>
            </a:r>
          </a:p>
          <a:p>
            <a:endParaRPr lang="en-US" dirty="0"/>
          </a:p>
          <a:p>
            <a:r>
              <a:rPr lang="en-US" dirty="0"/>
              <a:t>Historical revenue has been lumpy:</a:t>
            </a:r>
          </a:p>
          <a:p>
            <a:r>
              <a:rPr lang="en-US" dirty="0"/>
              <a:t xml:space="preserve">  &gt; Down 10.7% in FY23, up 52.5% in FY25 -- project-based businesses do this</a:t>
            </a:r>
          </a:p>
          <a:p>
            <a:endParaRPr lang="en-US" dirty="0"/>
          </a:p>
          <a:p>
            <a:r>
              <a:rPr lang="en-US" dirty="0"/>
              <a:t>Projection assumption: 22.2% annual growth</a:t>
            </a:r>
          </a:p>
          <a:p>
            <a:r>
              <a:rPr lang="en-US" dirty="0"/>
              <a:t xml:space="preserve">  &gt; Based on geometric mean of FY21-FY25</a:t>
            </a:r>
          </a:p>
          <a:p>
            <a:r>
              <a:rPr lang="en-US" dirty="0"/>
              <a:t xml:space="preserve">  &gt; Supported by the $2.9B backlog -- revenue is largely already contracted</a:t>
            </a:r>
          </a:p>
          <a:p>
            <a:endParaRPr lang="en-US" dirty="0"/>
          </a:p>
          <a:p>
            <a:r>
              <a:rPr lang="en-US" dirty="0"/>
              <a:t>Projected path:</a:t>
            </a:r>
          </a:p>
          <a:p>
            <a:r>
              <a:rPr lang="en-US" dirty="0"/>
              <a:t xml:space="preserve">  &gt; FY26: ~$1.07B --&gt; FY30: ~$2.38B</a:t>
            </a:r>
          </a:p>
          <a:p>
            <a:endParaRPr lang="en-US" dirty="0"/>
          </a:p>
          <a:p>
            <a:r>
              <a:rPr lang="en-US" dirty="0"/>
              <a:t>Key execution risk:</a:t>
            </a:r>
          </a:p>
          <a:p>
            <a:r>
              <a:rPr lang="en-US" dirty="0"/>
              <a:t xml:space="preserve">  &gt; Can AGX win new contracts fast enough to sustain growth after the backlog converts?</a:t>
            </a:r>
          </a:p>
          <a:p>
            <a:r>
              <a:rPr lang="en-US" dirty="0"/>
              <a:t xml:space="preserve">  &gt; That's the central assumption in our model -- and where the most uncertainty lives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12 -- EBIT MARGIN AND EBIT DOLLAR AMOUNT</a:t>
            </a:r>
          </a:p>
          <a:p>
            <a:endParaRPr lang="en-US" dirty="0"/>
          </a:p>
          <a:p>
            <a:r>
              <a:rPr lang="en-US" dirty="0"/>
              <a:t>Historical margin has been volatile:</a:t>
            </a:r>
          </a:p>
          <a:p>
            <a:r>
              <a:rPr lang="en-US" dirty="0"/>
              <a:t xml:space="preserve">  &gt; Range: 5.9% (FY21) to 10.1% (FY25)</a:t>
            </a:r>
          </a:p>
          <a:p>
            <a:r>
              <a:rPr lang="en-US" dirty="0"/>
              <a:t xml:space="preserve">  &gt; Five-year average was about 8%</a:t>
            </a:r>
          </a:p>
          <a:p>
            <a:endParaRPr lang="en-US" dirty="0"/>
          </a:p>
          <a:p>
            <a:r>
              <a:rPr lang="en-US" dirty="0"/>
              <a:t>Projection assumption: 14% EBIT margin</a:t>
            </a:r>
          </a:p>
          <a:p>
            <a:r>
              <a:rPr lang="en-US" dirty="0"/>
              <a:t xml:space="preserve">  &gt; Updated from the 8% historical average</a:t>
            </a:r>
          </a:p>
          <a:p>
            <a:r>
              <a:rPr lang="en-US" dirty="0"/>
              <a:t xml:space="preserve">  &gt; FY2026 net income of $137.8M on $944.6M revenue implies ~14.6% EBIT margin</a:t>
            </a:r>
          </a:p>
          <a:p>
            <a:r>
              <a:rPr lang="en-US" dirty="0"/>
              <a:t xml:space="preserve">  &gt; Q4 gross margin hit 25% -- so 14% EBIT is actually conservative</a:t>
            </a:r>
          </a:p>
          <a:p>
            <a:endParaRPr lang="en-US" dirty="0"/>
          </a:p>
          <a:p>
            <a:r>
              <a:rPr lang="en-US" dirty="0"/>
              <a:t>EBIT in dollars:</a:t>
            </a:r>
          </a:p>
          <a:p>
            <a:r>
              <a:rPr lang="en-US" dirty="0"/>
              <a:t xml:space="preserve">  &gt; FY26: $149.5M --&gt; FY30: $333.3M</a:t>
            </a:r>
          </a:p>
          <a:p>
            <a:endParaRPr lang="en-US" dirty="0"/>
          </a:p>
          <a:p>
            <a:r>
              <a:rPr lang="en-US" dirty="0"/>
              <a:t>Even with these bullish inputs, the DCF still doesn't clear $566.</a:t>
            </a:r>
          </a:p>
          <a:p>
            <a:r>
              <a:rPr lang="en-US" dirty="0"/>
              <a:t>That's the central problem -- and you'll see it clearly in the sensitivity table.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13 -- RELATIVE VALUATION: IMPLIED TARGET PRICES</a:t>
            </a:r>
          </a:p>
          <a:p>
            <a:endParaRPr lang="en-US" dirty="0"/>
          </a:p>
          <a:p>
            <a:r>
              <a:rPr lang="en-US" dirty="0"/>
              <a:t>This is the core of the pass decision.</a:t>
            </a:r>
          </a:p>
          <a:p>
            <a:endParaRPr lang="en-US" dirty="0"/>
          </a:p>
          <a:p>
            <a:r>
              <a:rPr lang="en-US" dirty="0"/>
              <a:t>Implied prices by multiple (peer median applied to AGX):</a:t>
            </a:r>
          </a:p>
          <a:p>
            <a:r>
              <a:rPr lang="en-US" dirty="0"/>
              <a:t xml:space="preserve">  &gt; P/E:       $391 implied  vs. $566 current  (-31%)</a:t>
            </a:r>
          </a:p>
          <a:p>
            <a:r>
              <a:rPr lang="en-US" dirty="0"/>
              <a:t xml:space="preserve">  &gt; P/S:       $125 implied  vs. $566 current  (-78%)</a:t>
            </a:r>
          </a:p>
          <a:p>
            <a:r>
              <a:rPr lang="en-US" dirty="0"/>
              <a:t xml:space="preserve">  &gt; P/B:       $321 implied  vs. $566 current  (-43%)</a:t>
            </a:r>
          </a:p>
          <a:p>
            <a:r>
              <a:rPr lang="en-US" dirty="0"/>
              <a:t xml:space="preserve">  &gt; PEG:       $290 implied  vs. $566 current  (-49%)</a:t>
            </a:r>
          </a:p>
          <a:p>
            <a:r>
              <a:rPr lang="en-US" dirty="0"/>
              <a:t xml:space="preserve">  &gt; EV/EBITDA: $266 implied  vs. $566 current  (-53%)</a:t>
            </a:r>
          </a:p>
          <a:p>
            <a:endParaRPr lang="en-US" dirty="0"/>
          </a:p>
          <a:p>
            <a:r>
              <a:rPr lang="en-US" dirty="0"/>
              <a:t>Not a single multiple supports the current price.</a:t>
            </a:r>
          </a:p>
          <a:p>
            <a:endParaRPr lang="en-US" dirty="0"/>
          </a:p>
          <a:p>
            <a:r>
              <a:rPr lang="en-US" dirty="0"/>
              <a:t>If challenged on this:</a:t>
            </a:r>
          </a:p>
          <a:p>
            <a:r>
              <a:rPr lang="en-US" dirty="0"/>
              <a:t xml:space="preserve">  &gt; Yes, AGX deserves a premium for the backlog and margin trajectory</a:t>
            </a:r>
          </a:p>
          <a:p>
            <a:r>
              <a:rPr lang="en-US" dirty="0"/>
              <a:t xml:space="preserve">  &gt; But a premium of 2-3x the peer group requires flawless execution</a:t>
            </a:r>
          </a:p>
          <a:p>
            <a:r>
              <a:rPr lang="en-US" dirty="0"/>
              <a:t xml:space="preserve">  &gt; That's not a favorable risk setup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14 -- DCF: MAJOR ASSUMPTIONS</a:t>
            </a:r>
          </a:p>
          <a:p>
            <a:endParaRPr lang="en-US" dirty="0"/>
          </a:p>
          <a:p>
            <a:r>
              <a:rPr lang="en-US" dirty="0"/>
              <a:t>Five inputs driving the model:</a:t>
            </a:r>
          </a:p>
          <a:p>
            <a:endParaRPr lang="en-US" dirty="0"/>
          </a:p>
          <a:p>
            <a:r>
              <a:rPr lang="en-US" dirty="0"/>
              <a:t xml:space="preserve">  1. Revenue growth: 22.2% annually</a:t>
            </a:r>
          </a:p>
          <a:p>
            <a:r>
              <a:rPr lang="en-US" dirty="0"/>
              <a:t xml:space="preserve">     &gt; Geometric mean of FY21-FY25 historical</a:t>
            </a:r>
          </a:p>
          <a:p>
            <a:r>
              <a:rPr lang="en-US" dirty="0"/>
              <a:t xml:space="preserve">     &gt; Anchored by the $2.9B committed backlog</a:t>
            </a:r>
          </a:p>
          <a:p>
            <a:endParaRPr lang="en-US" dirty="0"/>
          </a:p>
          <a:p>
            <a:r>
              <a:rPr lang="en-US" dirty="0"/>
              <a:t xml:space="preserve">  2. EBIT margin: 14%</a:t>
            </a:r>
          </a:p>
          <a:p>
            <a:r>
              <a:rPr lang="en-US" dirty="0"/>
              <a:t xml:space="preserve">     &gt; Updated to reflect FY2026 actuals (was 8% historical avg)</a:t>
            </a:r>
          </a:p>
          <a:p>
            <a:r>
              <a:rPr lang="en-US" dirty="0"/>
              <a:t xml:space="preserve">     &gt; Conservative given Q4 gross margin of 25%</a:t>
            </a:r>
          </a:p>
          <a:p>
            <a:endParaRPr lang="en-US" dirty="0"/>
          </a:p>
          <a:p>
            <a:r>
              <a:rPr lang="en-US" dirty="0"/>
              <a:t xml:space="preserve">  3. Terminal growth rate: 3.5%</a:t>
            </a:r>
          </a:p>
          <a:p>
            <a:r>
              <a:rPr lang="en-US" dirty="0"/>
              <a:t xml:space="preserve">     &gt; Below nominal long-run GDP (~4%)</a:t>
            </a:r>
          </a:p>
          <a:p>
            <a:r>
              <a:rPr lang="en-US" dirty="0"/>
              <a:t xml:space="preserve">     &gt; Justified by structural AI/data center power demand</a:t>
            </a:r>
          </a:p>
          <a:p>
            <a:endParaRPr lang="en-US" dirty="0"/>
          </a:p>
          <a:p>
            <a:r>
              <a:rPr lang="en-US" dirty="0"/>
              <a:t xml:space="preserve">  4. Working capital: 5-year historical averages</a:t>
            </a:r>
          </a:p>
          <a:p>
            <a:r>
              <a:rPr lang="en-US" dirty="0"/>
              <a:t xml:space="preserve">     &gt; CapEx 0.62%, D&amp;A 0.50%, AR 10.3%, AP+Accrued 21.5%</a:t>
            </a:r>
          </a:p>
          <a:p>
            <a:endParaRPr lang="en-US" dirty="0"/>
          </a:p>
          <a:p>
            <a:r>
              <a:rPr lang="en-US" dirty="0"/>
              <a:t xml:space="preserve">  5. Balance sheet: $895M cash, $0 debt, 21% tax rate</a:t>
            </a:r>
          </a:p>
          <a:p>
            <a:r>
              <a:rPr lang="en-US" dirty="0"/>
              <a:t xml:space="preserve">     &gt; Pulled directly from Q4 FY2026 10-K</a:t>
            </a:r>
          </a:p>
          <a:p>
            <a:endParaRPr lang="en-US" dirty="0"/>
          </a:p>
          <a:p>
            <a:r>
              <a:rPr lang="en-US" dirty="0"/>
              <a:t>Punchline: Even with inputs that lean bullish, DCF produces $518.</a:t>
            </a:r>
          </a:p>
          <a:p>
            <a:r>
              <a:rPr lang="en-US" dirty="0"/>
              <a:t>That's already below today's price.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15 -- DCF: WACC ASSUMPTIONS</a:t>
            </a:r>
          </a:p>
          <a:p>
            <a:endParaRPr lang="en-US" dirty="0"/>
          </a:p>
          <a:p>
            <a:r>
              <a:rPr lang="en-US" dirty="0"/>
              <a:t>Because AGX has zero debt, WACC = cost of equity entirely.</a:t>
            </a:r>
          </a:p>
          <a:p>
            <a:endParaRPr lang="en-US" dirty="0"/>
          </a:p>
          <a:p>
            <a:r>
              <a:rPr lang="en-US" dirty="0"/>
              <a:t>On the zero debt point -- worth explaining how this happens:</a:t>
            </a:r>
          </a:p>
          <a:p>
            <a:r>
              <a:rPr lang="en-US" dirty="0"/>
              <a:t xml:space="preserve">  &gt; EPC companies get paid in milestone payments during construction</a:t>
            </a:r>
          </a:p>
          <a:p>
            <a:r>
              <a:rPr lang="en-US" dirty="0"/>
              <a:t xml:space="preserve">  &gt; Clients (utilities, IPPs) fund the project in stages as work progresses</a:t>
            </a:r>
          </a:p>
          <a:p>
            <a:r>
              <a:rPr lang="en-US" dirty="0"/>
              <a:t xml:space="preserve">  &gt; AGX builds using client capital, not borrowed money</a:t>
            </a:r>
          </a:p>
          <a:p>
            <a:r>
              <a:rPr lang="en-US" dirty="0"/>
              <a:t xml:space="preserve">  &gt; There's simply no need to borrow when the model pre-funds itself</a:t>
            </a:r>
          </a:p>
          <a:p>
            <a:r>
              <a:rPr lang="en-US" dirty="0"/>
              <a:t xml:space="preserve">  &gt; Stack 20 years of consistent profitability on top -- cash compounds to $895M</a:t>
            </a:r>
          </a:p>
          <a:p>
            <a:endParaRPr lang="en-US" dirty="0"/>
          </a:p>
          <a:p>
            <a:r>
              <a:rPr lang="en-US" dirty="0"/>
              <a:t>WACC inputs:</a:t>
            </a:r>
          </a:p>
          <a:p>
            <a:r>
              <a:rPr lang="en-US" dirty="0"/>
              <a:t xml:space="preserve">  &gt; Risk-free rate: 4.1% (10-year Treasury)</a:t>
            </a:r>
          </a:p>
          <a:p>
            <a:r>
              <a:rPr lang="en-US" dirty="0"/>
              <a:t xml:space="preserve">  &gt; Equity risk premium: 5.4%</a:t>
            </a:r>
          </a:p>
          <a:p>
            <a:r>
              <a:rPr lang="en-US" dirty="0"/>
              <a:t xml:space="preserve">  &gt; Raw beta: 0.46 --&gt; adjusted to 0.64 (mean reversion adjustment)</a:t>
            </a:r>
          </a:p>
          <a:p>
            <a:r>
              <a:rPr lang="en-US" dirty="0"/>
              <a:t xml:space="preserve">  &gt; Cost of equity / WACC: 7.56%</a:t>
            </a:r>
          </a:p>
          <a:p>
            <a:endParaRPr lang="en-US" dirty="0"/>
          </a:p>
          <a:p>
            <a:r>
              <a:rPr lang="en-US" dirty="0"/>
              <a:t>Why the low beta?</a:t>
            </a:r>
          </a:p>
          <a:p>
            <a:r>
              <a:rPr lang="en-US" dirty="0"/>
              <a:t xml:space="preserve">  &gt; Committed backlog decouples revenue from market cycles</a:t>
            </a:r>
          </a:p>
          <a:p>
            <a:endParaRPr lang="en-US" dirty="0"/>
          </a:p>
          <a:p>
            <a:r>
              <a:rPr lang="en-US" dirty="0"/>
              <a:t>7.56% WACC is favorable for the bull case.</a:t>
            </a:r>
          </a:p>
          <a:p>
            <a:r>
              <a:rPr lang="en-US" dirty="0"/>
              <a:t>Even so, the DCF doesn't support $566.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16 -- SENSITIVITY ANALYSIS</a:t>
            </a:r>
          </a:p>
          <a:p>
            <a:endParaRPr lang="en-US" dirty="0"/>
          </a:p>
          <a:p>
            <a:r>
              <a:rPr lang="en-US" dirty="0"/>
              <a:t>This table is your clearest argument for the pass.</a:t>
            </a:r>
          </a:p>
          <a:p>
            <a:endParaRPr lang="en-US" dirty="0"/>
          </a:p>
          <a:p>
            <a:r>
              <a:rPr lang="en-US" dirty="0"/>
              <a:t>Base case (22.2% growth / 14% EBIT): $518</a:t>
            </a:r>
          </a:p>
          <a:p>
            <a:r>
              <a:rPr lang="en-US" dirty="0"/>
              <a:t xml:space="preserve">  &gt; Already below the current price of $566</a:t>
            </a:r>
          </a:p>
          <a:p>
            <a:endParaRPr lang="en-US" dirty="0"/>
          </a:p>
          <a:p>
            <a:r>
              <a:rPr lang="en-US" dirty="0"/>
              <a:t>To justify $566, you need:</a:t>
            </a:r>
          </a:p>
          <a:p>
            <a:r>
              <a:rPr lang="en-US" dirty="0"/>
              <a:t xml:space="preserve">  &gt; ~24.2% revenue growth AND ~16% EBIT margin simultaneously</a:t>
            </a:r>
          </a:p>
          <a:p>
            <a:r>
              <a:rPr lang="en-US" dirty="0"/>
              <a:t xml:space="preserve">  &gt; That's the top-right corner of the table -- very demanding</a:t>
            </a:r>
          </a:p>
          <a:p>
            <a:endParaRPr lang="en-US" dirty="0"/>
          </a:p>
          <a:p>
            <a:r>
              <a:rPr lang="en-US" dirty="0"/>
              <a:t>Bear case (18.2% growth / 12% EBIT): $395</a:t>
            </a:r>
          </a:p>
          <a:p>
            <a:r>
              <a:rPr lang="en-US" dirty="0"/>
              <a:t xml:space="preserve">  &gt; That's a 30% drawdown from current levels</a:t>
            </a:r>
          </a:p>
          <a:p>
            <a:endParaRPr lang="en-US" dirty="0"/>
          </a:p>
          <a:p>
            <a:r>
              <a:rPr lang="en-US" dirty="0"/>
              <a:t>The asymmetry is unfavorable:</a:t>
            </a:r>
          </a:p>
          <a:p>
            <a:r>
              <a:rPr lang="en-US" dirty="0"/>
              <a:t xml:space="preserve">  &gt; Upside to bull case: maybe 4-7%</a:t>
            </a:r>
          </a:p>
          <a:p>
            <a:r>
              <a:rPr lang="en-US" dirty="0"/>
              <a:t xml:space="preserve">  &gt; Downside to bear case: 30%</a:t>
            </a:r>
          </a:p>
          <a:p>
            <a:endParaRPr lang="en-US" dirty="0"/>
          </a:p>
          <a:p>
            <a:r>
              <a:rPr lang="en-US" dirty="0"/>
              <a:t>If someone asks why you're passing despite a strong business:</a:t>
            </a:r>
          </a:p>
          <a:p>
            <a:r>
              <a:rPr lang="en-US" dirty="0"/>
              <a:t xml:space="preserve">  &gt; Point to this table. The risk/reward doesn't work at $566.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-- SUMMARY: INVESTMENT CONCLUSION</a:t>
            </a:r>
          </a:p>
          <a:p>
            <a:endParaRPr lang="en-US" dirty="0"/>
          </a:p>
          <a:p>
            <a:r>
              <a:rPr lang="en-US" dirty="0"/>
              <a:t>HOW WE ARRIVED AT $467 -- walk through this clearly:</a:t>
            </a:r>
          </a:p>
          <a:p>
            <a:endParaRPr lang="en-US" dirty="0"/>
          </a:p>
          <a:p>
            <a:r>
              <a:rPr lang="en-US" dirty="0"/>
              <a:t xml:space="preserve">  &gt; Our target is a 60/40 blend of two methods:</a:t>
            </a:r>
          </a:p>
          <a:p>
            <a:endParaRPr lang="en-US" dirty="0"/>
          </a:p>
          <a:p>
            <a:r>
              <a:rPr lang="en-US" dirty="0"/>
              <a:t xml:space="preserve">  METHOD 1 -- DCF base case: $518  (60% weight)</a:t>
            </a:r>
          </a:p>
          <a:p>
            <a:r>
              <a:rPr lang="en-US" dirty="0"/>
              <a:t xml:space="preserve">  &gt; 22.2% revenue growth, 14% EBIT margin, 7.56% WACC</a:t>
            </a:r>
          </a:p>
          <a:p>
            <a:r>
              <a:rPr lang="en-US" dirty="0"/>
              <a:t xml:space="preserve">  &gt; These are already aggressive assumptions -- 14% EBIT is above the 5-year historical average of 8%</a:t>
            </a:r>
          </a:p>
          <a:p>
            <a:r>
              <a:rPr lang="en-US" dirty="0"/>
              <a:t xml:space="preserve">  &gt; Even with bullish inputs, the DCF produces $518 -- already below today's $575</a:t>
            </a:r>
          </a:p>
          <a:p>
            <a:r>
              <a:rPr lang="en-US" dirty="0"/>
              <a:t xml:space="preserve">  &gt; We weight this more heavily (60%) because it reflects the actual fundamental value of the business</a:t>
            </a:r>
          </a:p>
          <a:p>
            <a:endParaRPr lang="en-US" dirty="0"/>
          </a:p>
          <a:p>
            <a:r>
              <a:rPr lang="en-US" dirty="0"/>
              <a:t xml:space="preserve">  METHOD 2 -- Peer P/E implied price: $391  (40% weight)</a:t>
            </a:r>
          </a:p>
          <a:p>
            <a:r>
              <a:rPr lang="en-US" dirty="0"/>
              <a:t xml:space="preserve">  &gt; Applied the peer group median P/E of 40.2x to AGX's earnings</a:t>
            </a:r>
          </a:p>
          <a:p>
            <a:r>
              <a:rPr lang="en-US" dirty="0"/>
              <a:t xml:space="preserve">  &gt; This is the most generous of the five peer multiples we ran</a:t>
            </a:r>
          </a:p>
          <a:p>
            <a:r>
              <a:rPr lang="en-US" dirty="0"/>
              <a:t xml:space="preserve">  &gt; Even the best comp implies significant downside</a:t>
            </a:r>
          </a:p>
          <a:p>
            <a:r>
              <a:rPr lang="en-US" dirty="0"/>
              <a:t xml:space="preserve">  &gt; We weight this lower (40%) because AGX genuinely deserves some premium over peers</a:t>
            </a:r>
          </a:p>
          <a:p>
            <a:r>
              <a:rPr lang="en-US" dirty="0"/>
              <a:t xml:space="preserve">  &gt; for its backlog certainty and balance sheet strength -- but not a 3x premium</a:t>
            </a:r>
          </a:p>
          <a:p>
            <a:endParaRPr lang="en-US" dirty="0"/>
          </a:p>
          <a:p>
            <a:r>
              <a:rPr lang="en-US" dirty="0"/>
              <a:t xml:space="preserve">  BLENDED TARGET:</a:t>
            </a:r>
          </a:p>
          <a:p>
            <a:r>
              <a:rPr lang="en-US" dirty="0"/>
              <a:t xml:space="preserve">  &gt; 60% x $518 = $310.80</a:t>
            </a:r>
          </a:p>
          <a:p>
            <a:r>
              <a:rPr lang="en-US" dirty="0"/>
              <a:t xml:space="preserve">  &gt; 40% x $391 = $156.40</a:t>
            </a:r>
          </a:p>
          <a:p>
            <a:r>
              <a:rPr lang="en-US" dirty="0"/>
              <a:t xml:space="preserve">  &gt; Blended target = $467</a:t>
            </a:r>
          </a:p>
          <a:p>
            <a:endParaRPr lang="en-US" dirty="0"/>
          </a:p>
          <a:p>
            <a:r>
              <a:rPr lang="en-US" dirty="0"/>
              <a:t xml:space="preserve">  &gt; The stock is currently at $575 -- that is 23% above our blended target</a:t>
            </a:r>
          </a:p>
          <a:p>
            <a:r>
              <a:rPr lang="en-US" dirty="0"/>
              <a:t xml:space="preserve">  &gt; Even Goldman Sachs, the most bullish analyst on the street, has a target of $518 -- below $575</a:t>
            </a:r>
          </a:p>
          <a:p>
            <a:r>
              <a:rPr lang="en-US" dirty="0"/>
              <a:t xml:space="preserve">  &gt; Our target independently landed at $467, which implies more downside than Goldman</a:t>
            </a:r>
          </a:p>
          <a:p>
            <a:endParaRPr lang="en-US" dirty="0"/>
          </a:p>
          <a:p>
            <a:r>
              <a:rPr lang="en-US" dirty="0"/>
              <a:t>WHY PASS AT $575:</a:t>
            </a:r>
          </a:p>
          <a:p>
            <a:r>
              <a:rPr lang="en-US" dirty="0"/>
              <a:t xml:space="preserve">  &gt; $2.9B backlog -- real, committed, not pipeline</a:t>
            </a:r>
          </a:p>
          <a:p>
            <a:r>
              <a:rPr lang="en-US" dirty="0"/>
              <a:t xml:space="preserve">  &gt; $895M cash, zero debt -- structural competitive advantage</a:t>
            </a:r>
          </a:p>
          <a:p>
            <a:r>
              <a:rPr lang="en-US" dirty="0"/>
              <a:t xml:space="preserve">  &gt; AI power demand -- structural tailwind, not cyclical</a:t>
            </a:r>
          </a:p>
          <a:p>
            <a:r>
              <a:rPr lang="en-US" dirty="0"/>
              <a:t xml:space="preserve">  &gt; But all of this is already priced in -- the stock surged 38% in one session on March 26</a:t>
            </a:r>
          </a:p>
          <a:p>
            <a:endParaRPr lang="en-US" dirty="0"/>
          </a:p>
          <a:p>
            <a:r>
              <a:rPr lang="en-US" dirty="0"/>
              <a:t>WHEN TO REVISIT:</a:t>
            </a:r>
          </a:p>
          <a:p>
            <a:r>
              <a:rPr lang="en-US" dirty="0"/>
              <a:t xml:space="preserve">  &gt; A pullback toward $450-$480 would bring the stock near our blended target</a:t>
            </a:r>
          </a:p>
          <a:p>
            <a:r>
              <a:rPr lang="en-US" dirty="0"/>
              <a:t xml:space="preserve">  &gt; Next catalyst: June 10 earnings -- watch for backlog additions and margin data</a:t>
            </a:r>
          </a:p>
          <a:p>
            <a:r>
              <a:rPr lang="en-US" dirty="0"/>
              <a:t xml:space="preserve">  &gt; If backlog grows beyond $3B and margins hold above 20%, the bull case strengthens</a:t>
            </a:r>
          </a:p>
          <a:p>
            <a:endParaRPr lang="en-US" dirty="0"/>
          </a:p>
          <a:p>
            <a:r>
              <a:rPr lang="en-US" dirty="0"/>
              <a:t>CLOSING LINE:</a:t>
            </a:r>
          </a:p>
          <a:p>
            <a:r>
              <a:rPr lang="en-US" dirty="0"/>
              <a:t xml:space="preserve">  &gt; Great company. Real earnings. Real growth. Wrong price.</a:t>
            </a:r>
          </a:p>
          <a:p>
            <a:r>
              <a:rPr lang="en-US" dirty="0"/>
              <a:t xml:space="preserve">  &gt; I flagged this stock to Professor Moser at $450.</a:t>
            </a:r>
          </a:p>
          <a:p>
            <a:r>
              <a:rPr lang="en-US" dirty="0"/>
              <a:t xml:space="preserve">  &gt; Q4 earnings hit on March 26 and the stock jumped 38% overnight.</a:t>
            </a:r>
          </a:p>
          <a:p>
            <a:r>
              <a:rPr lang="en-US" dirty="0"/>
              <a:t xml:space="preserve">  &gt; The entry point I was looking at no longer exists.</a:t>
            </a:r>
          </a:p>
          <a:p>
            <a:r>
              <a:rPr lang="en-US" dirty="0"/>
              <a:t xml:space="preserve">  &gt; That is why we pass -- not because the thesis is wrong, but because discipline matters more than narrative.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2 -- INVESTMENT THESIS: WHY WE ARE PASSING</a:t>
            </a:r>
          </a:p>
          <a:p>
            <a:endParaRPr lang="en-US" dirty="0"/>
          </a:p>
          <a:p>
            <a:r>
              <a:rPr lang="en-US" dirty="0"/>
              <a:t>OPENING -- SET THE FRAME (say this before pointing to anything on the slide):</a:t>
            </a:r>
          </a:p>
          <a:p>
            <a:r>
              <a:rPr lang="en-US" dirty="0"/>
              <a:t xml:space="preserve">  &gt; This is a stock I want to own. I just can't buy it today.</a:t>
            </a:r>
          </a:p>
          <a:p>
            <a:r>
              <a:rPr lang="en-US" dirty="0"/>
              <a:t xml:space="preserve">  &gt; We identified a great company, built the thesis, ran the valuation.</a:t>
            </a:r>
          </a:p>
          <a:p>
            <a:r>
              <a:rPr lang="en-US" dirty="0"/>
              <a:t xml:space="preserve">  &gt; Before we could act, Q4 earnings dropped March 26 -- stock jumped 38% overnight.</a:t>
            </a:r>
          </a:p>
          <a:p>
            <a:r>
              <a:rPr lang="en-US" dirty="0"/>
              <a:t xml:space="preserve">  &gt; The entry point we needed no longer exists.</a:t>
            </a:r>
          </a:p>
          <a:p>
            <a:r>
              <a:rPr lang="en-US" dirty="0"/>
              <a:t xml:space="preserve">  &gt; This presentation is about a company we want to own -- at the right price.</a:t>
            </a:r>
          </a:p>
          <a:p>
            <a:endParaRPr lang="en-US" dirty="0"/>
          </a:p>
          <a:p>
            <a:r>
              <a:rPr lang="en-US" dirty="0"/>
              <a:t>TOP HALF -- Why it initially looked compelling:</a:t>
            </a:r>
          </a:p>
          <a:p>
            <a:r>
              <a:rPr lang="en-US" dirty="0"/>
              <a:t xml:space="preserve">  &gt; $2.9B committed backlog -- not a pipeline, not estimates, fully signed contracts</a:t>
            </a:r>
          </a:p>
          <a:p>
            <a:r>
              <a:rPr lang="en-US" dirty="0"/>
              <a:t xml:space="preserve">  &gt; These are 3-4 year projects -- Argan builds massive power plants from the ground up</a:t>
            </a:r>
          </a:p>
          <a:p>
            <a:r>
              <a:rPr lang="en-US" dirty="0"/>
              <a:t xml:space="preserve">  &gt; That means revenue is essentially locked in for years -- extremely rare visibility</a:t>
            </a:r>
          </a:p>
          <a:p>
            <a:r>
              <a:rPr lang="en-US" dirty="0"/>
              <a:t xml:space="preserve">  &gt; $895M cash, zero debt -- the balance sheet is as clean as it gets</a:t>
            </a:r>
          </a:p>
          <a:p>
            <a:r>
              <a:rPr lang="en-US" dirty="0"/>
              <a:t xml:space="preserve">  &gt; AI and data center demand is structural -- AGX builds the plants that keep the lights on</a:t>
            </a:r>
          </a:p>
          <a:p>
            <a:endParaRPr lang="en-US" dirty="0"/>
          </a:p>
          <a:p>
            <a:r>
              <a:rPr lang="en-US" dirty="0"/>
              <a:t>THE VOLATILITY PARADOX -- key talking point:</a:t>
            </a:r>
          </a:p>
          <a:p>
            <a:r>
              <a:rPr lang="en-US" dirty="0"/>
              <a:t xml:space="preserve">  &gt; Here is what is interesting: the business itself is incredibly stable</a:t>
            </a:r>
          </a:p>
          <a:p>
            <a:r>
              <a:rPr lang="en-US" dirty="0"/>
              <a:t xml:space="preserve">  &gt; Long-term contracts, milestone payments, 3-4 year project cycles -- almost no revenue risk</a:t>
            </a:r>
          </a:p>
          <a:p>
            <a:r>
              <a:rPr lang="en-US" dirty="0"/>
              <a:t xml:space="preserve">  &gt; But the STOCK is extremely volatile -- because AGX is thinly covered, small float</a:t>
            </a:r>
          </a:p>
          <a:p>
            <a:r>
              <a:rPr lang="en-US" dirty="0"/>
              <a:t xml:space="preserve">  &gt; Only 4-7 analysts follow it -- so when a catalyst hits, there is no one to absorb it gradually</a:t>
            </a:r>
          </a:p>
          <a:p>
            <a:r>
              <a:rPr lang="en-US" dirty="0"/>
              <a:t xml:space="preserve">  &gt; The market reprices everything all at once -- hence 10% overnight, 38% by close</a:t>
            </a:r>
          </a:p>
          <a:p>
            <a:r>
              <a:rPr lang="en-US" dirty="0"/>
              <a:t xml:space="preserve">  &gt; The business did not change overnight -- the backlog was building all year</a:t>
            </a:r>
          </a:p>
          <a:p>
            <a:r>
              <a:rPr lang="en-US" dirty="0"/>
              <a:t xml:space="preserve">  &gt; The stock just did not know until earnings day -- and then it knew everything at once</a:t>
            </a:r>
          </a:p>
          <a:p>
            <a:endParaRPr lang="en-US" dirty="0"/>
          </a:p>
          <a:p>
            <a:r>
              <a:rPr lang="en-US" dirty="0"/>
              <a:t>BOTTOM HALF -- Why valuation kills the entry:</a:t>
            </a:r>
          </a:p>
          <a:p>
            <a:r>
              <a:rPr lang="en-US" dirty="0"/>
              <a:t xml:space="preserve">  &gt; Every peer multiple implies significant downside from $575</a:t>
            </a:r>
          </a:p>
          <a:p>
            <a:r>
              <a:rPr lang="en-US" dirty="0"/>
              <a:t xml:space="preserve">  &gt; Our own DCF base case produces $518 -- already below today's price</a:t>
            </a:r>
          </a:p>
          <a:p>
            <a:r>
              <a:rPr lang="en-US" dirty="0"/>
              <a:t xml:space="preserve">  &gt; Pre-earnings, Goldman had a Buy at $399 and JPMorgan was Neutral</a:t>
            </a:r>
          </a:p>
          <a:p>
            <a:r>
              <a:rPr lang="en-US" dirty="0"/>
              <a:t xml:space="preserve">  &gt; Q4 results made those targets instantly obsolete -- the stock blew past them in one session</a:t>
            </a:r>
          </a:p>
          <a:p>
            <a:r>
              <a:rPr lang="en-US" dirty="0"/>
              <a:t xml:space="preserve">  &gt; Even Goldman's new target after the jump -- $518 -- is below where it trades today</a:t>
            </a:r>
          </a:p>
          <a:p>
            <a:endParaRPr lang="en-US" dirty="0"/>
          </a:p>
          <a:p>
            <a:r>
              <a:rPr lang="en-US" dirty="0"/>
              <a:t>CLOSE -- land this clearly:</a:t>
            </a:r>
          </a:p>
          <a:p>
            <a:r>
              <a:rPr lang="en-US" dirty="0"/>
              <a:t xml:space="preserve">  &gt; The underlying business is a 3-4 year compounding story -- it has not changed</a:t>
            </a:r>
          </a:p>
          <a:p>
            <a:r>
              <a:rPr lang="en-US" dirty="0"/>
              <a:t xml:space="preserve">  &gt; What changed is the price -- the 38% move front-ran everything we liked about it</a:t>
            </a:r>
          </a:p>
          <a:p>
            <a:r>
              <a:rPr lang="en-US" dirty="0"/>
              <a:t xml:space="preserve">  &gt; Great company, wrong price -- we missed the pre-earnings entry</a:t>
            </a:r>
          </a:p>
          <a:p>
            <a:r>
              <a:rPr lang="en-US" dirty="0"/>
              <a:t xml:space="preserve">  &gt; We pass today and revisit on a pullback toward $450-$480</a:t>
            </a:r>
          </a:p>
          <a:p>
            <a:r>
              <a:rPr lang="en-US" dirty="0"/>
              <a:t xml:space="preserve">  &gt; Next decision point: June 10 earnings -- watch for backlog growth and margin data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10 -- INVESTMENT SUMMARY: ORIGINAL BUY THESIS</a:t>
            </a:r>
          </a:p>
          <a:p>
            <a:endParaRPr lang="en-US" dirty="0"/>
          </a:p>
          <a:p>
            <a:r>
              <a:rPr lang="en-US" dirty="0"/>
              <a:t>Four pillars of the original thesis:</a:t>
            </a:r>
          </a:p>
          <a:p>
            <a:endParaRPr lang="en-US" dirty="0"/>
          </a:p>
          <a:p>
            <a:r>
              <a:rPr lang="en-US" dirty="0"/>
              <a:t>1. Backlog = revenue certainty</a:t>
            </a:r>
          </a:p>
          <a:p>
            <a:r>
              <a:rPr lang="en-US" dirty="0"/>
              <a:t xml:space="preserve">   &gt; 85%+ of near-term revenue already signed</a:t>
            </a:r>
          </a:p>
          <a:p>
            <a:r>
              <a:rPr lang="en-US" dirty="0"/>
              <a:t xml:space="preserve">   &gt; Reduces DCF uncertainty dramatically</a:t>
            </a:r>
          </a:p>
          <a:p>
            <a:endParaRPr lang="en-US" dirty="0"/>
          </a:p>
          <a:p>
            <a:r>
              <a:rPr lang="en-US" dirty="0"/>
              <a:t>2. Structural demand tailwind</a:t>
            </a:r>
          </a:p>
          <a:p>
            <a:r>
              <a:rPr lang="en-US" dirty="0"/>
              <a:t xml:space="preserve">   &gt; AI, EV electrification, reshoring, grid underinvestment -- all converging</a:t>
            </a:r>
          </a:p>
          <a:p>
            <a:r>
              <a:rPr lang="en-US" dirty="0"/>
              <a:t xml:space="preserve">   &gt; This is not a cyclical trade</a:t>
            </a:r>
          </a:p>
          <a:p>
            <a:endParaRPr lang="en-US" dirty="0"/>
          </a:p>
          <a:p>
            <a:r>
              <a:rPr lang="en-US" dirty="0"/>
              <a:t>3. Fortress balance sheet</a:t>
            </a:r>
          </a:p>
          <a:p>
            <a:r>
              <a:rPr lang="en-US" dirty="0"/>
              <a:t xml:space="preserve">   &gt; $895M cash, zero debt -- self-funds without diluting shareholders</a:t>
            </a:r>
          </a:p>
          <a:p>
            <a:endParaRPr lang="en-US" dirty="0"/>
          </a:p>
          <a:p>
            <a:r>
              <a:rPr lang="en-US" dirty="0"/>
              <a:t>4. Margin expansion</a:t>
            </a:r>
          </a:p>
          <a:p>
            <a:r>
              <a:rPr lang="en-US" dirty="0"/>
              <a:t xml:space="preserve">   &gt; Gross margin: 16.1% to 25% in a single year</a:t>
            </a:r>
          </a:p>
          <a:p>
            <a:endParaRPr lang="en-US" dirty="0"/>
          </a:p>
          <a:p>
            <a:r>
              <a:rPr lang="en-US" dirty="0"/>
              <a:t>Key note:</a:t>
            </a:r>
          </a:p>
          <a:p>
            <a:r>
              <a:rPr lang="en-US" dirty="0"/>
              <a:t xml:space="preserve">  &gt; The fundamentals are strong -- this is a real business with real earnings</a:t>
            </a:r>
          </a:p>
          <a:p>
            <a:r>
              <a:rPr lang="en-US" dirty="0"/>
              <a:t xml:space="preserve">  &gt; Our issue is not the company -- it's the price</a:t>
            </a:r>
          </a:p>
          <a:p>
            <a:r>
              <a:rPr lang="en-US" dirty="0"/>
              <a:t xml:space="preserve">  &gt; The valuation slides that follow explain the pass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-- COMPETITIVE LANDSCAPE: KEY PEERS</a:t>
            </a:r>
          </a:p>
          <a:p>
            <a:endParaRPr lang="en-US" dirty="0"/>
          </a:p>
          <a:p>
            <a:r>
              <a:rPr lang="en-US" dirty="0"/>
              <a:t>Opening:</a:t>
            </a:r>
          </a:p>
          <a:p>
            <a:r>
              <a:rPr lang="en-US" dirty="0"/>
              <a:t xml:space="preserve">  &gt; These are the three companies most often compared to AGX in analyst coverage</a:t>
            </a:r>
          </a:p>
          <a:p>
            <a:r>
              <a:rPr lang="en-US" dirty="0"/>
              <a:t xml:space="preserve">  &gt; They all show up in our relative valuation comps</a:t>
            </a:r>
          </a:p>
          <a:p>
            <a:r>
              <a:rPr lang="en-US" dirty="0"/>
              <a:t xml:space="preserve">  &gt; Understanding where they overlap -- and where they don't -- explains why the comps are hard to apply cleanly</a:t>
            </a:r>
          </a:p>
          <a:p>
            <a:endParaRPr lang="en-US" dirty="0"/>
          </a:p>
          <a:p>
            <a:r>
              <a:rPr lang="en-US" dirty="0"/>
              <a:t>MasTec (MTZ) -- $10.5B market cap:</a:t>
            </a:r>
          </a:p>
          <a:p>
            <a:r>
              <a:rPr lang="en-US" dirty="0"/>
              <a:t xml:space="preserve">  &gt; Large EPC contractor across telecom, utilities, oil and gas, renewables</a:t>
            </a:r>
          </a:p>
          <a:p>
            <a:r>
              <a:rPr lang="en-US" dirty="0"/>
              <a:t xml:space="preserve">  &gt; Overlaps with AGX in power generation and utility construction</a:t>
            </a:r>
          </a:p>
          <a:p>
            <a:r>
              <a:rPr lang="en-US" dirty="0"/>
              <a:t xml:space="preserve">  &gt; Key difference: MasTec is highly diversified and carries 3.2x net debt/EBITDA</a:t>
            </a:r>
          </a:p>
          <a:p>
            <a:r>
              <a:rPr lang="en-US" dirty="0"/>
              <a:t xml:space="preserve">  &gt; Less specialized -- they don't have AGX's 20-year track record in gas-fired plants specifically</a:t>
            </a:r>
          </a:p>
          <a:p>
            <a:r>
              <a:rPr lang="en-US" dirty="0"/>
              <a:t xml:space="preserve">  &gt; Trades at 14x EV/EBITDA vs AGX at 58x -- that gap tells you how much premium the market gives AGX for specialization</a:t>
            </a:r>
          </a:p>
          <a:p>
            <a:endParaRPr lang="en-US" dirty="0"/>
          </a:p>
          <a:p>
            <a:r>
              <a:rPr lang="en-US" dirty="0"/>
              <a:t>Sterling Infrastructure (STRL) -- $7.3B market cap:</a:t>
            </a:r>
          </a:p>
          <a:p>
            <a:r>
              <a:rPr lang="en-US" dirty="0"/>
              <a:t xml:space="preserve">  &gt; Civil contractor focused on e-infrastructure, transportation, residential</a:t>
            </a:r>
          </a:p>
          <a:p>
            <a:r>
              <a:rPr lang="en-US" dirty="0"/>
              <a:t xml:space="preserve">  &gt; Actually less direct overlap than it appears -- STRL preps the ground for data centers</a:t>
            </a:r>
          </a:p>
          <a:p>
            <a:r>
              <a:rPr lang="en-US" dirty="0"/>
              <a:t xml:space="preserve">  &gt; Think of it this way: STRL builds the site, AGX builds the power plant that runs the site</a:t>
            </a:r>
          </a:p>
          <a:p>
            <a:r>
              <a:rPr lang="en-US" dirty="0"/>
              <a:t xml:space="preserve">  &gt; They both benefit from the AI buildout but at different points in the chain</a:t>
            </a:r>
          </a:p>
          <a:p>
            <a:r>
              <a:rPr lang="en-US" dirty="0"/>
              <a:t xml:space="preserve">  &gt; Net cash position but trades at 20x EV/EBITDA -- still a significant discount to AGX</a:t>
            </a:r>
          </a:p>
          <a:p>
            <a:endParaRPr lang="en-US" dirty="0"/>
          </a:p>
          <a:p>
            <a:r>
              <a:rPr lang="en-US" dirty="0"/>
              <a:t>EMCOR Group (EME) -- $19.5B market cap:</a:t>
            </a:r>
          </a:p>
          <a:p>
            <a:r>
              <a:rPr lang="en-US" dirty="0"/>
              <a:t xml:space="preserve">  &gt; Mechanical and electrical construction across commercial, industrial, government</a:t>
            </a:r>
          </a:p>
          <a:p>
            <a:r>
              <a:rPr lang="en-US" dirty="0"/>
              <a:t xml:space="preserve">  &gt; The most financially similar to AGX -- also zero debt, also holding over $1B in cash</a:t>
            </a:r>
          </a:p>
          <a:p>
            <a:r>
              <a:rPr lang="en-US" dirty="0"/>
              <a:t xml:space="preserve">  &gt; But 2.5x AGX's size and far more diversified across sectors</a:t>
            </a:r>
          </a:p>
          <a:p>
            <a:r>
              <a:rPr lang="en-US" dirty="0"/>
              <a:t xml:space="preserve">  &gt; Does not specialize in power plant EPC -- different end product</a:t>
            </a:r>
          </a:p>
          <a:p>
            <a:r>
              <a:rPr lang="en-US" dirty="0"/>
              <a:t xml:space="preserve">  &gt; Trades at 17x EV/EBITDA vs AGX at 58x</a:t>
            </a:r>
          </a:p>
          <a:p>
            <a:endParaRPr lang="en-US" dirty="0"/>
          </a:p>
          <a:p>
            <a:r>
              <a:rPr lang="en-US" dirty="0"/>
              <a:t>The key takeaway from this slide:</a:t>
            </a:r>
          </a:p>
          <a:p>
            <a:r>
              <a:rPr lang="en-US" dirty="0"/>
              <a:t xml:space="preserve">  &gt; None of these three companies do exactly what AGX does</a:t>
            </a:r>
          </a:p>
          <a:p>
            <a:r>
              <a:rPr lang="en-US" dirty="0"/>
              <a:t xml:space="preserve">  &gt; AGX's specialization in large gas-fired power plants is genuinely unique in this peer group</a:t>
            </a:r>
          </a:p>
          <a:p>
            <a:r>
              <a:rPr lang="en-US" dirty="0"/>
              <a:t xml:space="preserve">  &gt; That specialization justifies some premium -- the debate is how much</a:t>
            </a:r>
          </a:p>
          <a:p>
            <a:r>
              <a:rPr lang="en-US" dirty="0"/>
              <a:t xml:space="preserve">  &gt; Our relative valuation uses peer multiples to show that even with a generous premium,</a:t>
            </a:r>
          </a:p>
          <a:p>
            <a:r>
              <a:rPr lang="en-US" dirty="0"/>
              <a:t xml:space="preserve">  &gt; the current price of $575 is difficult to justify</a:t>
            </a: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4389120"/>
            <a:ext cx="8641080" cy="754380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5486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kern="0" spc="400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ARGAN, INC.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11887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NYSE: AGX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77240" y="1691640"/>
            <a:ext cx="7772400" cy="0"/>
          </a:xfrm>
          <a:prstGeom prst="line">
            <a:avLst/>
          </a:prstGeom>
          <a:noFill/>
          <a:ln w="1905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" y="1920240"/>
            <a:ext cx="2423160" cy="960120"/>
          </a:xfrm>
          <a:prstGeom prst="rect">
            <a:avLst/>
          </a:prstGeom>
          <a:solidFill>
            <a:srgbClr val="EAF0F6"/>
          </a:solidFill>
          <a:ln w="1524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975104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$566.62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29000" y="1920240"/>
            <a:ext cx="2423160" cy="960120"/>
          </a:xfrm>
          <a:prstGeom prst="rect">
            <a:avLst/>
          </a:prstGeom>
          <a:solidFill>
            <a:srgbClr val="EAF0F6"/>
          </a:solidFill>
          <a:ln w="1524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29000" y="1975104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429000" y="22402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$467.00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080760" y="1920240"/>
            <a:ext cx="2423160" cy="960120"/>
          </a:xfrm>
          <a:prstGeom prst="rect">
            <a:avLst/>
          </a:prstGeom>
          <a:solidFill>
            <a:srgbClr val="EAF0F6"/>
          </a:solidFill>
          <a:ln w="1524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80760" y="1975104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080760" y="22402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77240" y="31546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Infrastructure for the AI Era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77240" y="44348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0" y="4434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 JOE MARFISI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Description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Argan, Inc. (NYSE: AGX)  |  March 2026  |  Joe Marfisi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Argan, Inc.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is an EPC contractor that builds large-scale power plants — then services them for 20+ years of recurring revenue.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4320" y="1481328"/>
            <a:ext cx="278892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481328"/>
            <a:ext cx="2788920" cy="640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Industry Services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167128"/>
            <a:ext cx="14630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2167128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~78% of Revenue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11480" y="2487168"/>
            <a:ext cx="251460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Designs, builds, and commissions gas, solar, wind, and battery storage plants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plant, then service it for 20+ years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18688" y="1481328"/>
            <a:ext cx="278892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18688" y="1481328"/>
            <a:ext cx="2788920" cy="64008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55848" y="1591056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Fabrication &amp; Field Services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55848" y="2167128"/>
            <a:ext cx="1463040" cy="237744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55848" y="2167128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~16% of Revenue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355848" y="2487168"/>
            <a:ext cx="251460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maintenance and turnarounds for industrial plants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Fabricates and installs piping systems and pressure vessels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63056" y="1481328"/>
            <a:ext cx="278892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163056" y="1481328"/>
            <a:ext cx="2788920" cy="640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300216" y="1591056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Telecommunications Infrastructure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0216" y="2167128"/>
            <a:ext cx="1463040" cy="23774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00216" y="2167128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~6% of Revenue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300216" y="2487168"/>
            <a:ext cx="251460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Underground directional boring and aerial cabling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cabling for government and municipal clients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Description – Revenue Split &amp; Key Metrics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Argan, Inc. (NYSE: AGX)  |  March 2026  |  Joe Marfisi</a:t>
            </a:r>
            <a:endParaRPr lang="en-US" sz="8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274320" y="822960"/>
          <a:ext cx="411480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4663440" y="80467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Financial Highlights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663440" y="1234440"/>
            <a:ext cx="54864" cy="512064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773168" y="1280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995160" y="1271016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$944.6M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773168" y="15087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 YoY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663440" y="1810512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663440" y="1810512"/>
            <a:ext cx="54864" cy="512064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773168" y="185623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995160" y="1847088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$137.8M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773168" y="208483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+61.2% YoY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663440" y="2386584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663440" y="2386584"/>
            <a:ext cx="54864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773168" y="2432304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995160" y="2423160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773168" y="266090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663440" y="2962656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4663440" y="2962656"/>
            <a:ext cx="54864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773168" y="3008376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995160" y="2999232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773168" y="323697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663440" y="2386584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4663440" y="2386584"/>
            <a:ext cx="54864" cy="512064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773168" y="2432304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Backlog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995160" y="2423160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$2.9B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773168" y="266090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+114.7% YoY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663440" y="2962656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4663440" y="2962656"/>
            <a:ext cx="54864" cy="512064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4773168" y="3008376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Investments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2999232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$895M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773168" y="323697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debt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News &amp; Catalysts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Argan, Inc. (NYSE: AGX)  |  March 2026  |  Joe Marfisi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804672"/>
            <a:ext cx="425196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251960" cy="640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8961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FY2026 Earnings Crush – March 26, 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216152"/>
            <a:ext cx="39776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of $3.47 vs. $2.13 consensus — beat by $1.34 (63% upside surprise)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$262.1M (+13% YoY); gross margin expanded to 25.0% from 20.5%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Full-year net income up 61% to $137.8M; full-year EPS of $9.74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surged 36%+ to an all-time high of $579 the following day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834640"/>
            <a:ext cx="425196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4320" y="2834640"/>
            <a:ext cx="4251960" cy="64008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292608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Data Center Power Demand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3246120"/>
            <a:ext cx="39776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David Watson: "rapid growth of AI and data centers placing increasing pressure on power grids"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Argan is the builder utilities and IPPs call when they need reliable, 24/7 power fast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Uniquely positioned: nearly 20 years of gas-fired plant construction expertise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grid underinvestment + AI capex boom = structural, multi-decade tailwind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804672"/>
            <a:ext cx="425196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09160" y="804672"/>
            <a:ext cx="425196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0" y="8961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$2.9B Backlog — Revenue Visibility for 3+ Years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1216152"/>
            <a:ext cx="39776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$2.5B in new contracts signed during FY2026, including three U.S. gas-fired plants (3.4 GW)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mix: ~77% natural gas, 14% renewable, 9% industrial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backlog characterized as "fully committed projects" — not pipeline, not bids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 MW Trumbull Energy Center completed ahead of schedule in December 2025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09160" y="2834640"/>
            <a:ext cx="425196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09160" y="2834640"/>
            <a:ext cx="4251960" cy="640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46320" y="292608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Street Takes Notice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3246120"/>
            <a:ext cx="39776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JPMorgan upgraded AGX to Overweight following Q4 results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Goldman Sachs raised price target to $518 with a Buy rating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 Street raised price target to $375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$895M in cash and investments; zero debt — balance sheet built for continued scale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Overview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Argan, Inc. (NYSE: AGX)  |  March 2026  |  Joe Marfisi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4160520" cy="19933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822960"/>
            <a:ext cx="73152" cy="1993392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005840"/>
            <a:ext cx="594360" cy="5943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0058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98755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Watson, CPA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43000" y="1261872"/>
            <a:ext cx="31546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&amp; President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1554480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Appointed CEO August 2022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as CFO from 2015–2022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institutional knowledge of Argan's financial architecture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the company through its most transformational growth period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Trumbull Energy Center ahead of schedule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709160" y="822960"/>
            <a:ext cx="4160520" cy="19933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09160" y="822960"/>
            <a:ext cx="73152" cy="1993392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892040" y="1005840"/>
            <a:ext cx="594360" cy="5943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92040" y="10058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577840" y="98755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Baugher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77840" y="1261872"/>
            <a:ext cx="31546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SVP, CFO &amp; Treasurer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554480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VP and Chief Financial Officer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Oversaw gross margin expansion from 16.1% to 20.5% in FY2026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$895M cash position with zero debt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margin improvement to Power segment execution discipline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2926080"/>
            <a:ext cx="4160520" cy="19933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74320" y="2926080"/>
            <a:ext cx="73152" cy="1993392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57200" y="3108960"/>
            <a:ext cx="594360" cy="5943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3108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3000" y="309067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Charles Collins IV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43000" y="3364992"/>
            <a:ext cx="31546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CEO, Gemma Power Systems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3657600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Argan's primary power EPC subsidiary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is the engine behind the $2.9B backlog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for U.S. gas-fired and renewable plant construction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Operates across multiple GW-scale simultaneous projects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709160" y="2926080"/>
            <a:ext cx="4160520" cy="19933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709160" y="2926080"/>
            <a:ext cx="73152" cy="1993392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892040" y="3108960"/>
            <a:ext cx="594360" cy="5943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309067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Terrence Trebilcock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577840" y="3364992"/>
            <a:ext cx="31546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President, Gemma Power Systems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92040" y="3657600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Day-to-day operational leadership at Gemma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Oversees project delivery, safety, and scheduling</a:t>
            </a:r>
            <a:endParaRPr lang="en-US" sz="8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figure in Trumbull Energy Center early completion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Argan, Inc. (NYSE: AGX)  |  March 2026  |  Joe Marfisi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383280" y="1828800"/>
            <a:ext cx="2377440" cy="1417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828800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AGX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777240"/>
            <a:ext cx="22860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429000" y="777240"/>
            <a:ext cx="228600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20440" y="8686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New Entrants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520440" y="1124712"/>
            <a:ext cx="777240" cy="2011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20440" y="112471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50" dirty="0"/>
          </a:p>
        </p:txBody>
      </p:sp>
      <p:sp>
        <p:nvSpPr>
          <p:cNvPr id="31" name="Text NewEntrants"/>
          <p:cNvSpPr/>
          <p:nvPr/>
        </p:nvSpPr>
        <p:spPr>
          <a:xfrm>
            <a:off x="3520440" y="1340000"/>
            <a:ext cx="2103120" cy="34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95959"/>
                </a:solidFill>
                <a:latin typeface="Calibri" pitchFamily="34" charset="0"/>
              </a:rPr>
              <a:t>20 years of expertise and client trust take decades to build</a:t>
            </a:r>
          </a:p>
          <a:p>
            <a:pPr marL="0" indent="0">
              <a:buNone/>
            </a:pPr>
            <a:r>
              <a:rPr lang="en-US" sz="700" dirty="0">
                <a:solidFill>
                  <a:srgbClr val="595959"/>
                </a:solidFill>
                <a:latin typeface="Calibri" pitchFamily="34" charset="0"/>
              </a:rPr>
              <a:t>$895M cash enables bonds undercapitalized entrants cannot match</a:t>
            </a:r>
          </a:p>
        </p:txBody>
      </p:sp>
      <p:sp>
        <p:nvSpPr>
          <p:cNvPr id="13" name="Shape 11"/>
          <p:cNvSpPr/>
          <p:nvPr/>
        </p:nvSpPr>
        <p:spPr>
          <a:xfrm>
            <a:off x="228600" y="1691640"/>
            <a:ext cx="26974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28600" y="1691640"/>
            <a:ext cx="26974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178308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Rivalry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0040" y="2039112"/>
            <a:ext cx="77724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203911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20040" y="2295144"/>
            <a:ext cx="251460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Competes with Quanta Services, MasTec, EMCOR, Fluor — but Argan has niche gas plant expertise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217920" y="1691640"/>
            <a:ext cx="26974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17920" y="1691640"/>
            <a:ext cx="269748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309360" y="178308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Substitutes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309360" y="2039112"/>
            <a:ext cx="777240" cy="2011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09360" y="203911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309360" y="2295144"/>
            <a:ext cx="251460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plants must be built. No alternative to EPC construction — only who does it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28600" y="3246120"/>
            <a:ext cx="26974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28600" y="3246120"/>
            <a:ext cx="26974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0040" y="333756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Bargaining Power of Suppliers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" y="3593592"/>
            <a:ext cx="77724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359359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320040" y="3849624"/>
            <a:ext cx="251460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 OEMs (GE, Siemens) hold pricing power; specialty materials can be constrained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217920" y="3246120"/>
            <a:ext cx="26974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217920" y="3246120"/>
            <a:ext cx="269748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309360" y="333756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Bargaining Power of Buyers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309360" y="3593592"/>
            <a:ext cx="777240" cy="2011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309360" y="359359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LOW–MOD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309360" y="3849624"/>
            <a:ext cx="251460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IPPs and utilities need proven builders; switching mid-project is not viable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0" y="1691640"/>
            <a:ext cx="0" cy="137160"/>
          </a:xfrm>
          <a:prstGeom prst="line">
            <a:avLst/>
          </a:prstGeom>
          <a:noFill/>
          <a:ln w="15240">
            <a:solidFill>
              <a:srgbClr val="113D6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926080" y="2532888"/>
            <a:ext cx="457200" cy="0"/>
          </a:xfrm>
          <a:prstGeom prst="line">
            <a:avLst/>
          </a:prstGeom>
          <a:noFill/>
          <a:ln w="15240">
            <a:solidFill>
              <a:srgbClr val="113D6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760720" y="2532888"/>
            <a:ext cx="457200" cy="0"/>
          </a:xfrm>
          <a:prstGeom prst="line">
            <a:avLst/>
          </a:prstGeom>
          <a:noFill/>
          <a:ln w="15240">
            <a:solidFill>
              <a:srgbClr val="113D6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2926080" y="3246120"/>
            <a:ext cx="457200" cy="0"/>
          </a:xfrm>
          <a:prstGeom prst="line">
            <a:avLst/>
          </a:prstGeom>
          <a:noFill/>
          <a:ln w="15240">
            <a:solidFill>
              <a:srgbClr val="113D6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760720" y="3246120"/>
            <a:ext cx="457200" cy="0"/>
          </a:xfrm>
          <a:prstGeom prst="line">
            <a:avLst/>
          </a:prstGeom>
          <a:noFill/>
          <a:ln w="15240">
            <a:solidFill>
              <a:srgbClr val="113D6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54864"/>
            <a:ext cx="8778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13D63"/>
                </a:solidFill>
              </a:rPr>
              <a:t>AGX vs. S&amp;P 500 – 5-Year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1A1A1A"/>
                </a:solidFill>
              </a:rPr>
              <a:t>Argan, Inc. (NYSE: AGX)  |  March 2026  |  Joe Marfisi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" y="585216"/>
            <a:ext cx="1645920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64592" y="585216"/>
            <a:ext cx="159105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1A1A1A"/>
                </a:solidFill>
              </a:rPr>
              <a:t>AGX 5-Yr Return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795528"/>
            <a:ext cx="159105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2ECC6E"/>
                </a:solidFill>
              </a:rPr>
              <a:t>+310%+</a:t>
            </a:r>
          </a:p>
        </p:txBody>
      </p:sp>
      <p:sp>
        <p:nvSpPr>
          <p:cNvPr id="7" name="Rectangle 6"/>
          <p:cNvSpPr/>
          <p:nvPr/>
        </p:nvSpPr>
        <p:spPr>
          <a:xfrm>
            <a:off x="1901952" y="585216"/>
            <a:ext cx="1645920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29384" y="585216"/>
            <a:ext cx="159105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1A1A1A"/>
                </a:solidFill>
              </a:rPr>
              <a:t>S&amp;P 500 5-Yr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9384" y="795528"/>
            <a:ext cx="159105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13D63"/>
                </a:solidFill>
              </a:rPr>
              <a:t>~+65%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66744" y="585216"/>
            <a:ext cx="1645920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94176" y="585216"/>
            <a:ext cx="159105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1A1A1A"/>
                </a:solidFill>
              </a:rPr>
              <a:t>Beta (raw)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795528"/>
            <a:ext cx="159105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13D63"/>
                </a:solidFill>
              </a:rPr>
              <a:t>0.46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31536" y="585216"/>
            <a:ext cx="1645920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58968" y="585216"/>
            <a:ext cx="159105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1A1A1A"/>
                </a:solidFill>
              </a:rPr>
              <a:t>52-Wk 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8968" y="795528"/>
            <a:ext cx="159105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13D63"/>
                </a:solidFill>
              </a:rPr>
              <a:t>$111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96328" y="585216"/>
            <a:ext cx="1645920" cy="45720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3760" y="585216"/>
            <a:ext cx="159105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1A1A1A"/>
                </a:solidFill>
              </a:rPr>
              <a:t>52-Wk 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795528"/>
            <a:ext cx="159105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13D63"/>
                </a:solidFill>
              </a:rPr>
              <a:t>$579</a:t>
            </a:r>
          </a:p>
        </p:txBody>
      </p:sp>
      <p:pic>
        <p:nvPicPr>
          <p:cNvPr id="19" name="Picture 18" descr="Screenshot_2026-04-06_at_2_13_06_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78992"/>
            <a:ext cx="8869680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Valuation – Peer Comparison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Argan, Inc. (NYSE: AGX)  |  March 2026  |  Joe Marfisi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41248"/>
          <a:ext cx="8229600" cy="2944368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P/E (FWD)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Growth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Debt/EBITDA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Argan, Inc.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$7.9B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~58x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~58x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Quanta Services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EMCOR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$19.5B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MasTec, Inc.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MTZ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$10.5B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Comfort Systems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$11.8B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Sterling Infra.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$7.3B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11480" y="42062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Why AGX looks expensive on multiples: </a:t>
            </a: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AGX is in project ramp mode — the $2.9B backlog converts over 3+ years, compressing forward multiples significantly. EV/EBITDA is elevated due to the company's $895M cash position inflating the enterprise value denominator. On a cash-adjusted basis and given the backlog conversion runway, the premium is justified.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 – Original Buy Thesis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Argan, Inc. (NYSE: AGX)  |  March 2026  |  Joe Marfisi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804672"/>
            <a:ext cx="8595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804672"/>
            <a:ext cx="6858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Target Price: $630    |    Current: $566.62    |    Upside: ~11%    |    Recommendation: 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3760" y="804672"/>
            <a:ext cx="1463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74320" y="1874520"/>
            <a:ext cx="416052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011680"/>
            <a:ext cx="502920" cy="502920"/>
          </a:xfrm>
          <a:prstGeom prst="ellipse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4128" y="20116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= Revenue Certainty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23160"/>
            <a:ext cx="384048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$2.9B in fully committed projects provides 3+ years of revenue visibility. 85%+ of near-term revenue is already booked — DCF uncertainty is uniquely low.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874520"/>
            <a:ext cx="416052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846320" y="2011680"/>
            <a:ext cx="502920" cy="502920"/>
          </a:xfrm>
          <a:prstGeom prst="ellipse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58968" y="20116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Demand Tailwind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92040" y="2423160"/>
            <a:ext cx="384048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data centers, EV electrification, reshoring, and decades of grid underinvestment are converging. This isn't cyclical — it's a permanent upward reset in power infrastructure demand.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3383280"/>
            <a:ext cx="416052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1480" y="3520440"/>
            <a:ext cx="502920" cy="502920"/>
          </a:xfrm>
          <a:prstGeom prst="ellipse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3520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3520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Fortress Balance Sheet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931920"/>
            <a:ext cx="384048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$895M in cash and investments with zero debt. Argan can self-fund growth, absorb project delays, and bid aggressively on large contracts without diluting shareholders.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3383280"/>
            <a:ext cx="416052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3520440"/>
            <a:ext cx="502920" cy="502920"/>
          </a:xfrm>
          <a:prstGeom prst="ellipse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3520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58968" y="3520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Expansion Story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3931920"/>
            <a:ext cx="384048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grew from 16.1% to 20.5% in one year — and Q4 hit 25%. As the project mix shifts to larger, more complex plants, margins should continue expanding.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54864"/>
            <a:ext cx="8778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13D63"/>
                </a:solidFill>
              </a:rPr>
              <a:t>Revenue – Dollar Amount &amp; Growth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1A1A1A"/>
                </a:solidFill>
              </a:rPr>
              <a:t>Argan, Inc. (NYSE: AGX)  |  March 2026  |  Joe Marfisi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03503"/>
            <a:ext cx="431596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</a:rPr>
              <a:t>Revenue ($M)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37160" y="786384"/>
          <a:ext cx="4315968" cy="3611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690872" y="603503"/>
            <a:ext cx="431596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</a:rPr>
              <a:t>Revenue Growth Rate (%)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690872" y="786384"/>
          <a:ext cx="4315968" cy="3611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54864"/>
            <a:ext cx="8778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13D63"/>
                </a:solidFill>
              </a:rPr>
              <a:t>EBIT Margin &amp; EBIT Dollar Amount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1A1A1A"/>
                </a:solidFill>
              </a:rPr>
              <a:t>Argan, Inc. (NYSE: AGX)  |  March 2026  |  Joe Marfisi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03503"/>
            <a:ext cx="431596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</a:rPr>
              <a:t>EBIT Margin (%)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37160" y="786384"/>
          <a:ext cx="4315968" cy="3611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690872" y="603503"/>
            <a:ext cx="431596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</a:rPr>
              <a:t>EBIT ($M)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690872" y="786384"/>
          <a:ext cx="4315968" cy="3611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73152"/>
            <a:ext cx="8778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113D63"/>
                </a:solidFill>
              </a:rPr>
              <a:t>Relative 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1A1A1A"/>
                </a:solidFill>
              </a:rPr>
              <a:t>Argan, Inc. (NYSE: AGX)  |  March 2026  |  Joe Marfisi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859536"/>
            <a:ext cx="4892040" cy="310896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" y="886968"/>
            <a:ext cx="868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113D63"/>
                </a:solidFill>
              </a:rPr>
              <a:t>Ticker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886968"/>
            <a:ext cx="777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13D63"/>
                </a:solidFill>
              </a:rPr>
              <a:t>P/E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886968"/>
            <a:ext cx="777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13D63"/>
                </a:solidFill>
              </a:rPr>
              <a:t>P/S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886968"/>
            <a:ext cx="777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13D63"/>
                </a:solidFill>
              </a:rPr>
              <a:t>P/B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886968"/>
            <a:ext cx="777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13D63"/>
                </a:solidFill>
              </a:rPr>
              <a:t>PEG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886968"/>
            <a:ext cx="777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13D63"/>
                </a:solidFill>
              </a:rPr>
              <a:t>EV/EBITDA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197863"/>
            <a:ext cx="4892040" cy="32004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2880" y="1225295"/>
            <a:ext cx="868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5A623"/>
                </a:solidFill>
              </a:rPr>
              <a:t>AGX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225295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5A623"/>
                </a:solidFill>
              </a:rPr>
              <a:t>58.2x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1225295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5A623"/>
                </a:solidFill>
              </a:rPr>
              <a:t>8.4x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1225295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5A623"/>
                </a:solidFill>
              </a:rPr>
              <a:t>14.9x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1225295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5A623"/>
                </a:solidFill>
              </a:rPr>
              <a:t>3.58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1225295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5A623"/>
                </a:solidFill>
              </a:rPr>
              <a:t>43.7x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1536192"/>
            <a:ext cx="4892040" cy="32004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82880" y="1563624"/>
            <a:ext cx="868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113D63"/>
                </a:solidFill>
              </a:rPr>
              <a:t>MTZ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156362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59.3x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156362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1.7x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156362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7.3x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156362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1.83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156362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19.6x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" y="1874520"/>
            <a:ext cx="4892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82880" y="1901952"/>
            <a:ext cx="868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113D63"/>
                </a:solidFill>
              </a:rPr>
              <a:t>STRL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1901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40.2x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1901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4.6x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1901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10.4x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1901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1.07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1901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22.7x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2212848"/>
            <a:ext cx="4892040" cy="32004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82880" y="2240279"/>
            <a:ext cx="868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113D63"/>
                </a:solidFill>
              </a:rPr>
              <a:t>EME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2240279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26.4x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240279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1.9x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97480" y="2240279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8.5x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2240279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1.86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0" y="2240279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13D63"/>
                </a:solidFill>
              </a:rPr>
              <a:t>18.4x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" y="2551176"/>
            <a:ext cx="4892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82880" y="2578608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</a:rPr>
              <a:t>Peer Median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257860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40.2x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257860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1.9x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7480" y="257860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8.5x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74720" y="257860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1.83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51960" y="2578608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19.6x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2889504"/>
            <a:ext cx="4892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82880" y="2916936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</a:rPr>
              <a:t>Peer Average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" y="2916936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41.9x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0240" y="2916936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2.7x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97480" y="2916936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8.7x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4720" y="2916936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1.59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51960" y="2916936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</a:rPr>
              <a:t>20.3x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800" y="594360"/>
            <a:ext cx="3749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</a:rPr>
              <a:t>Implied Target Prices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57800" y="859536"/>
            <a:ext cx="3794759" cy="310896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257800" y="886968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113D63"/>
                </a:solidFill>
              </a:rPr>
              <a:t>Multiple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17920" y="886968"/>
            <a:ext cx="960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13D63"/>
                </a:solidFill>
              </a:rPr>
              <a:t>Median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0" y="886968"/>
            <a:ext cx="960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13D63"/>
                </a:solidFill>
              </a:rPr>
              <a:t>Average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83879" y="886968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13D63"/>
                </a:solidFill>
              </a:rPr>
              <a:t>Current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57800" y="1197863"/>
            <a:ext cx="3794759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257800" y="1225295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113D63"/>
                </a:solidFill>
              </a:rPr>
              <a:t>P/E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1225295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8888"/>
                </a:solidFill>
              </a:rPr>
              <a:t>$391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23760" y="1225295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8888"/>
                </a:solidFill>
              </a:rPr>
              <a:t>$409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83879" y="1225295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5A623"/>
                </a:solidFill>
              </a:rPr>
              <a:t>$566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1536192"/>
            <a:ext cx="3794759" cy="32004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257800" y="156362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113D63"/>
                </a:solidFill>
              </a:rPr>
              <a:t>P/S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17920" y="1563624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8888"/>
                </a:solidFill>
              </a:rPr>
              <a:t>$125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0" y="1563624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8888"/>
                </a:solidFill>
              </a:rPr>
              <a:t>$183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83879" y="1563624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5A623"/>
                </a:solidFill>
              </a:rPr>
              <a:t>$566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57800" y="1874520"/>
            <a:ext cx="3794759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257800" y="1901952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113D63"/>
                </a:solidFill>
              </a:rPr>
              <a:t>P/B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901952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8888"/>
                </a:solidFill>
              </a:rPr>
              <a:t>$321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0" y="1901952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8888"/>
                </a:solidFill>
              </a:rPr>
              <a:t>$331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83879" y="1901952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5A623"/>
                </a:solidFill>
              </a:rPr>
              <a:t>$566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257800" y="2212848"/>
            <a:ext cx="3794759" cy="32004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257800" y="22402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113D63"/>
                </a:solidFill>
              </a:rPr>
              <a:t>PEG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2240279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8888"/>
                </a:solidFill>
              </a:rPr>
              <a:t>$290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23760" y="2240279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8888"/>
                </a:solidFill>
              </a:rPr>
              <a:t>$251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879" y="2240279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5A623"/>
                </a:solidFill>
              </a:rPr>
              <a:t>$566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257800" y="2551176"/>
            <a:ext cx="3794759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5257800" y="257860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113D63"/>
                </a:solidFill>
              </a:rPr>
              <a:t>EV/EBITDA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17920" y="2578608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8888"/>
                </a:solidFill>
              </a:rPr>
              <a:t>$266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0" y="2578608"/>
            <a:ext cx="960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8888"/>
                </a:solidFill>
              </a:rPr>
              <a:t>$273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83879" y="2578608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5A623"/>
                </a:solidFill>
              </a:rPr>
              <a:t>$566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57800" y="2916935"/>
            <a:ext cx="3794759" cy="27432"/>
          </a:xfrm>
          <a:prstGeom prst="rect">
            <a:avLst/>
          </a:prstGeom>
          <a:solidFill>
            <a:srgbClr val="4F81BD"/>
          </a:solidFill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257800" y="2971799"/>
            <a:ext cx="37947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</a:rPr>
              <a:t>All traditional multiples imply downside vs. current price — the premium reflects $2.9B committed backlog and margin expansion.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73152"/>
            <a:ext cx="8778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113D63"/>
                </a:solidFill>
              </a:rPr>
              <a:t>DCF – Major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1A1A1A"/>
                </a:solidFill>
              </a:rPr>
              <a:t>Argan, Inc. (NYSE: AGX)  |  March 2026  |  Joe Marfisi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94944"/>
            <a:ext cx="850392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 b="1">
                <a:solidFill>
                  <a:srgbClr val="113D63"/>
                </a:solidFill>
              </a:rPr>
              <a:t>•  Revenue Growth: 22.2% annually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050">
                <a:solidFill>
                  <a:srgbClr val="1A1A1A"/>
                </a:solidFill>
              </a:rPr>
              <a:t xml:space="preserve">      Geometric mean of FY2021–FY2025 historical rates. Supported by $2.9B committed backlog — 3+ years of revenue already signed under contract.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13D63"/>
                </a:solidFill>
              </a:rPr>
              <a:t>•  EBIT Margin: 14.0%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050">
                <a:solidFill>
                  <a:srgbClr val="1A1A1A"/>
                </a:solidFill>
              </a:rPr>
              <a:t xml:space="preserve">      Updated from 8% five-year avg to reflect FY2026 actuals (net income $137.8M on $944.6M revenue → ~14% EBIT margin). Q4 FY2026 gross margin hit 25% — 14% is conservative.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13D63"/>
                </a:solidFill>
              </a:rPr>
              <a:t>•  Terminal Growth Rate: 3.5%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050">
                <a:solidFill>
                  <a:srgbClr val="1A1A1A"/>
                </a:solidFill>
              </a:rPr>
              <a:t xml:space="preserve">      Below nominal long-run GDP (~4%). Justified by structural AI/data center power demand — not cyclical.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13D63"/>
                </a:solidFill>
              </a:rPr>
              <a:t>•  Working Capital: % of Revenue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050">
                <a:solidFill>
                  <a:srgbClr val="1A1A1A"/>
                </a:solidFill>
              </a:rPr>
              <a:t xml:space="preserve">      CapEx (0.62%), D&amp;A (0.50%), AR (10.3%), and AP+Accrued (21.5%) projected as 5-year historical averages — consistent with operating patterns.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13D63"/>
                </a:solidFill>
              </a:rPr>
              <a:t>•  Tax Rate: 21%  |  Cash &amp; Investments: $895M  |  Total Debt: $0</a:t>
            </a:r>
          </a:p>
          <a:p>
            <a:pPr>
              <a:spcBef>
                <a:spcPts val="100"/>
              </a:spcBef>
              <a:spcAft>
                <a:spcPts val="300"/>
              </a:spcAft>
            </a:pPr>
            <a:r>
              <a:rPr sz="1050">
                <a:solidFill>
                  <a:srgbClr val="1A1A1A"/>
                </a:solidFill>
              </a:rPr>
              <a:t xml:space="preserve">      Cash updated to Q4 FY2026 10-K. Zero debt is structural — AGX self-funds growth and bids aggressively without leverage risk.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73152"/>
            <a:ext cx="877824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113D63"/>
                </a:solidFill>
              </a:rPr>
              <a:t>DCF – WACC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1A1A1A"/>
                </a:solidFill>
              </a:rPr>
              <a:t>Argan, Inc. (NYSE: AGX)  |  March 2026  |  Joe Marfisi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" y="640080"/>
            <a:ext cx="4572000" cy="2240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667512"/>
            <a:ext cx="4425696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113D63"/>
                </a:solidFill>
              </a:rPr>
              <a:t>WACC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864108"/>
            <a:ext cx="4572000" cy="2240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886968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Share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886968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1A1A1A"/>
                </a:solidFill>
              </a:rPr>
              <a:t>$566.62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" y="1088136"/>
            <a:ext cx="4572000" cy="2240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1110995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Diluted Shares (mm)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110995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1A1A1A"/>
                </a:solidFill>
              </a:rPr>
              <a:t>13.95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1312164"/>
            <a:ext cx="4572000" cy="2240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4320" y="1335024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Cost of Debt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335024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1A1A1A"/>
                </a:solidFill>
              </a:rPr>
              <a:t>0.00%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" y="1536192"/>
            <a:ext cx="4572000" cy="2240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1559052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Tax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1559052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1A1A1A"/>
                </a:solidFill>
              </a:rPr>
              <a:t>21.0%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" y="1760220"/>
            <a:ext cx="4572000" cy="2240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" y="1783080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After-tax Cost of Debt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1783080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1A1A1A"/>
                </a:solidFill>
              </a:rPr>
              <a:t>0.00%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1984248"/>
            <a:ext cx="4572000" cy="2240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" y="2007108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Cost of Equity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007108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1A1A1A"/>
                </a:solidFill>
              </a:rPr>
              <a:t>7.56%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2208276"/>
            <a:ext cx="4572000" cy="2240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4320" y="2231136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Risk-free 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2231136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1A1A1A"/>
                </a:solidFill>
              </a:rPr>
              <a:t>4.10%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" y="2432304"/>
            <a:ext cx="4572000" cy="2240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4320" y="2455164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Market Risk Premium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2455164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1A1A1A"/>
                </a:solidFill>
              </a:rPr>
              <a:t>5.40%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" y="2656332"/>
            <a:ext cx="4572000" cy="2240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" y="2679192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Beta (raw)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2679192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1A1A1A"/>
                </a:solidFill>
              </a:rPr>
              <a:t>0.46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1168" y="2880360"/>
            <a:ext cx="4572000" cy="2240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74320" y="2903220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Adjusted Beta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903220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1A1A1A"/>
                </a:solidFill>
              </a:rPr>
              <a:t>0.64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168" y="3104388"/>
            <a:ext cx="4572000" cy="822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01168" y="3186684"/>
            <a:ext cx="4572000" cy="2240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74320" y="3209544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Total Debt ($mm)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209544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1A1A1A"/>
                </a:solidFill>
              </a:rP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1168" y="3410712"/>
            <a:ext cx="4572000" cy="2240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74320" y="3433572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Total Equity ($mm)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3433572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1A1A1A"/>
                </a:solidFill>
              </a:rPr>
              <a:t>$7,904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01168" y="3634740"/>
            <a:ext cx="4572000" cy="2240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74320" y="3657600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</a:rPr>
              <a:t>Total Capital ($mm)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3657600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A1A1A"/>
                </a:solidFill>
              </a:rPr>
              <a:t>$7,904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1168" y="3858768"/>
            <a:ext cx="4572000" cy="822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01168" y="3941064"/>
            <a:ext cx="4572000" cy="2240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74320" y="3963924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Debt Weighting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3963924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1A1A1A"/>
                </a:solidFill>
              </a:rPr>
              <a:t>0.00%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01168" y="4165092"/>
            <a:ext cx="4572000" cy="2240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74320" y="4187952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</a:rPr>
              <a:t>Equity Weighting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0" y="4187952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1A1A1A"/>
                </a:solidFill>
              </a:rPr>
              <a:t>100.00%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01168" y="4389120"/>
            <a:ext cx="4572000" cy="822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201168" y="4471416"/>
            <a:ext cx="4572000" cy="2240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74320" y="4494276"/>
            <a:ext cx="2907791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</a:rPr>
              <a:t>WACC =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4494276"/>
            <a:ext cx="1499615" cy="187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A1A1A"/>
                </a:solidFill>
              </a:rPr>
              <a:t>7.56%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777240"/>
            <a:ext cx="3977639" cy="2298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100" dirty="0">
                <a:solidFill>
                  <a:srgbClr val="113D63"/>
                </a:solidFill>
              </a:rPr>
              <a:t>•  Industry-standard WACC for EPC/infrastructure: 7–9%</a:t>
            </a:r>
          </a:p>
          <a:p>
            <a:pPr>
              <a:spcBef>
                <a:spcPts val="800"/>
              </a:spcBef>
            </a:pPr>
            <a:r>
              <a:rPr sz="1100" dirty="0">
                <a:solidFill>
                  <a:srgbClr val="113D63"/>
                </a:solidFill>
              </a:rPr>
              <a:t>•  AGX carries zero long-term debt — WACC equals cost of equity entirely</a:t>
            </a:r>
          </a:p>
          <a:p>
            <a:pPr>
              <a:spcBef>
                <a:spcPts val="800"/>
              </a:spcBef>
            </a:pPr>
            <a:r>
              <a:rPr sz="1100" dirty="0">
                <a:solidFill>
                  <a:srgbClr val="113D63"/>
                </a:solidFill>
              </a:rPr>
              <a:t xml:space="preserve">•  Raw beta of 0.46 reflects AGX's low market sensitivity; adjusted to 0.64 </a:t>
            </a:r>
          </a:p>
          <a:p>
            <a:pPr>
              <a:spcBef>
                <a:spcPts val="800"/>
              </a:spcBef>
            </a:pPr>
            <a:r>
              <a:rPr sz="1100" dirty="0">
                <a:solidFill>
                  <a:srgbClr val="113D63"/>
                </a:solidFill>
              </a:rPr>
              <a:t>•  Low beta is justified: $2.9B committed backlog decouples revenue from broad market cycles</a:t>
            </a:r>
          </a:p>
          <a:p>
            <a:pPr>
              <a:spcBef>
                <a:spcPts val="800"/>
              </a:spcBef>
            </a:pPr>
            <a:r>
              <a:rPr sz="1100" dirty="0">
                <a:solidFill>
                  <a:srgbClr val="113D63"/>
                </a:solidFill>
              </a:rPr>
              <a:t>•  4.1% risk-free rate from current 10-year U.S. Treasury yield</a:t>
            </a:r>
          </a:p>
          <a:p>
            <a:pPr>
              <a:spcBef>
                <a:spcPts val="800"/>
              </a:spcBef>
            </a:pPr>
            <a:r>
              <a:rPr sz="1100" dirty="0">
                <a:solidFill>
                  <a:srgbClr val="113D63"/>
                </a:solidFill>
              </a:rPr>
              <a:t>•  5.4% equity risk premium consistent with long-run market consensus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54864"/>
            <a:ext cx="877824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113D63"/>
                </a:solidFill>
              </a:rPr>
              <a:t>Sensitivity Analysis – Equity Value Per Share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1A1A1A"/>
                </a:solidFill>
              </a:rPr>
              <a:t>Argan, Inc. (NYSE: AGX)  |  March 2026  |  Joe Marfisi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658368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Revenue Growth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914400"/>
            <a:ext cx="5943600" cy="27432"/>
          </a:xfrm>
          <a:prstGeom prst="rect">
            <a:avLst/>
          </a:prstGeom>
          <a:solidFill>
            <a:srgbClr val="4F81BD"/>
          </a:solidFill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0" y="960120"/>
            <a:ext cx="5852160" cy="50292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0" y="96012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3D63"/>
                </a:solidFill>
              </a:rPr>
              <a:t>18.2%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70832" y="96012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3D63"/>
                </a:solidFill>
              </a:rPr>
              <a:t>20.2%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41264" y="96012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22.2%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11696" y="96012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3D63"/>
                </a:solidFill>
              </a:rPr>
              <a:t>24.2%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2128" y="96012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3D63"/>
                </a:solidFill>
              </a:rPr>
              <a:t>26.2%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" y="1828800"/>
            <a:ext cx="1005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EBIT Margin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1463040"/>
            <a:ext cx="1188720" cy="50292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011680" y="146304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3D63"/>
                </a:solidFill>
              </a:rPr>
              <a:t>16.0%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463040"/>
            <a:ext cx="1170432" cy="502920"/>
          </a:xfrm>
          <a:prstGeom prst="rect">
            <a:avLst/>
          </a:prstGeom>
          <a:solidFill>
            <a:srgbClr val="DCBD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0" y="146304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$489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1463040"/>
            <a:ext cx="1170432" cy="502920"/>
          </a:xfrm>
          <a:prstGeom prst="rect">
            <a:avLst/>
          </a:prstGeom>
          <a:solidFill>
            <a:srgbClr val="DCEC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70832" y="146304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$530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41264" y="1463040"/>
            <a:ext cx="1170432" cy="502920"/>
          </a:xfrm>
          <a:prstGeom prst="rect">
            <a:avLst/>
          </a:prstGeom>
          <a:solidFill>
            <a:srgbClr val="A6C8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41264" y="146304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$573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11696" y="1463040"/>
            <a:ext cx="1170432" cy="502920"/>
          </a:xfrm>
          <a:prstGeom prst="rect">
            <a:avLst/>
          </a:prstGeom>
          <a:solidFill>
            <a:srgbClr val="69C8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11696" y="146304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$620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82128" y="1463040"/>
            <a:ext cx="1170432" cy="502920"/>
          </a:xfrm>
          <a:prstGeom prst="rect">
            <a:avLst/>
          </a:prstGeom>
          <a:solidFill>
            <a:srgbClr val="28C8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882128" y="146304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$670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1965960"/>
            <a:ext cx="1188720" cy="50292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11680" y="196596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3D63"/>
                </a:solidFill>
              </a:rPr>
              <a:t>15.0%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1965960"/>
            <a:ext cx="1170432" cy="502920"/>
          </a:xfrm>
          <a:prstGeom prst="rect">
            <a:avLst/>
          </a:prstGeom>
          <a:solidFill>
            <a:srgbClr val="DCA2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0" y="196596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$466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1965960"/>
            <a:ext cx="1170432" cy="502920"/>
          </a:xfrm>
          <a:prstGeom prst="rect">
            <a:avLst/>
          </a:prstGeom>
          <a:solidFill>
            <a:srgbClr val="DCCF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70832" y="196596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$504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41264" y="1965960"/>
            <a:ext cx="1170432" cy="502920"/>
          </a:xfrm>
          <a:prstGeom prst="rect">
            <a:avLst/>
          </a:prstGeom>
          <a:solidFill>
            <a:srgbClr val="CAC8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541264" y="196596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$545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11696" y="1965960"/>
            <a:ext cx="1170432" cy="502920"/>
          </a:xfrm>
          <a:prstGeom prst="rect">
            <a:avLst/>
          </a:prstGeom>
          <a:solidFill>
            <a:srgbClr val="90C8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11696" y="196596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$590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8" y="1965960"/>
            <a:ext cx="1170432" cy="502920"/>
          </a:xfrm>
          <a:prstGeom prst="rect">
            <a:avLst/>
          </a:prstGeom>
          <a:solidFill>
            <a:srgbClr val="52C8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82128" y="196596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$637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11680" y="2468880"/>
            <a:ext cx="1188720" cy="50292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011680" y="246888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14.0%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2468880"/>
            <a:ext cx="1170432" cy="502920"/>
          </a:xfrm>
          <a:prstGeom prst="rect">
            <a:avLst/>
          </a:prstGeom>
          <a:solidFill>
            <a:srgbClr val="DC86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00400" y="246888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$442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70832" y="2468880"/>
            <a:ext cx="1170432" cy="502920"/>
          </a:xfrm>
          <a:prstGeom prst="rect">
            <a:avLst/>
          </a:prstGeom>
          <a:solidFill>
            <a:srgbClr val="DCB1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70832" y="246888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$479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41264" y="2468880"/>
            <a:ext cx="1170432" cy="502920"/>
          </a:xfrm>
          <a:prstGeom prst="rect">
            <a:avLst/>
          </a:prstGeom>
          <a:solidFill>
            <a:srgbClr val="DCDF28"/>
          </a:solidFill>
          <a:ln w="317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541264" y="246888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1A"/>
                </a:solidFill>
              </a:rPr>
              <a:t>$518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11696" y="2468880"/>
            <a:ext cx="1170432" cy="502920"/>
          </a:xfrm>
          <a:prstGeom prst="rect">
            <a:avLst/>
          </a:prstGeom>
          <a:solidFill>
            <a:srgbClr val="B7C8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711696" y="246888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$560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8" y="2468880"/>
            <a:ext cx="1170432" cy="502920"/>
          </a:xfrm>
          <a:prstGeom prst="rect">
            <a:avLst/>
          </a:prstGeom>
          <a:solidFill>
            <a:srgbClr val="7CC8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882128" y="246888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$605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011680" y="2971800"/>
            <a:ext cx="1188720" cy="50292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011680" y="29718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3D63"/>
                </a:solidFill>
              </a:rPr>
              <a:t>13.0%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0" y="2971800"/>
            <a:ext cx="1170432" cy="502920"/>
          </a:xfrm>
          <a:prstGeom prst="rect">
            <a:avLst/>
          </a:prstGeom>
          <a:solidFill>
            <a:srgbClr val="DC6B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200400" y="297180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$419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70832" y="2971800"/>
            <a:ext cx="1170432" cy="502920"/>
          </a:xfrm>
          <a:prstGeom prst="rect">
            <a:avLst/>
          </a:prstGeom>
          <a:solidFill>
            <a:srgbClr val="DC93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370832" y="297180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$453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41264" y="2971800"/>
            <a:ext cx="1170432" cy="502920"/>
          </a:xfrm>
          <a:prstGeom prst="rect">
            <a:avLst/>
          </a:prstGeom>
          <a:solidFill>
            <a:srgbClr val="DCBE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541264" y="297180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$490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711696" y="2971800"/>
            <a:ext cx="1170432" cy="502920"/>
          </a:xfrm>
          <a:prstGeom prst="rect">
            <a:avLst/>
          </a:prstGeom>
          <a:solidFill>
            <a:srgbClr val="DCED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711696" y="297180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$530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82128" y="2971800"/>
            <a:ext cx="1170432" cy="502920"/>
          </a:xfrm>
          <a:prstGeom prst="rect">
            <a:avLst/>
          </a:prstGeom>
          <a:solidFill>
            <a:srgbClr val="A6C8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82128" y="297180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$573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11680" y="3474720"/>
            <a:ext cx="1188720" cy="502920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011680" y="347472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13D63"/>
                </a:solidFill>
              </a:rPr>
              <a:t>12.0%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00400" y="3474720"/>
            <a:ext cx="1170432" cy="502920"/>
          </a:xfrm>
          <a:prstGeom prst="rect">
            <a:avLst/>
          </a:prstGeom>
          <a:solidFill>
            <a:srgbClr val="DC50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200400" y="347472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$395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70832" y="3474720"/>
            <a:ext cx="1170432" cy="502920"/>
          </a:xfrm>
          <a:prstGeom prst="rect">
            <a:avLst/>
          </a:prstGeom>
          <a:solidFill>
            <a:srgbClr val="DC75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370832" y="347472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$428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541264" y="3474720"/>
            <a:ext cx="1170432" cy="502920"/>
          </a:xfrm>
          <a:prstGeom prst="rect">
            <a:avLst/>
          </a:prstGeom>
          <a:solidFill>
            <a:srgbClr val="DC9E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541264" y="347472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$463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711696" y="3474720"/>
            <a:ext cx="1170432" cy="502920"/>
          </a:xfrm>
          <a:prstGeom prst="rect">
            <a:avLst/>
          </a:prstGeom>
          <a:solidFill>
            <a:srgbClr val="DCCA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711696" y="347472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$500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882128" y="3474720"/>
            <a:ext cx="1170432" cy="502920"/>
          </a:xfrm>
          <a:prstGeom prst="rect">
            <a:avLst/>
          </a:prstGeom>
          <a:solidFill>
            <a:srgbClr val="D0C82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882128" y="3474720"/>
            <a:ext cx="1170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$541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11680" y="4087368"/>
            <a:ext cx="7040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1A1A1A"/>
                </a:solidFill>
              </a:rPr>
              <a:t>■ Current price: ~$566  |  ● Base case (22.2% growth / 14% margin): $518  |  Gold border = base case cell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54864"/>
            <a:ext cx="877824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113D63"/>
                </a:solidFill>
              </a:rPr>
              <a:t>Summary – Investment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1A1A1A"/>
                </a:solidFill>
              </a:rPr>
              <a:t>Argan, Inc. (NYSE: AGX)  |  March 2026  |  Joe Marfisi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3D63"/>
                </a:solidFill>
              </a:rPr>
              <a:t>How Did We Arrive at $467?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24128"/>
            <a:ext cx="1353312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060704"/>
            <a:ext cx="1261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6BC4"/>
                </a:solidFill>
              </a:rPr>
              <a:t>DCF – Base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98448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</a:rPr>
              <a:t>22.2% growth, 14% EBIT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64208"/>
            <a:ext cx="1261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6BC4"/>
                </a:solidFill>
              </a:rPr>
              <a:t>$518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1024128"/>
            <a:ext cx="1353312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37360" y="1060704"/>
            <a:ext cx="1261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ECC6E"/>
                </a:solidFill>
              </a:rPr>
              <a:t>DCF – Bull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298448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</a:rPr>
              <a:t>24.2% growth, 15% EBIT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664208"/>
            <a:ext cx="1261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CC6E"/>
                </a:solidFill>
              </a:rPr>
              <a:t>$590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024128"/>
            <a:ext cx="1353312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54679" y="1060704"/>
            <a:ext cx="1261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Target Price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79" y="1298448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</a:rPr>
              <a:t>Reflecting Q4 margin trajectory
+ backlog certainty premium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79" y="1664208"/>
            <a:ext cx="1261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$467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1426464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4952" y="1426464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176272"/>
            <a:ext cx="4069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Bull case supported by Q4 FY2026 gross margin of 25% — indicating 14% EBIT is conservative — and backlog growing beyond base assumptions. Target of $467 blends 60% DCF base case ($518) with 40% peer P/E implied price ($391) -- reflecting both fundamental value and stretched relative valuation.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880360"/>
            <a:ext cx="4069080" cy="27432"/>
          </a:xfrm>
          <a:prstGeom prst="rect">
            <a:avLst/>
          </a:prstGeom>
          <a:solidFill>
            <a:srgbClr val="4F81BD"/>
          </a:solidFill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4320" y="2944368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3D63"/>
                </a:solidFill>
              </a:rPr>
              <a:t>Why PASS at $575?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326440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3D63"/>
                </a:solidFill>
              </a:rPr>
              <a:t>•  $2.9B committed backlog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19072" y="3264408"/>
            <a:ext cx="2670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3+ years of revenue certainty — 85%+ of near-term revenue already signed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65760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3D63"/>
                </a:solidFill>
              </a:rPr>
              <a:t>•  $895M cash, zero debt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19072" y="3657600"/>
            <a:ext cx="2670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Self-funds growth; can bid aggressively without dilution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50791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3D63"/>
                </a:solidFill>
              </a:rPr>
              <a:t>•  AI power demand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19072" y="4050791"/>
            <a:ext cx="2670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Structural, multi-decade tailwind — not a cyclical trade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4443983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3D63"/>
                </a:solidFill>
              </a:rPr>
              <a:t>•  Margin expansion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4443983"/>
            <a:ext cx="2670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10.1% → 14% (base); Q4 FY26 gross margin hit 25%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640080"/>
            <a:ext cx="4251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Sensitivity Range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23560" y="987552"/>
            <a:ext cx="3236976" cy="438912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623560" y="987552"/>
            <a:ext cx="1078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3D63"/>
                </a:solidFill>
              </a:rPr>
              <a:t>18.2%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2552" y="987552"/>
            <a:ext cx="1078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</a:rPr>
              <a:t>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81544" y="987552"/>
            <a:ext cx="1078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3D63"/>
                </a:solidFill>
              </a:rPr>
              <a:t>26.2%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1426464"/>
            <a:ext cx="822960" cy="438912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00600" y="1426464"/>
            <a:ext cx="822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13D63"/>
                </a:solidFill>
              </a:rPr>
              <a:t>16% EBIT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23560" y="1426464"/>
            <a:ext cx="1078992" cy="438912"/>
          </a:xfrm>
          <a:prstGeom prst="rect">
            <a:avLst/>
          </a:prstGeom>
          <a:solidFill>
            <a:srgbClr val="DCBD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23560" y="1426464"/>
            <a:ext cx="1078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</a:rPr>
              <a:t>$489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02552" y="1426464"/>
            <a:ext cx="1078992" cy="438912"/>
          </a:xfrm>
          <a:prstGeom prst="rect">
            <a:avLst/>
          </a:prstGeom>
          <a:solidFill>
            <a:srgbClr val="A6C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702552" y="1426464"/>
            <a:ext cx="1078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</a:rPr>
              <a:t>$573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81544" y="1426464"/>
            <a:ext cx="1078992" cy="438912"/>
          </a:xfrm>
          <a:prstGeom prst="rect">
            <a:avLst/>
          </a:prstGeom>
          <a:solidFill>
            <a:srgbClr val="28C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81544" y="1426464"/>
            <a:ext cx="1078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</a:rPr>
              <a:t>$670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00600" y="1865376"/>
            <a:ext cx="822960" cy="438912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800600" y="1865376"/>
            <a:ext cx="822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A623"/>
                </a:solidFill>
              </a:rPr>
              <a:t>14% EBIT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23560" y="1865376"/>
            <a:ext cx="1078992" cy="438912"/>
          </a:xfrm>
          <a:prstGeom prst="rect">
            <a:avLst/>
          </a:prstGeom>
          <a:solidFill>
            <a:srgbClr val="DC8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623560" y="1865376"/>
            <a:ext cx="1078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</a:rPr>
              <a:t>$442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02552" y="1865376"/>
            <a:ext cx="1078992" cy="438912"/>
          </a:xfrm>
          <a:prstGeom prst="rect">
            <a:avLst/>
          </a:prstGeom>
          <a:solidFill>
            <a:srgbClr val="DCDF28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02552" y="1865376"/>
            <a:ext cx="1078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</a:rPr>
              <a:t>$518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81544" y="1865376"/>
            <a:ext cx="1078992" cy="438912"/>
          </a:xfrm>
          <a:prstGeom prst="rect">
            <a:avLst/>
          </a:prstGeom>
          <a:solidFill>
            <a:srgbClr val="7CC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781544" y="1865376"/>
            <a:ext cx="1078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</a:rPr>
              <a:t>$605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00600" y="2304288"/>
            <a:ext cx="822960" cy="438912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800600" y="2304288"/>
            <a:ext cx="822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13D63"/>
                </a:solidFill>
              </a:rPr>
              <a:t>12% EBIT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23560" y="2304288"/>
            <a:ext cx="1078992" cy="438912"/>
          </a:xfrm>
          <a:prstGeom prst="rect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23560" y="2304288"/>
            <a:ext cx="1078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</a:rPr>
              <a:t>$395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02552" y="2304288"/>
            <a:ext cx="1078992" cy="438912"/>
          </a:xfrm>
          <a:prstGeom prst="rect">
            <a:avLst/>
          </a:prstGeom>
          <a:solidFill>
            <a:srgbClr val="DC9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702552" y="2304288"/>
            <a:ext cx="1078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</a:rPr>
              <a:t>$463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81544" y="2304288"/>
            <a:ext cx="1078992" cy="438912"/>
          </a:xfrm>
          <a:prstGeom prst="rect">
            <a:avLst/>
          </a:prstGeom>
          <a:solidFill>
            <a:srgbClr val="D0C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781544" y="2304288"/>
            <a:ext cx="1078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</a:rPr>
              <a:t>$541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17720" y="2743200"/>
            <a:ext cx="4251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1A1A1A"/>
                </a:solidFill>
              </a:rPr>
              <a:t>Bear: $395   Base: $518   Bull: $670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617720" y="3063240"/>
            <a:ext cx="425196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2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617720" y="3127248"/>
            <a:ext cx="4251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ECC6E"/>
                </a:solidFill>
              </a:rPr>
              <a:t>PASS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17720" y="3566160"/>
            <a:ext cx="4251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13D63"/>
                </a:solidFill>
              </a:rPr>
              <a:t>Target: $467  |  Current: $575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17720" y="3822191"/>
            <a:ext cx="4251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</a:rPr>
              <a:t>Stock is trading 23% ABOVE our blended target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17720" y="4096512"/>
            <a:ext cx="4251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1A1A"/>
                </a:solidFill>
              </a:rPr>
              <a:t>NYSE: AGX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4023360"/>
            <a:ext cx="8641080" cy="1120140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kern="0" spc="200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7315200" cy="0"/>
          </a:xfrm>
          <a:prstGeom prst="line">
            <a:avLst/>
          </a:prstGeom>
          <a:noFill/>
          <a:ln w="254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Argan, Inc.  (NYSE: AGX)  |  Recommendation: PASS  |  Target: $467.00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4114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 Marfisi  |  March 2026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4069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Nebraska–Lincoln</a:t>
            </a:r>
            <a:endParaRPr lang="en-US" sz="1000" dirty="0"/>
          </a:p>
          <a:p>
            <a:pPr marL="0" indent="0" algn="r">
              <a:buNone/>
            </a:pPr>
            <a:r>
              <a:rPr lang="en-US" sz="1000" dirty="0">
                <a:solidFill>
                  <a:srgbClr val="11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Finance, College of Business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vestment Thesis – Pas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alAccent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lideTitle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3D63"/>
                </a:solidFill>
                <a:latin typeface="Calibri" pitchFamily="34" charset="0"/>
              </a:rPr>
              <a:t>Investment Thesis – Why We Are Passing</a:t>
            </a:r>
          </a:p>
        </p:txBody>
      </p:sp>
      <p:sp>
        <p:nvSpPr>
          <p:cNvPr id="5" name="TopCard"/>
          <p:cNvSpPr/>
          <p:nvPr/>
        </p:nvSpPr>
        <p:spPr>
          <a:xfrm>
            <a:off x="274320" y="800000"/>
            <a:ext cx="8595360" cy="18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opCardBorder"/>
          <p:cNvSpPr/>
          <p:nvPr/>
        </p:nvSpPr>
        <p:spPr>
          <a:xfrm>
            <a:off x="274320" y="800000"/>
            <a:ext cx="45720" cy="1840000"/>
          </a:xfrm>
          <a:prstGeom prst="rect">
            <a:avLst/>
          </a:prstGeom>
          <a:solidFill>
            <a:srgbClr val="113D6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opLabel"/>
          <p:cNvSpPr/>
          <p:nvPr/>
        </p:nvSpPr>
        <p:spPr>
          <a:xfrm>
            <a:off x="380000" y="825000"/>
            <a:ext cx="8400000" cy="2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</a:rPr>
              <a:t>Why AGX Initially Looked Compelling</a:t>
            </a:r>
          </a:p>
        </p:txBody>
      </p:sp>
      <p:sp>
        <p:nvSpPr>
          <p:cNvPr id="8" name="TopLeft"/>
          <p:cNvSpPr/>
          <p:nvPr/>
        </p:nvSpPr>
        <p:spPr>
          <a:xfrm>
            <a:off x="380000" y="1120000"/>
            <a:ext cx="4100000" cy="147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Char char="▶"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</a:rPr>
              <a:t xml:space="preserve">$2.9B committed backlog </a:t>
            </a:r>
            <a:r>
              <a:rPr lang="en-US" sz="950" dirty="0">
                <a:solidFill>
                  <a:srgbClr val="1A1A1A"/>
                </a:solidFill>
                <a:latin typeface="Calibri" pitchFamily="34" charset="0"/>
              </a:rPr>
              <a:t>(+114.7% YoY) -- 3+ years of locked revenue visibility</a:t>
            </a:r>
          </a:p>
          <a:p>
            <a:pPr marL="228600" indent="-228600">
              <a:spcAft>
                <a:spcPts val="600"/>
              </a:spcAft>
              <a:buChar char="▶"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</a:rPr>
              <a:t xml:space="preserve">$895M cash, zero debt </a:t>
            </a:r>
            <a:r>
              <a:rPr lang="en-US" sz="950" dirty="0">
                <a:solidFill>
                  <a:srgbClr val="1A1A1A"/>
                </a:solidFill>
                <a:latin typeface="Calibri" pitchFamily="34" charset="0"/>
              </a:rPr>
              <a:t>-- fortress balance sheet; self-funds growth without dilution</a:t>
            </a:r>
          </a:p>
          <a:p>
            <a:pPr marL="228600" indent="-228600">
              <a:spcAft>
                <a:spcPts val="600"/>
              </a:spcAft>
              <a:buChar char="▶"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</a:rPr>
              <a:t xml:space="preserve">AI/data center tailwind </a:t>
            </a:r>
            <a:r>
              <a:rPr lang="en-US" sz="950" dirty="0">
                <a:solidFill>
                  <a:srgbClr val="1A1A1A"/>
                </a:solidFill>
                <a:latin typeface="Calibri" pitchFamily="34" charset="0"/>
              </a:rPr>
              <a:t>-- structural, multi-decade demand surge for reliable power infrastructure</a:t>
            </a:r>
          </a:p>
        </p:txBody>
      </p:sp>
      <p:sp>
        <p:nvSpPr>
          <p:cNvPr id="9" name="TopRight"/>
          <p:cNvSpPr/>
          <p:nvPr/>
        </p:nvSpPr>
        <p:spPr>
          <a:xfrm>
            <a:off x="4620000" y="1120000"/>
            <a:ext cx="4150000" cy="147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0" name="BottomCard"/>
          <p:cNvSpPr/>
          <p:nvPr/>
        </p:nvSpPr>
        <p:spPr>
          <a:xfrm>
            <a:off x="274320" y="2710000"/>
            <a:ext cx="8595360" cy="20700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762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BottomBorder"/>
          <p:cNvSpPr/>
          <p:nvPr/>
        </p:nvSpPr>
        <p:spPr>
          <a:xfrm>
            <a:off x="274320" y="2710000"/>
            <a:ext cx="45720" cy="2070000"/>
          </a:xfrm>
          <a:prstGeom prst="rect">
            <a:avLst/>
          </a:prstGeom>
          <a:solidFill>
            <a:srgbClr val="E53E3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BottomLabel"/>
          <p:cNvSpPr/>
          <p:nvPr/>
        </p:nvSpPr>
        <p:spPr>
          <a:xfrm>
            <a:off x="380000" y="2735000"/>
            <a:ext cx="5500000" cy="29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3D63"/>
                </a:solidFill>
                <a:latin typeface="Calibri" pitchFamily="34" charset="0"/>
              </a:rPr>
              <a:t>Why We Are Passing -- Valuation Says No</a:t>
            </a:r>
          </a:p>
        </p:txBody>
      </p:sp>
      <p:sp>
        <p:nvSpPr>
          <p:cNvPr id="13" name="PassBadge"/>
          <p:cNvSpPr/>
          <p:nvPr/>
        </p:nvSpPr>
        <p:spPr>
          <a:xfrm>
            <a:off x="7800000" y="2725000"/>
            <a:ext cx="980000" cy="270000"/>
          </a:xfrm>
          <a:prstGeom prst="roundRect">
            <a:avLst>
              <a:gd name="adj" fmla="val 20000"/>
            </a:avLst>
          </a:prstGeom>
          <a:solidFill>
            <a:srgbClr val="E53E3E"/>
          </a:solidFill>
          <a:ln w="0"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113D63"/>
                </a:solidFill>
                <a:latin typeface="Calibri" pitchFamily="34" charset="0"/>
              </a:rPr>
              <a:t>PASS</a:t>
            </a:r>
          </a:p>
        </p:txBody>
      </p:sp>
      <p:sp>
        <p:nvSpPr>
          <p:cNvPr id="14" name="BottomLeft"/>
          <p:cNvSpPr/>
          <p:nvPr/>
        </p:nvSpPr>
        <p:spPr>
          <a:xfrm>
            <a:off x="380000" y="3060000"/>
            <a:ext cx="4100000" cy="167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550"/>
              </a:spcAft>
              <a:buChar char="✗"/>
            </a:pPr>
            <a:r>
              <a:rPr lang="en-US" sz="950" b="1" dirty="0">
                <a:solidFill>
                  <a:srgbClr val="FC8181"/>
                </a:solidFill>
                <a:latin typeface="Calibri" pitchFamily="34" charset="0"/>
              </a:rPr>
              <a:t xml:space="preserve">Every relative multiple implies downside: </a:t>
            </a:r>
            <a:r>
              <a:rPr lang="en-US" sz="950" dirty="0">
                <a:solidFill>
                  <a:srgbClr val="1A1A1A"/>
                </a:solidFill>
                <a:latin typeface="Calibri" pitchFamily="34" charset="0"/>
              </a:rPr>
              <a:t>P/E = $391, P/S = $125, P/B = $321, EV/EBITDA = $266 vs. $566 current price</a:t>
            </a:r>
          </a:p>
          <a:p>
            <a:pPr marL="228600" indent="-228600">
              <a:spcAft>
                <a:spcPts val="550"/>
              </a:spcAft>
              <a:buChar char="✗"/>
            </a:pPr>
            <a:r>
              <a:rPr lang="en-US" sz="950" b="1" dirty="0">
                <a:solidFill>
                  <a:srgbClr val="FC8181"/>
                </a:solidFill>
                <a:latin typeface="Calibri" pitchFamily="34" charset="0"/>
              </a:rPr>
              <a:t xml:space="preserve">DCF base case ($518) is below today's price: </a:t>
            </a:r>
            <a:r>
              <a:rPr lang="en-US" sz="950" dirty="0">
                <a:solidFill>
                  <a:srgbClr val="1A1A1A"/>
                </a:solidFill>
                <a:latin typeface="Calibri" pitchFamily="34" charset="0"/>
              </a:rPr>
              <a:t>22.2% growth and 14% EBIT margin -- already aggressive assumptions -- fails to justify current valuation</a:t>
            </a:r>
          </a:p>
        </p:txBody>
      </p:sp>
      <p:sp>
        <p:nvSpPr>
          <p:cNvPr id="15" name="BottomRight"/>
          <p:cNvSpPr/>
          <p:nvPr/>
        </p:nvSpPr>
        <p:spPr>
          <a:xfrm>
            <a:off x="4620000" y="3060000"/>
            <a:ext cx="4150000" cy="167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550"/>
              </a:spcAft>
              <a:buChar char="✗"/>
            </a:pPr>
            <a:r>
              <a:rPr lang="en-US" sz="950" b="1" dirty="0">
                <a:solidFill>
                  <a:srgbClr val="FC8181"/>
                </a:solidFill>
                <a:latin typeface="Calibri" pitchFamily="34" charset="0"/>
              </a:rPr>
              <a:t xml:space="preserve">Analysts were bullish -- then earnings dropped: </a:t>
            </a:r>
            <a:r>
              <a:rPr lang="en-US" sz="950" dirty="0">
                <a:solidFill>
                  <a:srgbClr val="1A1A1A"/>
                </a:solidFill>
                <a:latin typeface="Calibri" pitchFamily="34" charset="0"/>
              </a:rPr>
              <a:t>Pre-earnings, Goldman had a Buy at $399 and JPMorgan was Neutral -- Q4 results on March 26 sent the stock up 38%, instantly making those targets obsolete</a:t>
            </a:r>
          </a:p>
          <a:p>
            <a:pPr marL="228600" indent="-228600">
              <a:spcAft>
                <a:spcPts val="550"/>
              </a:spcAft>
              <a:buChar char="✗"/>
            </a:pPr>
            <a:r>
              <a:rPr lang="en-US" sz="950" b="1" dirty="0">
                <a:solidFill>
                  <a:srgbClr val="FC8181"/>
                </a:solidFill>
                <a:latin typeface="Calibri" pitchFamily="34" charset="0"/>
              </a:rPr>
              <a:t xml:space="preserve">Bottom line: </a:t>
            </a:r>
            <a:r>
              <a:rPr lang="en-US" sz="950" dirty="0">
                <a:solidFill>
                  <a:srgbClr val="1A1A1A"/>
                </a:solidFill>
                <a:latin typeface="Calibri" pitchFamily="34" charset="0"/>
              </a:rPr>
              <a:t>Great company, wrong price. We missed the boat on the pre-earnings entry -- we pass and revisit on a pullback toward $450-$480</a:t>
            </a:r>
          </a:p>
        </p:txBody>
      </p:sp>
      <p:sp>
        <p:nvSpPr>
          <p:cNvPr id="16" name="Footer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</a:rPr>
              <a:t>Argan, Inc. (NYSE: AGX)  |  March 2026  |  Joe Marfisi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petitor Overvie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alAccent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113D63"/>
          </a:solidFill>
          <a:ln w="12700">
            <a:solidFill>
              <a:srgbClr val="113D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lideTitle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3D63"/>
                </a:solidFill>
                <a:latin typeface="Calibri" pitchFamily="34" charset="0"/>
              </a:rPr>
              <a:t>Competitive Landscape -- Key Peers</a:t>
            </a:r>
          </a:p>
        </p:txBody>
      </p:sp>
      <p:sp>
        <p:nvSpPr>
          <p:cNvPr id="5" name="Intro"/>
          <p:cNvSpPr/>
          <p:nvPr/>
        </p:nvSpPr>
        <p:spPr>
          <a:xfrm>
            <a:off x="365760" y="800000"/>
            <a:ext cx="8412480" cy="2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</a:rPr>
              <a:t>AGX competes with large EPC contractors -- but its gas-fired power plant specialization sets it apart from all three peers below.</a:t>
            </a:r>
          </a:p>
        </p:txBody>
      </p:sp>
      <p:sp>
        <p:nvSpPr>
          <p:cNvPr id="6" name="MTZCard"/>
          <p:cNvSpPr/>
          <p:nvPr/>
        </p:nvSpPr>
        <p:spPr>
          <a:xfrm>
            <a:off x="274320" y="1100000"/>
            <a:ext cx="2726640" cy="36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MTZBar"/>
          <p:cNvSpPr/>
          <p:nvPr/>
        </p:nvSpPr>
        <p:spPr>
          <a:xfrm>
            <a:off x="274320" y="1100000"/>
            <a:ext cx="2726640" cy="54864"/>
          </a:xfrm>
          <a:prstGeom prst="rect">
            <a:avLst/>
          </a:prstGeom>
          <a:solidFill>
            <a:srgbClr val="113D6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MTZContent"/>
          <p:cNvSpPr/>
          <p:nvPr/>
        </p:nvSpPr>
        <p:spPr>
          <a:xfrm>
            <a:off x="365760" y="1180000"/>
            <a:ext cx="2514600" cy="351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</a:rPr>
              <a:t>MasTec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</a:rPr>
              <a:t>NYSE: MTZ  |  $10.5B Market Cap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</a:rPr>
              <a:t>What they do: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</a:rPr>
              <a:t>Large EPC contractor across telecom, utilities, oil and gas pipelines, and renewable energy. Much more diversified than AGX.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</a:rPr>
              <a:t>Where they overlap with AGX: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</a:rPr>
              <a:t>Power generation and utility construction. Both bid on large energy infrastructure contracts.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</a:rPr>
              <a:t>Key difference: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</a:rPr>
              <a:t>MasTec carries 3.2x net debt vs. AGX at zero. No comparable specialization in gas-fired power plants. Trades at 14x EV/EBITDA vs. AGX at 58x.</a:t>
            </a:r>
          </a:p>
        </p:txBody>
      </p:sp>
      <p:sp>
        <p:nvSpPr>
          <p:cNvPr id="9" name="STRLCard"/>
          <p:cNvSpPr/>
          <p:nvPr/>
        </p:nvSpPr>
        <p:spPr>
          <a:xfrm>
            <a:off x="3209040" y="1100000"/>
            <a:ext cx="2726640" cy="36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TRLBar"/>
          <p:cNvSpPr/>
          <p:nvPr/>
        </p:nvSpPr>
        <p:spPr>
          <a:xfrm>
            <a:off x="3209040" y="1100000"/>
            <a:ext cx="2726640" cy="54864"/>
          </a:xfrm>
          <a:prstGeom prst="rect">
            <a:avLst/>
          </a:prstGeom>
          <a:solidFill>
            <a:srgbClr val="113D6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STRLContent"/>
          <p:cNvSpPr/>
          <p:nvPr/>
        </p:nvSpPr>
        <p:spPr>
          <a:xfrm>
            <a:off x="3300480" y="1180000"/>
            <a:ext cx="2514600" cy="351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</a:rPr>
              <a:t>Sterling Infrastructure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</a:rPr>
              <a:t>NYSE: STRL  |  $7.3B Market Cap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</a:rPr>
              <a:t>What they do: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</a:rPr>
              <a:t>Civil contractor focused on e-infrastructure (data center site prep), transportation, and residential construction.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</a:rPr>
              <a:t>Where they overlap with AGX: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</a:rPr>
              <a:t>Both benefit from the AI infrastructure buildout. STRL preps the land and builds the data center sites that need AGX-built power plants.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</a:rPr>
              <a:t>Key difference: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</a:rPr>
              <a:t>They do not build power plants -- they prepare the ground for them. Different end product, different client base. Trades at 20x EV/EBITDA vs. AGX at 58x.</a:t>
            </a:r>
          </a:p>
        </p:txBody>
      </p:sp>
      <p:sp>
        <p:nvSpPr>
          <p:cNvPr id="12" name="EMECard"/>
          <p:cNvSpPr/>
          <p:nvPr/>
        </p:nvSpPr>
        <p:spPr>
          <a:xfrm>
            <a:off x="6143760" y="1100000"/>
            <a:ext cx="2726640" cy="36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EMEBar"/>
          <p:cNvSpPr/>
          <p:nvPr/>
        </p:nvSpPr>
        <p:spPr>
          <a:xfrm>
            <a:off x="6143760" y="1100000"/>
            <a:ext cx="2726640" cy="54864"/>
          </a:xfrm>
          <a:prstGeom prst="rect">
            <a:avLst/>
          </a:prstGeom>
          <a:solidFill>
            <a:srgbClr val="113D6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EMEContent"/>
          <p:cNvSpPr/>
          <p:nvPr/>
        </p:nvSpPr>
        <p:spPr>
          <a:xfrm>
            <a:off x="6235200" y="1180000"/>
            <a:ext cx="2514600" cy="351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</a:rPr>
              <a:t>EMCOR Group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</a:rPr>
              <a:t>NYSE: EME  |  $19.5B Market Cap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</a:rPr>
              <a:t>What they do: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</a:rPr>
              <a:t>Mechanical and electrical construction and services across commercial, industrial, and government sectors. The largest of the three peers.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</a:rPr>
              <a:t>Where they overlap with AGX: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</a:rPr>
              <a:t>Industrial construction and large project execution. Like AGX, EMCOR carries zero debt and holds over $1B in cash.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</a:rPr>
              <a:t>Key difference: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</a:rPr>
              <a:t>EMCOR is 2.5x AGX's size and far more diversified. No comparable focus on power plant EPC. Trades at 17x EV/EBITDA vs. AGX at 58x.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</a:rPr>
              <a:t>Argan, Inc. (NYSE: AGX)  |  March 2026  |  Joe Marfisi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2288</Words>
  <Application>Microsoft Macintosh PowerPoint</Application>
  <PresentationFormat>On-screen Show (16:9)</PresentationFormat>
  <Paragraphs>442</Paragraphs>
  <Slides>17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Argan Inc. AGX – Buy</dc:title>
  <dc:subject>PptxGenJS Presentation</dc:subject>
  <dc:creator>Joe Marfisi</dc:creator>
  <cp:lastModifiedBy>Joe Marfisi</cp:lastModifiedBy>
  <cp:revision>2</cp:revision>
  <dcterms:created xsi:type="dcterms:W3CDTF">2026-03-30T16:42:18Z</dcterms:created>
  <dcterms:modified xsi:type="dcterms:W3CDTF">2026-04-06T07:41:24Z</dcterms:modified>
</cp:coreProperties>
</file>